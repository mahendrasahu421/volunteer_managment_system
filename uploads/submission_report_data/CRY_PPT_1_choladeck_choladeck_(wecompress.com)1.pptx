
<file path=[Content_Types].xml><?xml version="1.0" encoding="utf-8"?>
<Types xmlns="http://schemas.openxmlformats.org/package/2006/content-types">
  <Default ContentType="application/vnd.openxmlformats-package.core-properties+xml" Extension="xml"/>
  <Default ContentType="image/jpeg" Extension="jpeg"/>
  <Default ContentType="image/png" Extension="png"/>
  <Default ContentType="application/vnd.openxmlformats-package.relationships+xml" Extension="rels"/>
  <Override ContentType="application/vnd.openxmlformats-officedocument.presentationml.presentation.main+xml" PartName="/ppt/presentation.xml"/>
  <Override ContentType="application/vnd.openxmlformats-officedocument.presentationml.slide+xml" PartName="/ppt/slides/slide7.xml"/>
  <Override ContentType="application/vnd.openxmlformats-officedocument.presentationml.slideLayout+xml" PartName="/ppt/slideLayouts/slideLayout2.xml"/>
  <Override ContentType="application/vnd.openxmlformats-officedocument.presentationml.slideMaster+xml" PartName="/ppt/slideMasters/slideMaster1.xml"/>
  <Override ContentType="application/vnd.openxmlformats-officedocument.theme+xml" PartName="/ppt/theme/theme1.xml"/>
  <Override ContentType="application/vnd.openxmlformats-officedocument.presentationml.viewProps+xml" PartName="/ppt/viewProps.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presProps+xml" PartName="/ppt/presProps.xml"/>
  <Override ContentType="application/vnd.openxmlformats-officedocument.presentationml.slide+xml" PartName="/ppt/slides/slide1.xml"/>
  <Override ContentType="application/vnd.openxmlformats-officedocument.presentationml.slide+xml" PartName="/ppt/slides/slide5.xml"/>
  <Override ContentType="application/vnd.openxmlformats-officedocument.presentationml.slide+xml" PartName="/ppt/slides/slide10.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presentationml.slide+xml" PartName="/ppt/slides/slide9.xml"/>
  <Override ContentType="application/vnd.openxmlformats-officedocument.presentationml.slide+xml" PartName="/ppt/slides/slide3.xml"/>
  <Override ContentType="application/vnd.openxmlformats-officedocument.presentationml.slide+xml" PartName="/ppt/slides/slide8.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no"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7" r:id="rId2"/>
    <p:sldId id="266" r:id="rId3"/>
    <p:sldId id="261" r:id="rId4"/>
    <p:sldId id="263" r:id="rId5"/>
    <p:sldId id="262" r:id="rId6"/>
    <p:sldId id="264" r:id="rId7"/>
    <p:sldId id="258" r:id="rId8"/>
    <p:sldId id="265" r:id="rId9"/>
    <p:sldId id="260" r:id="rId10"/>
    <p:sldId id="25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slide" Target="/ppt/slides/slide7.xml" Id="rId8" /><Relationship Type="http://schemas.openxmlformats.org/officeDocument/2006/relationships/viewProps" Target="/ppt/viewProps.xml" Id="rId13" /><Relationship Type="http://schemas.openxmlformats.org/officeDocument/2006/relationships/slide" Target="/ppt/slides/slide2.xml" Id="rId3" /><Relationship Type="http://schemas.openxmlformats.org/officeDocument/2006/relationships/slide" Target="/ppt/slides/slide6.xml" Id="rId7" /><Relationship Type="http://schemas.openxmlformats.org/officeDocument/2006/relationships/presProps" Target="/ppt/presProps.xml" Id="rId12" /><Relationship Type="http://schemas.openxmlformats.org/officeDocument/2006/relationships/slide" Target="/ppt/slides/slide1.xml" Id="rId2"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slide" Target="/ppt/slides/slide10.xml" Id="rId11" /><Relationship Type="http://schemas.openxmlformats.org/officeDocument/2006/relationships/slide" Target="/ppt/slides/slide4.xml" Id="rId5" /><Relationship Type="http://schemas.openxmlformats.org/officeDocument/2006/relationships/tableStyles" Target="/ppt/tableStyles.xml" Id="rId15" /><Relationship Type="http://schemas.openxmlformats.org/officeDocument/2006/relationships/slide" Target="/ppt/slides/slide9.xml" Id="rId10" /><Relationship Type="http://schemas.openxmlformats.org/officeDocument/2006/relationships/slide" Target="/ppt/slides/slide3.xml" Id="rId4" /><Relationship Type="http://schemas.openxmlformats.org/officeDocument/2006/relationships/slide" Target="/ppt/slides/slide8.xml" Id="rId9" /><Relationship Type="http://schemas.openxmlformats.org/officeDocument/2006/relationships/theme" Target="/ppt/theme/theme1.xml" Id="rId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A60815-0EA8-401E-8A1D-954AFA6CA132}" type="datetimeFigureOut">
              <a:rPr lang="en-IN" smtClean="0"/>
              <a:t>10-07-2025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7DDA7C-853D-4EFE-A690-90060AA23EBC}" type="slidenum">
              <a:rPr lang="en-IN" smtClean="0"/>
              <a:t>‹#›</a:t>
            </a:fld>
            <a:endParaRPr lang="en-IN"/>
          </a:p>
        </p:txBody>
      </p:sp>
    </p:spTree>
    <p:extLst>
      <p:ext uri="{BB962C8B-B14F-4D97-AF65-F5344CB8AC3E}">
        <p14:creationId xmlns:p14="http://schemas.microsoft.com/office/powerpoint/2010/main" val="2450992269"/>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theme/theme1.xml" Id="rId17" /><Relationship Type="http://schemas.openxmlformats.org/officeDocument/2006/relationships/slideLayout" Target="/ppt/slideLayouts/slideLayout2.xml" Id="rId2" /></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0A60815-0EA8-401E-8A1D-954AFA6CA132}" type="datetimeFigureOut">
              <a:rPr lang="en-IN" smtClean="0"/>
              <a:t>10-07-2025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A7DDA7C-853D-4EFE-A690-90060AA23EBC}" type="slidenum">
              <a:rPr lang="en-IN" smtClean="0"/>
              <a:t>‹#›</a:t>
            </a:fld>
            <a:endParaRPr lang="en-IN"/>
          </a:p>
        </p:txBody>
      </p:sp>
    </p:spTree>
    <p:extLst>
      <p:ext uri="{BB962C8B-B14F-4D97-AF65-F5344CB8AC3E}">
        <p14:creationId xmlns:p14="http://schemas.microsoft.com/office/powerpoint/2010/main" val="2192044442"/>
      </p:ext>
    </p:extLst>
  </p:cSld>
  <p:clrMap bg1="lt1" tx1="dk1" bg2="lt2" tx2="dk2" accent1="accent1" accent2="accent2" accent3="accent3" accent4="accent4" accent5="accent5" accent6="accent6" hlink="hlink" folHlink="folHlink"/>
  <p:sldLayoutIdLst>
    <p:sldLayoutId id="2147483679" r:id="rId2"/>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no" ?><Relationships xmlns="http://schemas.openxmlformats.org/package/2006/relationships"><Relationship Id="rId2" Target="/ppt/media/image1.jpeg" Type="http://schemas.openxmlformats.org/officeDocument/2006/relationships/image"/><Relationship Id="rId1" Target="/ppt/slideLayouts/slideLayout2.xml" Type="http://schemas.openxmlformats.org/officeDocument/2006/relationships/slideLayout"/></Relationships>
</file>

<file path=ppt/slides/_rels/slide2.xml.rels><?xml version="1.0" encoding="utf-8" standalone="no" ?><Relationships xmlns="http://schemas.openxmlformats.org/package/2006/relationships"><Relationship Id="rId2" Target="/ppt/media/image2.jpeg" Type="http://schemas.openxmlformats.org/officeDocument/2006/relationships/image"/><Relationship Id="rId1" Target="/ppt/slideLayouts/slideLayout2.xml" Type="http://schemas.openxmlformats.org/officeDocument/2006/relationships/slideLayout"/></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xml.rels><?xml version="1.0" encoding="utf-8" standalone="no" ?><Relationships xmlns="http://schemas.openxmlformats.org/package/2006/relationships"><Relationship Id="rId2" Target="/ppt/media/image3.jpeg" Type="http://schemas.openxmlformats.org/officeDocument/2006/relationships/image"/><Relationship Id="rId1" Target="/ppt/slideLayouts/slideLayout2.xml" Type="http://schemas.openxmlformats.org/officeDocument/2006/relationships/slideLayout"/></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8.xml.rels><?xml version="1.0" encoding="utf-8" standalone="no" ?><Relationships xmlns="http://schemas.openxmlformats.org/package/2006/relationships"><Relationship Id="rId2" Target="/ppt/media/image4.jpeg" Type="http://schemas.openxmlformats.org/officeDocument/2006/relationships/image"/><Relationship Id="rId1" Target="/ppt/slideLayouts/slideLayout2.xml" Type="http://schemas.openxmlformats.org/officeDocument/2006/relationships/slideLayout"/></Relationships>
</file>

<file path=ppt/slides/_rels/slide9.xml.rels><?xml version="1.0" encoding="utf-8" standalone="no" ?><Relationships xmlns="http://schemas.openxmlformats.org/package/2006/relationships"><Relationship Id="rId2" Target="/ppt/media/image5.jpeg" Type="http://schemas.openxmlformats.org/officeDocument/2006/relationships/image"/><Relationship Id="rId1" Target="/ppt/slideLayouts/slideLayout2.xml" Type="http://schemas.openxmlformats.org/officeDocument/2006/relationships/slideLayout"/></Relationships>
</file>

<file path=ppt/slides/_rels/slide10.xml.rels><?xml version="1.0" encoding="utf-8" standalone="no" ?><Relationships xmlns="http://schemas.openxmlformats.org/package/2006/relationships"><Relationship Id="rId2" Target="/ppt/media/image6.jpeg" Type="http://schemas.openxmlformats.org/officeDocument/2006/relationships/image"/><Relationship Id="rId1" Target="/ppt/slideLayouts/slideLayout2.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07940-E2A5-AB20-6953-05077E2C2712}"/>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Guardian promise: protecting every child</a:t>
            </a:r>
            <a:endParaRPr lang="en-IN" sz="40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242C596-AEB2-4FAA-16B7-B28AAB8C8872}"/>
              </a:ext>
            </a:extLst>
          </p:cNvPr>
          <p:cNvSpPr>
            <a:spLocks noGrp="1"/>
          </p:cNvSpPr>
          <p:nvPr>
            <p:ph idx="1"/>
          </p:nvPr>
        </p:nvSpPr>
        <p:spPr>
          <a:xfrm>
            <a:off x="838200" y="1825625"/>
            <a:ext cx="6319684" cy="4351338"/>
          </a:xfrm>
        </p:spPr>
        <p:txBody>
          <a:bodyPr>
            <a:normAutofit/>
          </a:bodyPr>
          <a:lstStyle/>
          <a:p>
            <a:r>
              <a:rPr lang="en-US" dirty="0"/>
              <a:t>At CRY, we stand firm in the belief that every child deserves a safe, joyful, and nurturing childhood. We strive to create a world where children can explore their full potential without fear—guided by the values of protection, dignity, and care. Our mission is to empower individuals and communities to uphold the rights of children and actively safeguard their well-being, ensuring that no child is left vulnerable to harm or neglect.</a:t>
            </a:r>
            <a:endParaRPr lang="en-IN" dirty="0"/>
          </a:p>
        </p:txBody>
      </p:sp>
      <p:pic>
        <p:nvPicPr>
          <p:cNvPr id="4" name="Picture 3">
            <a:extLst>
              <a:ext uri="{FF2B5EF4-FFF2-40B4-BE49-F238E27FC236}">
                <a16:creationId xmlns:a16="http://schemas.microsoft.com/office/drawing/2014/main" id="{537782D5-E796-4B3F-B192-EA2205F1586D}"/>
              </a:ext>
            </a:extLst>
          </p:cNvPr>
          <p:cNvPicPr>
            <a:picLocks noChangeAspect="1"/>
          </p:cNvPicPr>
          <p:nvPr/>
        </p:nvPicPr>
        <p:blipFill>
          <a:blip r:embed="rId2"/>
          <a:stretch>
            <a:fillRect/>
          </a:stretch>
        </p:blipFill>
        <p:spPr>
          <a:xfrm>
            <a:off x="7454325" y="2065971"/>
            <a:ext cx="4088746" cy="3171172"/>
          </a:xfrm>
          <a:prstGeom prst="rect">
            <a:avLst/>
          </a:prstGeom>
        </p:spPr>
      </p:pic>
    </p:spTree>
    <p:extLst>
      <p:ext uri="{BB962C8B-B14F-4D97-AF65-F5344CB8AC3E}">
        <p14:creationId xmlns:p14="http://schemas.microsoft.com/office/powerpoint/2010/main" val="1426664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CCEDB-CD08-9AF9-44E3-D25156BB17FB}"/>
              </a:ext>
            </a:extLst>
          </p:cNvPr>
          <p:cNvSpPr>
            <a:spLocks noGrp="1"/>
          </p:cNvSpPr>
          <p:nvPr>
            <p:ph type="title"/>
          </p:nvPr>
        </p:nvSpPr>
        <p:spPr/>
        <p:txBody>
          <a:bodyPr>
            <a:normAutofit/>
          </a:bodyPr>
          <a:lstStyle/>
          <a:p>
            <a:r>
              <a:rPr lang="en-IN" sz="4000" b="1" dirty="0">
                <a:latin typeface="Arial" panose="020B0604020202020204" pitchFamily="34" charset="0"/>
                <a:cs typeface="Arial" panose="020B0604020202020204" pitchFamily="34" charset="0"/>
              </a:rPr>
              <a:t>Why we protect</a:t>
            </a:r>
          </a:p>
        </p:txBody>
      </p:sp>
      <p:sp>
        <p:nvSpPr>
          <p:cNvPr id="3" name="Content Placeholder 2">
            <a:extLst>
              <a:ext uri="{FF2B5EF4-FFF2-40B4-BE49-F238E27FC236}">
                <a16:creationId xmlns:a16="http://schemas.microsoft.com/office/drawing/2014/main" id="{F3025DE4-C9AE-6096-1F1B-F1BF8F85B052}"/>
              </a:ext>
            </a:extLst>
          </p:cNvPr>
          <p:cNvSpPr>
            <a:spLocks noGrp="1"/>
          </p:cNvSpPr>
          <p:nvPr>
            <p:ph idx="1"/>
          </p:nvPr>
        </p:nvSpPr>
        <p:spPr>
          <a:xfrm>
            <a:off x="838200" y="1825625"/>
            <a:ext cx="7135761" cy="4351338"/>
          </a:xfrm>
        </p:spPr>
        <p:txBody>
          <a:bodyPr>
            <a:normAutofit/>
          </a:bodyPr>
          <a:lstStyle/>
          <a:p>
            <a:r>
              <a:rPr lang="en-US" dirty="0"/>
              <a:t>To affirm and strengthen CRY’s unwavering commitment to safeguarding every child.</a:t>
            </a:r>
          </a:p>
          <a:p>
            <a:r>
              <a:rPr lang="en-US" dirty="0"/>
              <a:t>To ensure that care, safety, and the overall well-being of children remain central to all our actions and decisions.</a:t>
            </a:r>
          </a:p>
          <a:p>
            <a:r>
              <a:rPr lang="en-US" dirty="0"/>
              <a:t>To establish a reliable protection system for all children involved in CRY’s development programs.</a:t>
            </a:r>
          </a:p>
          <a:p>
            <a:r>
              <a:rPr lang="en-US" dirty="0"/>
              <a:t>To define a clear code of conduct and procedures that prevent any harm or abuse by staff or associates.</a:t>
            </a:r>
          </a:p>
          <a:p>
            <a:r>
              <a:rPr lang="en-US" dirty="0"/>
              <a:t>To equip all team members with the knowledge, tools, and confidence to uphold a safe environment for children at all times.</a:t>
            </a:r>
            <a:endParaRPr lang="en-IN" dirty="0"/>
          </a:p>
        </p:txBody>
      </p:sp>
      <p:pic>
        <p:nvPicPr>
          <p:cNvPr id="4" name="Picture 3">
            <a:extLst>
              <a:ext uri="{FF2B5EF4-FFF2-40B4-BE49-F238E27FC236}">
                <a16:creationId xmlns:a16="http://schemas.microsoft.com/office/drawing/2014/main" id="{ECC93AD0-7215-713E-E3A6-5328B77B299E}"/>
              </a:ext>
            </a:extLst>
          </p:cNvPr>
          <p:cNvPicPr>
            <a:picLocks noChangeAspect="1"/>
          </p:cNvPicPr>
          <p:nvPr/>
        </p:nvPicPr>
        <p:blipFill>
          <a:blip r:embed="rId2"/>
          <a:stretch>
            <a:fillRect/>
          </a:stretch>
        </p:blipFill>
        <p:spPr>
          <a:xfrm>
            <a:off x="7973961" y="1986526"/>
            <a:ext cx="3543687" cy="3185242"/>
          </a:xfrm>
          <a:prstGeom prst="rect">
            <a:avLst/>
          </a:prstGeom>
        </p:spPr>
      </p:pic>
    </p:spTree>
    <p:extLst>
      <p:ext uri="{BB962C8B-B14F-4D97-AF65-F5344CB8AC3E}">
        <p14:creationId xmlns:p14="http://schemas.microsoft.com/office/powerpoint/2010/main" val="35434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C80F4-127C-578C-7AF8-98BBC68B1347}"/>
              </a:ext>
            </a:extLst>
          </p:cNvPr>
          <p:cNvSpPr>
            <a:spLocks noGrp="1"/>
          </p:cNvSpPr>
          <p:nvPr>
            <p:ph type="title"/>
          </p:nvPr>
        </p:nvSpPr>
        <p:spPr/>
        <p:txBody>
          <a:bodyPr>
            <a:normAutofit/>
          </a:bodyPr>
          <a:lstStyle/>
          <a:p>
            <a:r>
              <a:rPr lang="en-IN" sz="4000" b="1" dirty="0">
                <a:latin typeface="Arial" panose="020B0604020202020204" pitchFamily="34" charset="0"/>
                <a:cs typeface="Arial" panose="020B0604020202020204" pitchFamily="34" charset="0"/>
              </a:rPr>
              <a:t>Safety starts with us</a:t>
            </a:r>
          </a:p>
        </p:txBody>
      </p:sp>
      <p:sp>
        <p:nvSpPr>
          <p:cNvPr id="3" name="Content Placeholder 2">
            <a:extLst>
              <a:ext uri="{FF2B5EF4-FFF2-40B4-BE49-F238E27FC236}">
                <a16:creationId xmlns:a16="http://schemas.microsoft.com/office/drawing/2014/main" id="{CBA56660-981A-EF64-D9B3-83AA0409BCB0}"/>
              </a:ext>
            </a:extLst>
          </p:cNvPr>
          <p:cNvSpPr>
            <a:spLocks noGrp="1"/>
          </p:cNvSpPr>
          <p:nvPr>
            <p:ph idx="1"/>
          </p:nvPr>
        </p:nvSpPr>
        <p:spPr/>
        <p:txBody>
          <a:bodyPr>
            <a:normAutofit lnSpcReduction="10000"/>
          </a:bodyPr>
          <a:lstStyle/>
          <a:p>
            <a:r>
              <a:rPr lang="en-US" dirty="0"/>
              <a:t>Awareness- All CRY staff must know and follow the Child Safeguarding Policy. New staff are oriented; policy breaches may lead to action or termination. Leaders and HR ensure policy access and implementation.</a:t>
            </a:r>
          </a:p>
          <a:p>
            <a:r>
              <a:rPr lang="en-US" dirty="0"/>
              <a:t>Prevention- Hiring avoids candidates who may risk child safety. Partners must follow CRY’s child protection standards. Informed consent needed before using any child’s images or stories. Ongoing training and understanding of protection procedures are required.</a:t>
            </a:r>
          </a:p>
          <a:p>
            <a:r>
              <a:rPr lang="en-US" dirty="0"/>
              <a:t>Reporting- All abuse/suspicions must be reported within 24 hours. Reports go to DA, HR, or CEO as per SOPs. Confidentiality is maintained; no public disclosure without approval. Full cooperation in investigations is expected.</a:t>
            </a:r>
          </a:p>
          <a:p>
            <a:r>
              <a:rPr lang="en-US" dirty="0"/>
              <a:t>Responding- CRY acts quickly—within 48 hours of a complaint. Proper investigations are led by designated teams. Violations may lead to disciplinary or legal action.</a:t>
            </a:r>
            <a:endParaRPr lang="en-IN" dirty="0"/>
          </a:p>
        </p:txBody>
      </p:sp>
    </p:spTree>
    <p:extLst>
      <p:ext uri="{BB962C8B-B14F-4D97-AF65-F5344CB8AC3E}">
        <p14:creationId xmlns:p14="http://schemas.microsoft.com/office/powerpoint/2010/main" val="1420086447"/>
      </p:ext>
    </p:extLst>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7BDAB-862A-0B3B-5995-C7DD3FD91250}"/>
              </a:ext>
            </a:extLst>
          </p:cNvPr>
          <p:cNvSpPr>
            <a:spLocks noGrp="1"/>
          </p:cNvSpPr>
          <p:nvPr>
            <p:ph type="title"/>
          </p:nvPr>
        </p:nvSpPr>
        <p:spPr/>
        <p:txBody>
          <a:bodyPr>
            <a:normAutofit/>
          </a:bodyPr>
          <a:lstStyle/>
          <a:p>
            <a:r>
              <a:rPr b="1" dirty="0" lang="en-IN" sz="4000">
                <a:latin charset="0" panose="020B0604020202020204" pitchFamily="34" typeface="Arial"/>
                <a:cs charset="0" panose="020B0604020202020204" pitchFamily="34" typeface="Arial"/>
              </a:rPr>
              <a:t> Boundaries that protect</a:t>
            </a:r>
          </a:p>
        </p:txBody>
      </p:sp>
      <p:sp>
        <p:nvSpPr>
          <p:cNvPr id="3" name="Content Placeholder 2">
            <a:extLst>
              <a:ext uri="{FF2B5EF4-FFF2-40B4-BE49-F238E27FC236}">
                <a16:creationId xmlns:a16="http://schemas.microsoft.com/office/drawing/2014/main" id="{32B2A2AD-8C52-BE67-EEC2-E9AF965FF428}"/>
              </a:ext>
            </a:extLst>
          </p:cNvPr>
          <p:cNvSpPr>
            <a:spLocks noGrp="1"/>
          </p:cNvSpPr>
          <p:nvPr>
            <p:ph idx="1"/>
          </p:nvPr>
        </p:nvSpPr>
        <p:spPr>
          <a:xfrm>
            <a:off x="838200" y="1825625"/>
            <a:ext cx="6673645" cy="4351338"/>
          </a:xfrm>
        </p:spPr>
        <p:txBody>
          <a:bodyPr>
            <a:normAutofit/>
          </a:bodyPr>
          <a:lstStyle/>
          <a:p>
            <a:pPr indent="0" marL="0">
              <a:buNone/>
            </a:pPr>
            <a:r>
              <a:rPr dirty="0" lang="en-US"/>
              <a:t>CRY’s Code of Conduct ensures every child’s dignity, privacy, and safety. Staff must manage risks, respect diversity, and obtain consent before engaging with children or collecting their data. All communication must remain professional, avoiding exposure to inappropriate content or speculation. Any form of abuse, discrimination, or personal contact—physical or digital—is strictly prohibited. Children must not be involved in private errands, taken to isolated spaces, or employed in any way. The focus remains on safeguarding, respect, and child empowerment at all times. These guidelines ensure that children are always safe, respected, and empowered in every environment.</a:t>
            </a:r>
            <a:endParaRPr dirty="0" lang="en-IN"/>
          </a:p>
        </p:txBody>
      </p:sp>
      <p:pic>
        <p:nvPicPr>
          <p:cNvPr id="4" name="Picture 3">
            <a:extLst>
              <a:ext uri="{FF2B5EF4-FFF2-40B4-BE49-F238E27FC236}">
                <a16:creationId xmlns:a16="http://schemas.microsoft.com/office/drawing/2014/main" id="{0BC0A510-A442-660C-2B15-BCB9EED39481}"/>
              </a:ext>
            </a:extLst>
          </p:cNvPr>
          <p:cNvPicPr>
            <a:picLocks noChangeAspect="1"/>
          </p:cNvPicPr>
          <p:nvPr/>
        </p:nvPicPr>
        <p:blipFill>
          <a:blip r:embed="rId2"/>
          <a:srcRect b="76" l="63" t="120"/>
          <a:stretch>
            <a:fillRect/>
          </a:stretch>
        </p:blipFill>
        <p:spPr>
          <a:xfrm>
            <a:off x="7865806" y="1825624"/>
            <a:ext cx="3569110" cy="3749265"/>
          </a:xfrm>
          <a:prstGeom prst="rect">
            <a:avLst/>
          </a:prstGeom>
        </p:spPr>
      </p:pic>
    </p:spTree>
    <p:extLst>
      <p:ext uri="{BB962C8B-B14F-4D97-AF65-F5344CB8AC3E}">
        <p14:creationId xmlns:p14="http://schemas.microsoft.com/office/powerpoint/2010/main" val="3813814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1C398-98D6-EB9F-1179-5E98C9AAEABD}"/>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Secure moments: Event safety plans</a:t>
            </a:r>
            <a:endParaRPr lang="en-IN" sz="40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B8E569B-89FD-640C-36D2-835781CB69F9}"/>
              </a:ext>
            </a:extLst>
          </p:cNvPr>
          <p:cNvSpPr>
            <a:spLocks noGrp="1"/>
          </p:cNvSpPr>
          <p:nvPr>
            <p:ph idx="1"/>
          </p:nvPr>
        </p:nvSpPr>
        <p:spPr/>
        <p:txBody>
          <a:bodyPr>
            <a:normAutofit lnSpcReduction="10000"/>
          </a:bodyPr>
          <a:lstStyle/>
          <a:p>
            <a:pPr marL="0" indent="0">
              <a:buNone/>
            </a:pPr>
            <a:r>
              <a:rPr lang="en-US" dirty="0"/>
              <a:t>Organizing child-centric events requires careful planning with a strong focus on safety, relevance, and inclusion. Events should have clear goals, involve children where possible, and be guided by realistic expectations. Two phases of risk assessment must be done—during planning and before execution. Parental consent and full child details, including medical and dietary needs, must be collected. Venues should be safe, legally compliant, weather-resistant, and equipped with clear signage, toilets, drinking water, fire safety, and medical support. Entrances and exits must be mapped, marked, and supported by trained volunteers. Travel must be secure, with proper escort ratios, and no child under 8 should travel alone. Escorts should match the child’s gender. All volunteers must be trained, carry IDs, and follow safeguarding policies. Emergency plans should be in place. For public hearings, consent is vital, and care must be taken to protect the child’s identity and emotional well-being, ensuring confidentiality and dignity at all times.</a:t>
            </a:r>
            <a:endParaRPr lang="en-IN" dirty="0"/>
          </a:p>
        </p:txBody>
      </p:sp>
    </p:spTree>
    <p:extLst>
      <p:ext uri="{BB962C8B-B14F-4D97-AF65-F5344CB8AC3E}">
        <p14:creationId xmlns:p14="http://schemas.microsoft.com/office/powerpoint/2010/main" val="3439296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45D65-AFE4-833C-F341-42C629F3A3AA}"/>
              </a:ext>
            </a:extLst>
          </p:cNvPr>
          <p:cNvSpPr>
            <a:spLocks noGrp="1"/>
          </p:cNvSpPr>
          <p:nvPr>
            <p:ph type="title"/>
          </p:nvPr>
        </p:nvSpPr>
        <p:spPr/>
        <p:txBody>
          <a:bodyPr>
            <a:normAutofit/>
          </a:bodyPr>
          <a:lstStyle/>
          <a:p>
            <a:r>
              <a:rPr lang="en-IN" sz="4000" b="1" dirty="0">
                <a:latin typeface="Arial" panose="020B0604020202020204" pitchFamily="34" charset="0"/>
                <a:cs typeface="Arial" panose="020B0604020202020204" pitchFamily="34" charset="0"/>
              </a:rPr>
              <a:t>Digital Guardrails </a:t>
            </a:r>
          </a:p>
        </p:txBody>
      </p:sp>
      <p:sp>
        <p:nvSpPr>
          <p:cNvPr id="3" name="Content Placeholder 2">
            <a:extLst>
              <a:ext uri="{FF2B5EF4-FFF2-40B4-BE49-F238E27FC236}">
                <a16:creationId xmlns:a16="http://schemas.microsoft.com/office/drawing/2014/main" id="{43217E3E-25C1-FDE0-34A6-EAD2F6387FB8}"/>
              </a:ext>
            </a:extLst>
          </p:cNvPr>
          <p:cNvSpPr>
            <a:spLocks noGrp="1"/>
          </p:cNvSpPr>
          <p:nvPr>
            <p:ph idx="1"/>
          </p:nvPr>
        </p:nvSpPr>
        <p:spPr>
          <a:xfrm>
            <a:off x="775657" y="2160589"/>
            <a:ext cx="8596668" cy="3880773"/>
          </a:xfrm>
        </p:spPr>
        <p:txBody>
          <a:bodyPr>
            <a:normAutofit fontScale="92500" lnSpcReduction="20000"/>
          </a:bodyPr>
          <a:lstStyle/>
          <a:p>
            <a:pPr marL="0" indent="0">
              <a:buNone/>
            </a:pPr>
            <a:r>
              <a:rPr lang="en-US" dirty="0"/>
              <a:t>1. Exposure to Inappropriate Content- Children must be protected from exposure to unsuitable materials on the internet, especially content that is sexually explicit, violent, or emotionally harmful.</a:t>
            </a:r>
          </a:p>
          <a:p>
            <a:pPr marL="0" indent="0">
              <a:buNone/>
            </a:pPr>
            <a:r>
              <a:rPr lang="en-US" dirty="0"/>
              <a:t>2. Strict Prohibition on Online Abuse- Any form of online abuse, harassment, bullying, or exploitation of children is strictly prohibited. CRY enforces zero tolerance for such behaviors.</a:t>
            </a:r>
          </a:p>
          <a:p>
            <a:pPr marL="0" indent="0">
              <a:buNone/>
            </a:pPr>
            <a:r>
              <a:rPr lang="en-US" dirty="0"/>
              <a:t>3. Informed Consent Before Sharing- Any sharing of a child’s photograph, video, or personal story online must be preceded by informed written consent from both the child (if 14 years or older) and their parent/guardian. Children must have the right to say ‘No’ to being photographed or filmed.</a:t>
            </a:r>
          </a:p>
          <a:p>
            <a:pPr marL="0" indent="0">
              <a:buNone/>
            </a:pPr>
            <a:r>
              <a:rPr lang="en-US" dirty="0"/>
              <a:t>4. Data Privacy and Security- Sensitive information about children must be handled with utmost confidentiality and must not be shared publicly unless approved by CRY’s authorized </a:t>
            </a:r>
            <a:r>
              <a:rPr lang="en-US" dirty="0" err="1"/>
              <a:t>personel</a:t>
            </a:r>
            <a:r>
              <a:rPr lang="en-US" dirty="0"/>
              <a:t>. No geo-tagging or sharing of identifiable location data in images or posts is permitted. This structured policy ensures a child-safe digital environment and reinforces CRY’s strong stance on protecting children from online harm.</a:t>
            </a:r>
            <a:endParaRPr lang="en-IN" dirty="0"/>
          </a:p>
        </p:txBody>
      </p:sp>
    </p:spTree>
    <p:extLst>
      <p:ext uri="{BB962C8B-B14F-4D97-AF65-F5344CB8AC3E}">
        <p14:creationId xmlns:p14="http://schemas.microsoft.com/office/powerpoint/2010/main" val="3297165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ABC9A-BAA4-26BB-1DDD-74330112ED9C}"/>
              </a:ext>
            </a:extLst>
          </p:cNvPr>
          <p:cNvSpPr>
            <a:spLocks noGrp="1"/>
          </p:cNvSpPr>
          <p:nvPr>
            <p:ph type="title"/>
          </p:nvPr>
        </p:nvSpPr>
        <p:spPr/>
        <p:txBody>
          <a:bodyPr>
            <a:normAutofit/>
          </a:bodyPr>
          <a:lstStyle/>
          <a:p>
            <a:r>
              <a:rPr lang="en-IN" sz="4000" b="1" dirty="0">
                <a:latin typeface="Arial" panose="020B0604020202020204" pitchFamily="34" charset="0"/>
                <a:cs typeface="Arial" panose="020B0604020202020204" pitchFamily="34" charset="0"/>
              </a:rPr>
              <a:t>Frame of Consent</a:t>
            </a:r>
          </a:p>
        </p:txBody>
      </p:sp>
      <p:sp>
        <p:nvSpPr>
          <p:cNvPr id="3" name="Content Placeholder 2">
            <a:extLst>
              <a:ext uri="{FF2B5EF4-FFF2-40B4-BE49-F238E27FC236}">
                <a16:creationId xmlns:a16="http://schemas.microsoft.com/office/drawing/2014/main" id="{BFA6E703-F3BC-634D-6469-059A9C52DD2B}"/>
              </a:ext>
            </a:extLst>
          </p:cNvPr>
          <p:cNvSpPr>
            <a:spLocks noGrp="1"/>
          </p:cNvSpPr>
          <p:nvPr>
            <p:ph idx="1"/>
          </p:nvPr>
        </p:nvSpPr>
        <p:spPr/>
        <p:txBody>
          <a:bodyPr>
            <a:normAutofit fontScale="92500" lnSpcReduction="10000"/>
          </a:bodyPr>
          <a:lstStyle/>
          <a:p>
            <a:pPr marL="0" indent="0">
              <a:buNone/>
            </a:pPr>
            <a:r>
              <a:rPr lang="en-US" dirty="0"/>
              <a:t>1. Informed and Written Consent- Consent must be taken in writing from both the child and parent/guardian before capturing or using any image or video.</a:t>
            </a:r>
          </a:p>
          <a:p>
            <a:pPr marL="0" indent="0">
              <a:buNone/>
            </a:pPr>
            <a:r>
              <a:rPr lang="en-US" dirty="0"/>
              <a:t>2. Age-Appropriate Understanding- Children must understand the purpose; those above 14 must give individual consent, and younger children need guardian approval.</a:t>
            </a:r>
          </a:p>
          <a:p>
            <a:pPr marL="0" indent="0">
              <a:buNone/>
            </a:pPr>
            <a:r>
              <a:rPr lang="en-US" dirty="0"/>
              <a:t>3. No Pressure or Incentives- No financial or material inducements should be offered for obtaining consent.</a:t>
            </a:r>
          </a:p>
          <a:p>
            <a:pPr marL="0" indent="0">
              <a:buNone/>
            </a:pPr>
            <a:r>
              <a:rPr lang="en-US" dirty="0"/>
              <a:t>4. Right to Withdraw- Children and parents can withdraw consent at any time, and the use of their data must stop accordingly.</a:t>
            </a:r>
          </a:p>
          <a:p>
            <a:pPr marL="0" indent="0">
              <a:buNone/>
            </a:pPr>
            <a:r>
              <a:rPr lang="en-US" dirty="0"/>
              <a:t>5. Respectful and Dignified Representation- Children must be portrayed respectfully, not in submissive, indecent, or distressing </a:t>
            </a:r>
            <a:r>
              <a:rPr lang="en-US" dirty="0" err="1"/>
              <a:t>ways.Children</a:t>
            </a:r>
            <a:r>
              <a:rPr lang="en-US" dirty="0"/>
              <a:t> must be clothed appropriately, and visuals must not exploit their vulnerability.</a:t>
            </a:r>
          </a:p>
          <a:p>
            <a:pPr marL="0" indent="0">
              <a:buNone/>
            </a:pPr>
            <a:r>
              <a:rPr lang="en-US" dirty="0"/>
              <a:t>6. Privacy Protection- Avoid disclosing full names, addresses, or geolocation. Never use identifiable details in sensitive cases</a:t>
            </a:r>
            <a:endParaRPr lang="en-IN" dirty="0"/>
          </a:p>
        </p:txBody>
      </p:sp>
    </p:spTree>
    <p:extLst>
      <p:ext uri="{BB962C8B-B14F-4D97-AF65-F5344CB8AC3E}">
        <p14:creationId xmlns:p14="http://schemas.microsoft.com/office/powerpoint/2010/main" val="2009746185"/>
      </p:ext>
    </p:extLst>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7838B-A767-98A9-4CB2-D88E891DEF16}"/>
              </a:ext>
            </a:extLst>
          </p:cNvPr>
          <p:cNvSpPr>
            <a:spLocks noGrp="1"/>
          </p:cNvSpPr>
          <p:nvPr>
            <p:ph type="title"/>
          </p:nvPr>
        </p:nvSpPr>
        <p:spPr/>
        <p:txBody>
          <a:bodyPr>
            <a:normAutofit/>
          </a:bodyPr>
          <a:lstStyle/>
          <a:p>
            <a:r>
              <a:rPr b="1" dirty="0" lang="en-IN" sz="4000">
                <a:latin charset="0" panose="020B0604020202020204" pitchFamily="34" typeface="Arial"/>
                <a:cs charset="0" panose="020B0604020202020204" pitchFamily="34" typeface="Arial"/>
              </a:rPr>
              <a:t>Spotlight with Safety</a:t>
            </a:r>
          </a:p>
        </p:txBody>
      </p:sp>
      <p:sp>
        <p:nvSpPr>
          <p:cNvPr id="3" name="Content Placeholder 2">
            <a:extLst>
              <a:ext uri="{FF2B5EF4-FFF2-40B4-BE49-F238E27FC236}">
                <a16:creationId xmlns:a16="http://schemas.microsoft.com/office/drawing/2014/main" id="{05F1757F-F8F7-A34A-7A1D-59544C49A0B5}"/>
              </a:ext>
            </a:extLst>
          </p:cNvPr>
          <p:cNvSpPr>
            <a:spLocks noGrp="1"/>
          </p:cNvSpPr>
          <p:nvPr>
            <p:ph idx="1"/>
          </p:nvPr>
        </p:nvSpPr>
        <p:spPr>
          <a:xfrm>
            <a:off x="838200" y="1825625"/>
            <a:ext cx="6978445" cy="4351338"/>
          </a:xfrm>
        </p:spPr>
        <p:txBody>
          <a:bodyPr>
            <a:normAutofit/>
          </a:bodyPr>
          <a:lstStyle/>
          <a:p>
            <a:pPr indent="0" marL="0">
              <a:buNone/>
            </a:pPr>
            <a:r>
              <a:rPr dirty="0" lang="en-US"/>
              <a:t>Working with child actors requires strict adherence to safety, legal, and ethical guidelines. Child actors under 18 must not work beyond 5 hours a day, with at least one-hour breaks, and are not allowed to work between 7 p.m. and 8 a.m. Legal approval from the District Magistrate and written parental consent are mandatory. Children must receive safe shelter, nutritious food, clean facilities, emotional support, and access to medical care. Education must not be disrupted for more than 27 days, and 20% of the child’s earnings must be secured in their name. One trained adult should supervise a maximum of five children. Children must never be forced to perform or exposed to inappropriate content, and a parent or guardian must always be present during shoots to ensure their safety and well-being.</a:t>
            </a:r>
            <a:endParaRPr dirty="0" lang="en-IN"/>
          </a:p>
        </p:txBody>
      </p:sp>
      <p:pic>
        <p:nvPicPr>
          <p:cNvPr id="4" name="Picture 3">
            <a:extLst>
              <a:ext uri="{FF2B5EF4-FFF2-40B4-BE49-F238E27FC236}">
                <a16:creationId xmlns:a16="http://schemas.microsoft.com/office/drawing/2014/main" id="{C0D1A1E2-1E9C-89C6-A36B-195F23B9DC60}"/>
              </a:ext>
            </a:extLst>
          </p:cNvPr>
          <p:cNvPicPr>
            <a:picLocks noChangeAspect="1"/>
          </p:cNvPicPr>
          <p:nvPr/>
        </p:nvPicPr>
        <p:blipFill>
          <a:blip r:embed="rId2"/>
          <a:srcRect l="179" r="146"/>
          <a:stretch>
            <a:fillRect/>
          </a:stretch>
        </p:blipFill>
        <p:spPr>
          <a:xfrm>
            <a:off x="8109724" y="2120823"/>
            <a:ext cx="3629992" cy="3384601"/>
          </a:xfrm>
          <a:prstGeom prst="rect">
            <a:avLst/>
          </a:prstGeom>
        </p:spPr>
      </p:pic>
    </p:spTree>
    <p:extLst>
      <p:ext uri="{BB962C8B-B14F-4D97-AF65-F5344CB8AC3E}">
        <p14:creationId xmlns:p14="http://schemas.microsoft.com/office/powerpoint/2010/main" val="3413738663"/>
      </p:ext>
    </p:extLst>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51344-0D54-553A-54BA-27D72E491727}"/>
              </a:ext>
            </a:extLst>
          </p:cNvPr>
          <p:cNvSpPr>
            <a:spLocks noGrp="1"/>
          </p:cNvSpPr>
          <p:nvPr>
            <p:ph type="title"/>
          </p:nvPr>
        </p:nvSpPr>
        <p:spPr/>
        <p:txBody>
          <a:bodyPr>
            <a:normAutofit/>
          </a:bodyPr>
          <a:lstStyle/>
          <a:p>
            <a:r>
              <a:rPr b="1" dirty="0" lang="en-IN" sz="4000">
                <a:latin charset="0" panose="020B0604020202020204" pitchFamily="34" typeface="Arial"/>
                <a:cs charset="0" panose="020B0604020202020204" pitchFamily="34" typeface="Arial"/>
              </a:rPr>
              <a:t>The Voice-line protocol </a:t>
            </a:r>
          </a:p>
        </p:txBody>
      </p:sp>
      <p:sp>
        <p:nvSpPr>
          <p:cNvPr id="3" name="Content Placeholder 2">
            <a:extLst>
              <a:ext uri="{FF2B5EF4-FFF2-40B4-BE49-F238E27FC236}">
                <a16:creationId xmlns:a16="http://schemas.microsoft.com/office/drawing/2014/main" id="{64108E9E-690C-ACEE-B16B-8F38B47CF982}"/>
              </a:ext>
            </a:extLst>
          </p:cNvPr>
          <p:cNvSpPr>
            <a:spLocks noGrp="1"/>
          </p:cNvSpPr>
          <p:nvPr>
            <p:ph idx="1"/>
          </p:nvPr>
        </p:nvSpPr>
        <p:spPr>
          <a:xfrm>
            <a:off x="838200" y="1805960"/>
            <a:ext cx="7076768" cy="4351338"/>
          </a:xfrm>
        </p:spPr>
        <p:txBody>
          <a:bodyPr>
            <a:normAutofit lnSpcReduction="10000"/>
          </a:bodyPr>
          <a:lstStyle/>
          <a:p>
            <a:pPr indent="0" marL="0">
              <a:buNone/>
            </a:pPr>
            <a:r>
              <a:rPr dirty="0" lang="en-US"/>
              <a:t>CRY’s Standard Operating Procedure (SOP) provides a clear process for addressing any child protection concerns. Anyone—including staff, volunteers, parents, or community members—can report suspected abuse, violations, or risks. Internal incidents must be reported within 24 hours, while external ones (not directly involving CRY staff or projects) must be reported within 5 days to designated authorities or HR. The severity of the concern is assessed, and appropriate actions are taken, such as internal investigation, suspension, police reporting, termination, or legal proceedings. Throughout the process, strict confidentiality is maintained, and the emotional well-being of the child is prioritized through counseling and support. If the case falls outside CRY’s jurisdiction, it is escalated to statutory child protection bodies to ensure timely and lawful intervention. The SOP reinforces CRY’s commitment to creating a safe, accountable, and child-centric environment.</a:t>
            </a:r>
            <a:endParaRPr dirty="0" lang="en-IN"/>
          </a:p>
        </p:txBody>
      </p:sp>
      <p:pic>
        <p:nvPicPr>
          <p:cNvPr id="4" name="Picture 3">
            <a:extLst>
              <a:ext uri="{FF2B5EF4-FFF2-40B4-BE49-F238E27FC236}">
                <a16:creationId xmlns:a16="http://schemas.microsoft.com/office/drawing/2014/main" id="{5F155DE1-FA80-7590-903F-FEF63C5F6437}"/>
              </a:ext>
            </a:extLst>
          </p:cNvPr>
          <p:cNvPicPr>
            <a:picLocks noChangeAspect="1"/>
          </p:cNvPicPr>
          <p:nvPr/>
        </p:nvPicPr>
        <p:blipFill>
          <a:blip r:embed="rId2"/>
          <a:srcRect l="31" r="258"/>
          <a:stretch>
            <a:fillRect/>
          </a:stretch>
        </p:blipFill>
        <p:spPr>
          <a:xfrm>
            <a:off x="8308258" y="1805960"/>
            <a:ext cx="3165988" cy="3473963"/>
          </a:xfrm>
          <a:prstGeom prst="rect">
            <a:avLst/>
          </a:prstGeom>
        </p:spPr>
      </p:pic>
    </p:spTree>
    <p:extLst>
      <p:ext uri="{BB962C8B-B14F-4D97-AF65-F5344CB8AC3E}">
        <p14:creationId xmlns:p14="http://schemas.microsoft.com/office/powerpoint/2010/main" val="2614717743"/>
      </p:ext>
    </p:extLst>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DB9D7-A080-C048-A559-9975844FCCB3}"/>
              </a:ext>
            </a:extLst>
          </p:cNvPr>
          <p:cNvSpPr>
            <a:spLocks noGrp="1"/>
          </p:cNvSpPr>
          <p:nvPr>
            <p:ph type="title"/>
          </p:nvPr>
        </p:nvSpPr>
        <p:spPr/>
        <p:txBody>
          <a:bodyPr>
            <a:normAutofit/>
          </a:bodyPr>
          <a:lstStyle/>
          <a:p>
            <a:r>
              <a:rPr b="1" dirty="0" lang="en-US" sz="4000">
                <a:latin charset="0" panose="020B0604020202020204" pitchFamily="34" typeface="Arial"/>
                <a:cs charset="0" panose="020B0604020202020204" pitchFamily="34" typeface="Arial"/>
              </a:rPr>
              <a:t>Summary</a:t>
            </a:r>
            <a:endParaRPr b="1" dirty="0" lang="en-IN" sz="4000">
              <a:latin charset="0" panose="020B0604020202020204" pitchFamily="34" typeface="Arial"/>
              <a:cs charset="0" panose="020B0604020202020204" pitchFamily="34" typeface="Arial"/>
            </a:endParaRPr>
          </a:p>
        </p:txBody>
      </p:sp>
      <p:sp>
        <p:nvSpPr>
          <p:cNvPr id="3" name="Content Placeholder 2">
            <a:extLst>
              <a:ext uri="{FF2B5EF4-FFF2-40B4-BE49-F238E27FC236}">
                <a16:creationId xmlns:a16="http://schemas.microsoft.com/office/drawing/2014/main" id="{9C3E44B6-5CF0-6A0E-4E76-271B1260060B}"/>
              </a:ext>
            </a:extLst>
          </p:cNvPr>
          <p:cNvSpPr>
            <a:spLocks noGrp="1"/>
          </p:cNvSpPr>
          <p:nvPr>
            <p:ph idx="1"/>
          </p:nvPr>
        </p:nvSpPr>
        <p:spPr>
          <a:xfrm>
            <a:off x="677334" y="2160589"/>
            <a:ext cx="6893505" cy="3880773"/>
          </a:xfrm>
        </p:spPr>
        <p:txBody>
          <a:bodyPr>
            <a:normAutofit lnSpcReduction="10000"/>
          </a:bodyPr>
          <a:lstStyle/>
          <a:p>
            <a:pPr indent="0" marL="0">
              <a:buNone/>
            </a:pPr>
            <a:r>
              <a:rPr dirty="0" lang="en-US"/>
              <a:t>A Child Safeguarding Policy in an NGO context outlines the commitment and responsibility of the organization to protect children from abuse, neglect, exploitation, and harm in all its activities. It ensures that all children the NGO interacts with are safe, respected, and treated with dignity. This policy includes clear guidelines on appropriate behavior when working with children, procedures for reporting concerns, and vetting processes for staff, volunteers, and partners. It emphasizes child rights, prioritizes the child’s best interests, and promotes a safe environment across all programs, events, and digital platforms. Additionally, the policy requires regular training for staff, fosters a culture of accountability, and encourages community involvement in protecting children. By implementing this policy, the NGO actively upholds its ethical responsibility and legal duty to safeguard every child under its care or influence.</a:t>
            </a:r>
            <a:endParaRPr dirty="0" lang="en-IN"/>
          </a:p>
        </p:txBody>
      </p:sp>
      <p:pic>
        <p:nvPicPr>
          <p:cNvPr id="4" name="Picture 3">
            <a:extLst>
              <a:ext uri="{FF2B5EF4-FFF2-40B4-BE49-F238E27FC236}">
                <a16:creationId xmlns:a16="http://schemas.microsoft.com/office/drawing/2014/main" id="{571C910E-818A-AE55-040D-E467DBB88A2E}"/>
              </a:ext>
            </a:extLst>
          </p:cNvPr>
          <p:cNvPicPr>
            <a:picLocks noChangeAspect="1"/>
          </p:cNvPicPr>
          <p:nvPr/>
        </p:nvPicPr>
        <p:blipFill>
          <a:blip r:embed="rId2"/>
          <a:srcRect b="308" l="480" t="228"/>
          <a:stretch>
            <a:fillRect/>
          </a:stretch>
        </p:blipFill>
        <p:spPr>
          <a:xfrm>
            <a:off x="7954297" y="1708355"/>
            <a:ext cx="3283974" cy="4157367"/>
          </a:xfrm>
          <a:prstGeom prst="rect">
            <a:avLst/>
          </a:prstGeom>
        </p:spPr>
      </p:pic>
    </p:spTree>
    <p:extLst>
      <p:ext uri="{BB962C8B-B14F-4D97-AF65-F5344CB8AC3E}">
        <p14:creationId xmlns:p14="http://schemas.microsoft.com/office/powerpoint/2010/main" val="91387060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50</TotalTime>
  <Words>1481</Words>
  <Application>Microsoft Office PowerPoint</Application>
  <PresentationFormat>Widescreen</PresentationFormat>
  <Paragraphs>35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Trebuchet MS</vt:lpstr>
      <vt:lpstr>Wingdings 3</vt:lpstr>
      <vt:lpstr>Facet</vt:lpstr>
      <vt:lpstr>Guardian promise: protecting every child</vt:lpstr>
      <vt:lpstr>Why we protect</vt:lpstr>
      <vt:lpstr>Safety starts with us</vt:lpstr>
      <vt:lpstr> Boundaries that protect</vt:lpstr>
      <vt:lpstr>Secure moments: Event safety plans</vt:lpstr>
      <vt:lpstr>Digital Guardrails </vt:lpstr>
      <vt:lpstr>Frame of Consent</vt:lpstr>
      <vt:lpstr>Spotlight with Safety</vt:lpstr>
      <vt:lpstr>The Voice-line protocol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Rajveer Verma</dc:creator>
  <cp:lastModifiedBy>Tapan Kumar Polley</cp:lastModifiedBy>
  <cp:revision>1</cp:revision>
  <dcterms:created xsi:type="dcterms:W3CDTF">2025-06-27T13:24:58Z</dcterms:created>
  <dcterms:modified xsi:type="dcterms:W3CDTF">2025-07-10T16:53:58Z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116216</vt:lpwstr>
  </property>
  <property fmtid="{D5CDD505-2E9C-101B-9397-08002B2CF9AE}" name="NXPowerLiteSettings" pid="3">
    <vt:lpwstr>F7000400038000</vt:lpwstr>
  </property>
  <property fmtid="{D5CDD505-2E9C-101B-9397-08002B2CF9AE}" name="NXPowerLiteVersion" pid="4">
    <vt:lpwstr>S10.3.1</vt:lpwstr>
  </property>
</Properties>
</file>