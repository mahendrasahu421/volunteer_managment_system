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0" r:id="rId1"/>
  </p:sldMasterIdLst>
  <p:sldIdLst>
    <p:sldId id="256" r:id="rId2"/>
    <p:sldId id="257" r:id="rId3"/>
    <p:sldId id="264" r:id="rId4"/>
    <p:sldId id="263" r:id="rId5"/>
    <p:sldId id="258" r:id="rId6"/>
    <p:sldId id="259" r:id="rId7"/>
    <p:sldId id="261" r:id="rId8"/>
    <p:sldId id="260"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FF99"/>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09" autoAdjust="0"/>
    <p:restoredTop sz="94660"/>
  </p:normalViewPr>
  <p:slideViewPr>
    <p:cSldViewPr snapToGrid="0">
      <p:cViewPr varScale="1">
        <p:scale>
          <a:sx n="67" d="100"/>
          <a:sy n="67" d="100"/>
        </p:scale>
        <p:origin x="36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04065D44-10C7-4BA9-BDD5-A22376342818}" type="datetimeFigureOut">
              <a:rPr lang="en-IN" smtClean="0"/>
              <a:t>02-07-2025</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5B4AC9AB-86BA-4E41-A85C-4731E3447C82}"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071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065D44-10C7-4BA9-BDD5-A22376342818}"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3860726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065D44-10C7-4BA9-BDD5-A22376342818}"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4AC9AB-86BA-4E41-A85C-4731E3447C82}"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7791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065D44-10C7-4BA9-BDD5-A22376342818}" type="datetimeFigureOut">
              <a:rPr lang="en-IN" smtClean="0"/>
              <a:t>02-07-2025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2462625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065D44-10C7-4BA9-BDD5-A22376342818}" type="datetimeFigureOut">
              <a:rPr lang="en-IN" smtClean="0"/>
              <a:t>02-07-2025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3235257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065D44-10C7-4BA9-BDD5-A22376342818}" type="datetimeFigureOut">
              <a:rPr lang="en-IN" smtClean="0"/>
              <a:t>02-07-2025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2146215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065D44-10C7-4BA9-BDD5-A22376342818}" type="datetimeFigureOut">
              <a:rPr lang="en-IN" smtClean="0"/>
              <a:t>02-07-2025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1564597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4065D44-10C7-4BA9-BDD5-A22376342818}" type="datetimeFigureOut">
              <a:rPr lang="en-IN" smtClean="0"/>
              <a:t>02-07-2025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849915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4065D44-10C7-4BA9-BDD5-A22376342818}" type="datetimeFigureOut">
              <a:rPr lang="en-IN" smtClean="0"/>
              <a:t>02-07-2025</a:t>
            </a:fld>
            <a:endParaRPr lang="en-IN"/>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3046117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065D44-10C7-4BA9-BDD5-A22376342818}"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4091529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065D44-10C7-4BA9-BDD5-A22376342818}"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4AC9AB-86BA-4E41-A85C-4731E3447C82}" type="slidenum">
              <a:rPr lang="en-IN" smtClean="0"/>
              <a:t>‹#›</a:t>
            </a:fld>
            <a:endParaRPr lang="en-IN"/>
          </a:p>
        </p:txBody>
      </p:sp>
    </p:spTree>
    <p:extLst>
      <p:ext uri="{BB962C8B-B14F-4D97-AF65-F5344CB8AC3E}">
        <p14:creationId xmlns:p14="http://schemas.microsoft.com/office/powerpoint/2010/main" val="2235097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04065D44-10C7-4BA9-BDD5-A22376342818}" type="datetimeFigureOut">
              <a:rPr lang="en-IN" smtClean="0"/>
              <a:t>02-07-2025</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5B4AC9AB-86BA-4E41-A85C-4731E3447C82}" type="slidenum">
              <a:rPr lang="en-IN" smtClean="0"/>
              <a:t>‹#›</a:t>
            </a:fld>
            <a:endParaRPr lang="en-IN"/>
          </a:p>
        </p:txBody>
      </p:sp>
    </p:spTree>
    <p:extLst>
      <p:ext uri="{BB962C8B-B14F-4D97-AF65-F5344CB8AC3E}">
        <p14:creationId xmlns:p14="http://schemas.microsoft.com/office/powerpoint/2010/main" val="145706063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 id="214748394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63000">
              <a:schemeClr val="accent1">
                <a:lumMod val="40000"/>
                <a:lumOff val="60000"/>
              </a:schemeClr>
            </a:gs>
            <a:gs pos="51000">
              <a:srgbClr val="FFFFCC"/>
            </a:gs>
            <a:gs pos="40000">
              <a:srgbClr val="FFFF99"/>
            </a:gs>
            <a:gs pos="28320">
              <a:schemeClr val="accent1">
                <a:lumMod val="60000"/>
                <a:lumOff val="40000"/>
              </a:schemeClr>
            </a:gs>
            <a:gs pos="18157">
              <a:schemeClr val="accent1">
                <a:lumMod val="60000"/>
                <a:lumOff val="40000"/>
              </a:schemeClr>
            </a:gs>
            <a:gs pos="7992">
              <a:schemeClr val="accent1">
                <a:lumMod val="60000"/>
                <a:lumOff val="40000"/>
              </a:schemeClr>
            </a:gs>
            <a:gs pos="0">
              <a:schemeClr val="accent1">
                <a:lumMod val="75000"/>
              </a:schemeClr>
            </a:gs>
            <a:gs pos="75000">
              <a:srgbClr val="FFFF99"/>
            </a:gs>
            <a:gs pos="88000">
              <a:schemeClr val="accent1">
                <a:lumMod val="60000"/>
                <a:lumOff val="40000"/>
              </a:schemeClr>
            </a:gs>
            <a:gs pos="100000">
              <a:schemeClr val="accent1">
                <a:lumMod val="75000"/>
              </a:schemeClr>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B4D42-00F0-4037-A7C5-0DA04DF15363}"/>
              </a:ext>
            </a:extLst>
          </p:cNvPr>
          <p:cNvSpPr>
            <a:spLocks noGrp="1"/>
          </p:cNvSpPr>
          <p:nvPr>
            <p:ph type="ctrTitle"/>
          </p:nvPr>
        </p:nvSpPr>
        <p:spPr>
          <a:xfrm>
            <a:off x="1112520" y="504825"/>
            <a:ext cx="9966960" cy="2924175"/>
          </a:xfrm>
          <a:ln>
            <a:noFill/>
          </a:ln>
        </p:spPr>
        <p:txBody>
          <a:bodyPr>
            <a:normAutofit/>
          </a:bodyPr>
          <a:lstStyle/>
          <a:p>
            <a:r>
              <a:rPr lang="en-IN" b="0" dirty="0">
                <a:solidFill>
                  <a:schemeClr val="accent3">
                    <a:lumMod val="50000"/>
                  </a:schemeClr>
                </a:solidFill>
                <a:latin typeface="Elephant" panose="02020904090505020303" pitchFamily="18" charset="0"/>
              </a:rPr>
              <a:t>Child</a:t>
            </a:r>
            <a:r>
              <a:rPr lang="en-IN" sz="8000" b="0" dirty="0">
                <a:solidFill>
                  <a:schemeClr val="accent3">
                    <a:lumMod val="50000"/>
                  </a:schemeClr>
                </a:solidFill>
                <a:latin typeface="Elephant" panose="02020904090505020303" pitchFamily="18" charset="0"/>
              </a:rPr>
              <a:t> Rights</a:t>
            </a:r>
            <a:br>
              <a:rPr lang="en-IN" dirty="0">
                <a:solidFill>
                  <a:schemeClr val="accent3">
                    <a:lumMod val="50000"/>
                  </a:schemeClr>
                </a:solidFill>
              </a:rPr>
            </a:br>
            <a:r>
              <a:rPr lang="en-GB" sz="2200" b="0" i="1" dirty="0">
                <a:solidFill>
                  <a:schemeClr val="accent3">
                    <a:lumMod val="50000"/>
                  </a:schemeClr>
                </a:solidFill>
              </a:rPr>
              <a:t>Fundamental Rights of Every Child</a:t>
            </a:r>
            <a:endParaRPr lang="en-IN" sz="2200" b="0" i="1" dirty="0">
              <a:solidFill>
                <a:schemeClr val="accent3">
                  <a:lumMod val="50000"/>
                </a:schemeClr>
              </a:solidFill>
              <a:latin typeface="Bell MT" panose="02020503060305020303" pitchFamily="18" charset="0"/>
            </a:endParaRPr>
          </a:p>
        </p:txBody>
      </p:sp>
      <p:sp>
        <p:nvSpPr>
          <p:cNvPr id="3" name="Subtitle 2">
            <a:extLst>
              <a:ext uri="{FF2B5EF4-FFF2-40B4-BE49-F238E27FC236}">
                <a16:creationId xmlns:a16="http://schemas.microsoft.com/office/drawing/2014/main" id="{D0C312C7-B655-441E-A1EC-6E14CFF6699C}"/>
              </a:ext>
            </a:extLst>
          </p:cNvPr>
          <p:cNvSpPr>
            <a:spLocks noGrp="1"/>
          </p:cNvSpPr>
          <p:nvPr>
            <p:ph type="subTitle" idx="1"/>
          </p:nvPr>
        </p:nvSpPr>
        <p:spPr>
          <a:xfrm>
            <a:off x="1712070" y="4088709"/>
            <a:ext cx="8767860" cy="2419519"/>
          </a:xfrm>
        </p:spPr>
        <p:txBody>
          <a:bodyPr>
            <a:normAutofit fontScale="25000" lnSpcReduction="20000"/>
          </a:bodyPr>
          <a:lstStyle/>
          <a:p>
            <a:r>
              <a:rPr lang="en-IN" sz="7200" b="1" dirty="0">
                <a:solidFill>
                  <a:schemeClr val="tx1"/>
                </a:solidFill>
                <a:latin typeface="Trebuchet MS" panose="020B0603020202020204" pitchFamily="34" charset="0"/>
              </a:rPr>
              <a:t>Presented by: Group E</a:t>
            </a:r>
          </a:p>
          <a:p>
            <a:r>
              <a:rPr lang="en-IN" sz="7200" dirty="0">
                <a:solidFill>
                  <a:schemeClr val="tx1"/>
                </a:solidFill>
                <a:latin typeface="Trebuchet MS" panose="020B0603020202020204" pitchFamily="34" charset="0"/>
              </a:rPr>
              <a:t>Anushka Ghose (Group Leader) </a:t>
            </a:r>
          </a:p>
          <a:p>
            <a:r>
              <a:rPr lang="en-IN" sz="7200" dirty="0" err="1">
                <a:solidFill>
                  <a:schemeClr val="tx1"/>
                </a:solidFill>
                <a:latin typeface="Trebuchet MS" panose="020B0603020202020204" pitchFamily="34" charset="0"/>
              </a:rPr>
              <a:t>Samranggi</a:t>
            </a:r>
            <a:r>
              <a:rPr lang="en-IN" sz="7200" dirty="0">
                <a:solidFill>
                  <a:schemeClr val="tx1"/>
                </a:solidFill>
                <a:latin typeface="Trebuchet MS" panose="020B0603020202020204" pitchFamily="34" charset="0"/>
              </a:rPr>
              <a:t> Biswas</a:t>
            </a:r>
          </a:p>
          <a:p>
            <a:r>
              <a:rPr lang="en-IN" sz="7200" dirty="0">
                <a:solidFill>
                  <a:schemeClr val="tx1"/>
                </a:solidFill>
                <a:latin typeface="Trebuchet MS" panose="020B0603020202020204" pitchFamily="34" charset="0"/>
              </a:rPr>
              <a:t>Supriti Das </a:t>
            </a:r>
          </a:p>
          <a:p>
            <a:r>
              <a:rPr lang="en-IN" sz="7200" dirty="0" err="1">
                <a:solidFill>
                  <a:schemeClr val="tx1"/>
                </a:solidFill>
                <a:latin typeface="Trebuchet MS" panose="020B0603020202020204" pitchFamily="34" charset="0"/>
              </a:rPr>
              <a:t>Samreen</a:t>
            </a:r>
            <a:r>
              <a:rPr lang="en-IN" sz="7200" dirty="0">
                <a:solidFill>
                  <a:schemeClr val="tx1"/>
                </a:solidFill>
                <a:latin typeface="Trebuchet MS" panose="020B0603020202020204" pitchFamily="34" charset="0"/>
              </a:rPr>
              <a:t> Humaira</a:t>
            </a:r>
          </a:p>
          <a:p>
            <a:r>
              <a:rPr lang="en-IN" sz="7200" dirty="0" err="1">
                <a:solidFill>
                  <a:schemeClr val="tx1"/>
                </a:solidFill>
                <a:latin typeface="Trebuchet MS" panose="020B0603020202020204" pitchFamily="34" charset="0"/>
              </a:rPr>
              <a:t>Tanu</a:t>
            </a:r>
            <a:r>
              <a:rPr lang="en-IN" sz="7200" dirty="0">
                <a:solidFill>
                  <a:schemeClr val="tx1"/>
                </a:solidFill>
                <a:latin typeface="Trebuchet MS" panose="020B0603020202020204" pitchFamily="34" charset="0"/>
              </a:rPr>
              <a:t> </a:t>
            </a:r>
            <a:r>
              <a:rPr lang="en-IN" sz="7200" dirty="0" err="1">
                <a:solidFill>
                  <a:schemeClr val="tx1"/>
                </a:solidFill>
                <a:latin typeface="Trebuchet MS" panose="020B0603020202020204" pitchFamily="34" charset="0"/>
              </a:rPr>
              <a:t>Bhutra</a:t>
            </a:r>
            <a:endParaRPr lang="en-IN" sz="7200" dirty="0">
              <a:solidFill>
                <a:schemeClr val="tx1"/>
              </a:solidFill>
              <a:latin typeface="Trebuchet MS" panose="020B0603020202020204" pitchFamily="34" charset="0"/>
            </a:endParaRPr>
          </a:p>
          <a:p>
            <a:endParaRPr lang="en-IN" dirty="0"/>
          </a:p>
        </p:txBody>
      </p:sp>
      <p:sp>
        <p:nvSpPr>
          <p:cNvPr id="4" name="Rectangle 3">
            <a:extLst>
              <a:ext uri="{FF2B5EF4-FFF2-40B4-BE49-F238E27FC236}">
                <a16:creationId xmlns:a16="http://schemas.microsoft.com/office/drawing/2014/main" id="{4FD1F265-C92C-4AB7-AE95-ADECAB47DE03}"/>
              </a:ext>
            </a:extLst>
          </p:cNvPr>
          <p:cNvSpPr/>
          <p:nvPr/>
        </p:nvSpPr>
        <p:spPr>
          <a:xfrm>
            <a:off x="285750" y="283097"/>
            <a:ext cx="11601449" cy="6291806"/>
          </a:xfrm>
          <a:prstGeom prst="rect">
            <a:avLst/>
          </a:prstGeom>
          <a:noFill/>
          <a:ln w="381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6187671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32075">
              <a:schemeClr val="accent1">
                <a:lumMod val="60000"/>
                <a:lumOff val="40000"/>
              </a:schemeClr>
            </a:gs>
            <a:gs pos="22432">
              <a:schemeClr val="accent2">
                <a:lumMod val="60000"/>
                <a:lumOff val="40000"/>
              </a:schemeClr>
            </a:gs>
            <a:gs pos="9620">
              <a:schemeClr val="accent1">
                <a:lumMod val="75000"/>
              </a:schemeClr>
            </a:gs>
            <a:gs pos="90378">
              <a:srgbClr val="FFFF99"/>
            </a:gs>
            <a:gs pos="0">
              <a:schemeClr val="accent1">
                <a:lumMod val="50000"/>
              </a:schemeClr>
            </a:gs>
            <a:gs pos="74000">
              <a:schemeClr val="accent1">
                <a:lumMod val="40000"/>
                <a:lumOff val="60000"/>
              </a:schemeClr>
            </a:gs>
            <a:gs pos="65767">
              <a:schemeClr val="accent1">
                <a:lumMod val="40000"/>
                <a:lumOff val="60000"/>
              </a:schemeClr>
            </a:gs>
            <a:gs pos="56140">
              <a:schemeClr val="accent1">
                <a:lumMod val="40000"/>
                <a:lumOff val="60000"/>
              </a:schemeClr>
            </a:gs>
            <a:gs pos="83000">
              <a:srgbClr val="FFFFCC"/>
            </a:gs>
            <a:gs pos="100000">
              <a:srgbClr val="FFFF66"/>
            </a:gs>
          </a:gsLst>
          <a:lin ang="132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8F68F-45B3-48F3-9183-B1C4D22BEA46}"/>
              </a:ext>
            </a:extLst>
          </p:cNvPr>
          <p:cNvSpPr>
            <a:spLocks noGrp="1"/>
          </p:cNvSpPr>
          <p:nvPr>
            <p:ph type="title"/>
          </p:nvPr>
        </p:nvSpPr>
        <p:spPr>
          <a:xfrm>
            <a:off x="742950" y="253363"/>
            <a:ext cx="9875520" cy="1356360"/>
          </a:xfrm>
        </p:spPr>
        <p:txBody>
          <a:bodyPr/>
          <a:lstStyle/>
          <a:p>
            <a:r>
              <a:rPr lang="en-GB" dirty="0">
                <a:solidFill>
                  <a:schemeClr val="accent1">
                    <a:lumMod val="50000"/>
                  </a:schemeClr>
                </a:solidFill>
                <a:latin typeface="Britannic Bold" panose="020B0903060703020204" pitchFamily="34" charset="0"/>
              </a:rPr>
              <a:t>Table Of Contents</a:t>
            </a:r>
            <a:endParaRPr lang="en-IN" dirty="0">
              <a:solidFill>
                <a:schemeClr val="accent1">
                  <a:lumMod val="50000"/>
                </a:schemeClr>
              </a:solidFill>
              <a:latin typeface="Britannic Bold" panose="020B0903060703020204" pitchFamily="34" charset="0"/>
            </a:endParaRPr>
          </a:p>
        </p:txBody>
      </p:sp>
      <p:graphicFrame>
        <p:nvGraphicFramePr>
          <p:cNvPr id="4" name="Content Placeholder 3">
            <a:extLst>
              <a:ext uri="{FF2B5EF4-FFF2-40B4-BE49-F238E27FC236}">
                <a16:creationId xmlns:a16="http://schemas.microsoft.com/office/drawing/2014/main" id="{7023B53D-34A1-49D5-BEEE-F51BBCC45DB1}"/>
              </a:ext>
            </a:extLst>
          </p:cNvPr>
          <p:cNvGraphicFramePr>
            <a:graphicFrameLocks noGrp="1"/>
          </p:cNvGraphicFramePr>
          <p:nvPr>
            <p:ph idx="1"/>
            <p:extLst>
              <p:ext uri="{D42A27DB-BD31-4B8C-83A1-F6EECF244321}">
                <p14:modId xmlns:p14="http://schemas.microsoft.com/office/powerpoint/2010/main" val="1393439089"/>
              </p:ext>
            </p:extLst>
          </p:nvPr>
        </p:nvGraphicFramePr>
        <p:xfrm>
          <a:off x="838200" y="1304923"/>
          <a:ext cx="8220076" cy="5023487"/>
        </p:xfrm>
        <a:graphic>
          <a:graphicData uri="http://schemas.openxmlformats.org/drawingml/2006/table">
            <a:tbl>
              <a:tblPr firstRow="1" bandRow="1">
                <a:tableStyleId>{5C22544A-7EE6-4342-B048-85BDC9FD1C3A}</a:tableStyleId>
              </a:tblPr>
              <a:tblGrid>
                <a:gridCol w="1284758">
                  <a:extLst>
                    <a:ext uri="{9D8B030D-6E8A-4147-A177-3AD203B41FA5}">
                      <a16:colId xmlns:a16="http://schemas.microsoft.com/office/drawing/2014/main" val="1791749286"/>
                    </a:ext>
                  </a:extLst>
                </a:gridCol>
                <a:gridCol w="6935318">
                  <a:extLst>
                    <a:ext uri="{9D8B030D-6E8A-4147-A177-3AD203B41FA5}">
                      <a16:colId xmlns:a16="http://schemas.microsoft.com/office/drawing/2014/main" val="326743220"/>
                    </a:ext>
                  </a:extLst>
                </a:gridCol>
              </a:tblGrid>
              <a:tr h="497205">
                <a:tc>
                  <a:txBody>
                    <a:bodyPr/>
                    <a:lstStyle/>
                    <a:p>
                      <a:pPr algn="ctr"/>
                      <a:r>
                        <a:rPr lang="en-GB" sz="2400" b="1" dirty="0">
                          <a:latin typeface="Trebuchet MS" panose="020B0603020202020204" pitchFamily="34" charset="0"/>
                        </a:rPr>
                        <a:t>S. NO.</a:t>
                      </a:r>
                      <a:endParaRPr lang="en-IN" sz="2400" b="1" dirty="0">
                        <a:latin typeface="Trebuchet MS" panose="020B0603020202020204" pitchFamily="34" charset="0"/>
                      </a:endParaRPr>
                    </a:p>
                  </a:txBody>
                  <a:tcPr/>
                </a:tc>
                <a:tc>
                  <a:txBody>
                    <a:bodyPr/>
                    <a:lstStyle/>
                    <a:p>
                      <a:pPr algn="ctr"/>
                      <a:r>
                        <a:rPr lang="en-GB" sz="2400" b="1" dirty="0">
                          <a:latin typeface="Trebuchet MS" panose="020B0603020202020204" pitchFamily="34" charset="0"/>
                        </a:rPr>
                        <a:t>TITLE</a:t>
                      </a:r>
                      <a:endParaRPr lang="en-IN" sz="2400" b="1" dirty="0">
                        <a:latin typeface="Trebuchet MS" panose="020B0603020202020204" pitchFamily="34" charset="0"/>
                      </a:endParaRPr>
                    </a:p>
                  </a:txBody>
                  <a:tcPr/>
                </a:tc>
                <a:extLst>
                  <a:ext uri="{0D108BD9-81ED-4DB2-BD59-A6C34878D82A}">
                    <a16:rowId xmlns:a16="http://schemas.microsoft.com/office/drawing/2014/main" val="2990771729"/>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1.</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Introduction to Child Rights</a:t>
                      </a:r>
                    </a:p>
                  </a:txBody>
                  <a:tcPr/>
                </a:tc>
                <a:extLst>
                  <a:ext uri="{0D108BD9-81ED-4DB2-BD59-A6C34878D82A}">
                    <a16:rowId xmlns:a16="http://schemas.microsoft.com/office/drawing/2014/main" val="4050775376"/>
                  </a:ext>
                </a:extLst>
              </a:tr>
              <a:tr h="548642">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2.</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Key Child Rights</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826260061"/>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3.</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Right to Education</a:t>
                      </a:r>
                    </a:p>
                  </a:txBody>
                  <a:tcPr/>
                </a:tc>
                <a:extLst>
                  <a:ext uri="{0D108BD9-81ED-4DB2-BD59-A6C34878D82A}">
                    <a16:rowId xmlns:a16="http://schemas.microsoft.com/office/drawing/2014/main" val="3925603624"/>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4.</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Right to Protection</a:t>
                      </a:r>
                    </a:p>
                  </a:txBody>
                  <a:tcPr/>
                </a:tc>
                <a:extLst>
                  <a:ext uri="{0D108BD9-81ED-4DB2-BD59-A6C34878D82A}">
                    <a16:rowId xmlns:a16="http://schemas.microsoft.com/office/drawing/2014/main" val="539324331"/>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5.</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Right to Participation </a:t>
                      </a:r>
                    </a:p>
                  </a:txBody>
                  <a:tcPr/>
                </a:tc>
                <a:extLst>
                  <a:ext uri="{0D108BD9-81ED-4DB2-BD59-A6C34878D82A}">
                    <a16:rowId xmlns:a16="http://schemas.microsoft.com/office/drawing/2014/main" val="742487778"/>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6.</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Child Health and Nutrition</a:t>
                      </a:r>
                    </a:p>
                  </a:txBody>
                  <a:tcPr/>
                </a:tc>
                <a:extLst>
                  <a:ext uri="{0D108BD9-81ED-4DB2-BD59-A6C34878D82A}">
                    <a16:rowId xmlns:a16="http://schemas.microsoft.com/office/drawing/2014/main" val="1791765165"/>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7.</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Challenges Faced by Children</a:t>
                      </a:r>
                    </a:p>
                  </a:txBody>
                  <a:tcPr/>
                </a:tc>
                <a:extLst>
                  <a:ext uri="{0D108BD9-81ED-4DB2-BD59-A6C34878D82A}">
                    <a16:rowId xmlns:a16="http://schemas.microsoft.com/office/drawing/2014/main" val="2716403121"/>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8.</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Role of Organizations like CRY  </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277032313"/>
                  </a:ext>
                </a:extLst>
              </a:tr>
              <a:tr h="497205">
                <a:tc>
                  <a:txBody>
                    <a:bodyPr/>
                    <a:lstStyle/>
                    <a:p>
                      <a:pPr algn="ctr"/>
                      <a:r>
                        <a:rPr lang="en-GB"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9.</a:t>
                      </a:r>
                      <a:endPar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endParaRPr>
                    </a:p>
                  </a:txBody>
                  <a:tcPr/>
                </a:tc>
                <a:tc>
                  <a:txBody>
                    <a:bodyPr/>
                    <a:lstStyle/>
                    <a:p>
                      <a:r>
                        <a:rPr lang="en-IN" sz="2000" u="none" dirty="0">
                          <a:solidFill>
                            <a:schemeClr val="tx1"/>
                          </a:solidFill>
                          <a:latin typeface="Trebuchet MS" panose="020B0603020202020204" pitchFamily="34" charset="0"/>
                          <a:ea typeface="Calibri" panose="020F0502020204030204" pitchFamily="34" charset="0"/>
                          <a:cs typeface="Calibri" panose="020F0502020204030204" pitchFamily="34" charset="0"/>
                        </a:rPr>
                        <a:t>Acknowledgements</a:t>
                      </a:r>
                    </a:p>
                  </a:txBody>
                  <a:tcPr/>
                </a:tc>
                <a:extLst>
                  <a:ext uri="{0D108BD9-81ED-4DB2-BD59-A6C34878D82A}">
                    <a16:rowId xmlns:a16="http://schemas.microsoft.com/office/drawing/2014/main" val="4261823937"/>
                  </a:ext>
                </a:extLst>
              </a:tr>
            </a:tbl>
          </a:graphicData>
        </a:graphic>
      </p:graphicFrame>
      <p:sp>
        <p:nvSpPr>
          <p:cNvPr id="3" name="Rectangle 2">
            <a:extLst>
              <a:ext uri="{FF2B5EF4-FFF2-40B4-BE49-F238E27FC236}">
                <a16:creationId xmlns:a16="http://schemas.microsoft.com/office/drawing/2014/main" id="{94DE7C0E-4D1E-46CC-83C6-559501D39CA3}"/>
              </a:ext>
            </a:extLst>
          </p:cNvPr>
          <p:cNvSpPr/>
          <p:nvPr/>
        </p:nvSpPr>
        <p:spPr>
          <a:xfrm>
            <a:off x="190500" y="152401"/>
            <a:ext cx="11801475" cy="6553200"/>
          </a:xfrm>
          <a:prstGeom prst="rect">
            <a:avLst/>
          </a:prstGeom>
          <a:no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088797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62019">
              <a:srgbClr val="FFFF99"/>
            </a:gs>
            <a:gs pos="79661">
              <a:srgbClr val="A5C372"/>
            </a:gs>
            <a:gs pos="41722">
              <a:srgbClr val="6E8D49"/>
            </a:gs>
            <a:gs pos="33700">
              <a:srgbClr val="628240"/>
            </a:gs>
            <a:gs pos="0">
              <a:schemeClr val="accent2">
                <a:lumMod val="50000"/>
              </a:schemeClr>
            </a:gs>
            <a:gs pos="90380">
              <a:schemeClr val="accent1">
                <a:lumMod val="60000"/>
                <a:lumOff val="40000"/>
              </a:schemeClr>
            </a:gs>
            <a:gs pos="100000">
              <a:schemeClr val="accent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C12FC-C96E-416D-994A-46DA66FCF259}"/>
              </a:ext>
            </a:extLst>
          </p:cNvPr>
          <p:cNvSpPr>
            <a:spLocks noGrp="1"/>
          </p:cNvSpPr>
          <p:nvPr>
            <p:ph type="title"/>
          </p:nvPr>
        </p:nvSpPr>
        <p:spPr>
          <a:xfrm>
            <a:off x="457200" y="285750"/>
            <a:ext cx="9875520" cy="1409700"/>
          </a:xfrm>
        </p:spPr>
        <p:txBody>
          <a:bodyPr>
            <a:normAutofit/>
          </a:bodyPr>
          <a:lstStyle/>
          <a:p>
            <a:r>
              <a:rPr lang="en-IN" sz="3600" dirty="0">
                <a:solidFill>
                  <a:schemeClr val="accent1">
                    <a:lumMod val="50000"/>
                  </a:schemeClr>
                </a:solidFill>
                <a:latin typeface="Britannic Bold" panose="020B0903060703020204" pitchFamily="34" charset="0"/>
              </a:rPr>
              <a:t> </a:t>
            </a:r>
            <a:r>
              <a:rPr lang="en-IN" sz="4000" u="sng" dirty="0">
                <a:solidFill>
                  <a:schemeClr val="accent2">
                    <a:lumMod val="75000"/>
                  </a:schemeClr>
                </a:solidFill>
                <a:latin typeface="Britannic Bold" panose="020B0903060703020204" pitchFamily="34" charset="0"/>
              </a:rPr>
              <a:t>Introduction to Child Rights</a:t>
            </a:r>
          </a:p>
        </p:txBody>
      </p:sp>
      <p:sp>
        <p:nvSpPr>
          <p:cNvPr id="3" name="Content Placeholder 2">
            <a:extLst>
              <a:ext uri="{FF2B5EF4-FFF2-40B4-BE49-F238E27FC236}">
                <a16:creationId xmlns:a16="http://schemas.microsoft.com/office/drawing/2014/main" id="{705F609C-9B2A-4875-9A91-36D0AA1B12E2}"/>
              </a:ext>
            </a:extLst>
          </p:cNvPr>
          <p:cNvSpPr>
            <a:spLocks noGrp="1"/>
          </p:cNvSpPr>
          <p:nvPr>
            <p:ph sz="half" idx="1"/>
          </p:nvPr>
        </p:nvSpPr>
        <p:spPr>
          <a:xfrm>
            <a:off x="600075" y="1590675"/>
            <a:ext cx="7134225" cy="4695825"/>
          </a:xfrm>
        </p:spPr>
        <p:txBody>
          <a:bodyPr>
            <a:normAutofit/>
          </a:bodyPr>
          <a:lstStyle/>
          <a:p>
            <a:pPr marL="45720" indent="0">
              <a:buNone/>
            </a:pPr>
            <a:r>
              <a:rPr lang="en-GB" sz="1800" b="1"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What are Child Rights?</a:t>
            </a:r>
          </a:p>
          <a:p>
            <a:pPr marL="45720" indent="0" algn="just">
              <a:buNone/>
            </a:pP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Child rights are the basic human rights given to all children below the age of 18. CRY defines child rights as essential entitlements that ensure children have a safe, healthy, and nurturing environment. </a:t>
            </a:r>
          </a:p>
          <a:p>
            <a:pPr marL="45720" indent="0">
              <a:buNone/>
            </a:pPr>
            <a:r>
              <a:rPr lang="en-GB" sz="1800" b="1"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Why Are They Important?</a:t>
            </a:r>
          </a:p>
          <a:p>
            <a:pPr algn="just"/>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They ensure children grow up in a safe, healthy, and nurturing environment.</a:t>
            </a:r>
          </a:p>
          <a:p>
            <a:pPr algn="just"/>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Recognized by the United Nations Convention on the Rights of the Child (UNCRC), which India ratified in 1992.</a:t>
            </a:r>
          </a:p>
          <a:p>
            <a:pPr algn="just"/>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Upholding these rights ensures long-term and sustainable change, breaking the cycle of poverty and exploitation.</a:t>
            </a:r>
          </a:p>
          <a:p>
            <a:pPr algn="just"/>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CRY believes every child must have the opportunity to realize their full potential—not as a matter of charity, but as a matter of right.</a:t>
            </a:r>
            <a:endParaRPr lang="en-IN"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29A0D9F-79E0-4E30-B706-27CC49224859}"/>
              </a:ext>
            </a:extLst>
          </p:cNvPr>
          <p:cNvPicPr>
            <a:picLocks noChangeAspect="1"/>
          </p:cNvPicPr>
          <p:nvPr/>
        </p:nvPicPr>
        <p:blipFill rotWithShape="1">
          <a:blip r:embed="rId2">
            <a:extLst>
              <a:ext uri="{28A0092B-C50C-407E-A947-70E740481C1C}">
                <a14:useLocalDpi xmlns:a14="http://schemas.microsoft.com/office/drawing/2010/main" val="0"/>
              </a:ext>
            </a:extLst>
          </a:blip>
          <a:srcRect l="16166" r="9867"/>
          <a:stretch/>
        </p:blipFill>
        <p:spPr>
          <a:xfrm>
            <a:off x="8175533" y="1216804"/>
            <a:ext cx="3409950" cy="2593196"/>
          </a:xfrm>
          <a:prstGeom prst="rect">
            <a:avLst/>
          </a:prstGeom>
        </p:spPr>
      </p:pic>
      <p:pic>
        <p:nvPicPr>
          <p:cNvPr id="7" name="Picture 6">
            <a:extLst>
              <a:ext uri="{FF2B5EF4-FFF2-40B4-BE49-F238E27FC236}">
                <a16:creationId xmlns:a16="http://schemas.microsoft.com/office/drawing/2014/main" id="{6F72C5A0-FD7F-43F3-81DA-1FA393BA7E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1016" y="4038218"/>
            <a:ext cx="3098983" cy="2248282"/>
          </a:xfrm>
          <a:prstGeom prst="rect">
            <a:avLst/>
          </a:prstGeom>
          <a:ln>
            <a:noFill/>
          </a:ln>
          <a:effectLst>
            <a:softEdge rad="112500"/>
          </a:effectLst>
        </p:spPr>
      </p:pic>
    </p:spTree>
    <p:extLst>
      <p:ext uri="{BB962C8B-B14F-4D97-AF65-F5344CB8AC3E}">
        <p14:creationId xmlns:p14="http://schemas.microsoft.com/office/powerpoint/2010/main" val="235592707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62019">
              <a:srgbClr val="8BAA5F"/>
            </a:gs>
            <a:gs pos="10144">
              <a:srgbClr val="406026"/>
            </a:gs>
            <a:gs pos="88000">
              <a:srgbClr val="FFFF99"/>
            </a:gs>
            <a:gs pos="41722">
              <a:srgbClr val="6E8D49"/>
            </a:gs>
            <a:gs pos="33700">
              <a:schemeClr val="accent2">
                <a:lumMod val="75000"/>
              </a:schemeClr>
            </a:gs>
            <a:gs pos="0">
              <a:schemeClr val="accent2">
                <a:lumMod val="50000"/>
              </a:schemeClr>
            </a:gs>
            <a:gs pos="100000">
              <a:schemeClr val="accent2">
                <a:lumMod val="75000"/>
              </a:schemeClr>
            </a:gs>
          </a:gsLst>
          <a:lin ang="126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B0AF6-3B0E-495E-9720-BD9150D6E23C}"/>
              </a:ext>
            </a:extLst>
          </p:cNvPr>
          <p:cNvSpPr>
            <a:spLocks noGrp="1"/>
          </p:cNvSpPr>
          <p:nvPr>
            <p:ph type="title"/>
          </p:nvPr>
        </p:nvSpPr>
        <p:spPr>
          <a:xfrm>
            <a:off x="847725" y="628650"/>
            <a:ext cx="9875520" cy="1356360"/>
          </a:xfrm>
        </p:spPr>
        <p:txBody>
          <a:bodyPr/>
          <a:lstStyle/>
          <a:p>
            <a:pPr algn="ctr"/>
            <a:r>
              <a:rPr lang="en-GB" sz="4800" dirty="0">
                <a:solidFill>
                  <a:schemeClr val="accent2">
                    <a:lumMod val="50000"/>
                  </a:schemeClr>
                </a:solidFill>
                <a:latin typeface="Eras Bold ITC" panose="020B0907030504020204" pitchFamily="34" charset="0"/>
              </a:rPr>
              <a:t>Key Child Rights</a:t>
            </a:r>
            <a:br>
              <a:rPr lang="en-GB" dirty="0">
                <a:solidFill>
                  <a:schemeClr val="accent1">
                    <a:lumMod val="50000"/>
                  </a:schemeClr>
                </a:solidFill>
                <a:latin typeface="Britannic Bold" panose="020B0903060703020204" pitchFamily="34" charset="0"/>
              </a:rPr>
            </a:br>
            <a:r>
              <a:rPr lang="en-GB" sz="2000" b="1" dirty="0">
                <a:solidFill>
                  <a:schemeClr val="accent1">
                    <a:lumMod val="50000"/>
                  </a:schemeClr>
                </a:solidFill>
                <a:latin typeface="Eras Light ITC" panose="020B0402030504020804" pitchFamily="34" charset="0"/>
              </a:rPr>
              <a:t>According to CRY’s Policy</a:t>
            </a:r>
            <a:endParaRPr lang="en-IN" sz="2000" b="1" dirty="0">
              <a:solidFill>
                <a:schemeClr val="accent1">
                  <a:lumMod val="50000"/>
                </a:schemeClr>
              </a:solidFill>
              <a:latin typeface="Eras Light ITC" panose="020B0402030504020804" pitchFamily="34" charset="0"/>
            </a:endParaRPr>
          </a:p>
        </p:txBody>
      </p:sp>
      <p:sp>
        <p:nvSpPr>
          <p:cNvPr id="3" name="Content Placeholder 2">
            <a:extLst>
              <a:ext uri="{FF2B5EF4-FFF2-40B4-BE49-F238E27FC236}">
                <a16:creationId xmlns:a16="http://schemas.microsoft.com/office/drawing/2014/main" id="{7A14E8C1-9E98-484B-924F-30EAE4AC57D3}"/>
              </a:ext>
            </a:extLst>
          </p:cNvPr>
          <p:cNvSpPr>
            <a:spLocks noGrp="1"/>
          </p:cNvSpPr>
          <p:nvPr>
            <p:ph idx="1"/>
          </p:nvPr>
        </p:nvSpPr>
        <p:spPr>
          <a:xfrm>
            <a:off x="419101" y="2171699"/>
            <a:ext cx="6400800" cy="4219575"/>
          </a:xfrm>
        </p:spPr>
        <p:txBody>
          <a:bodyPr>
            <a:normAutofit/>
          </a:bodyPr>
          <a:lstStyle/>
          <a:p>
            <a:pPr marL="400050" indent="-400050" algn="just">
              <a:buFont typeface="+mj-lt"/>
              <a:buAutoNum type="romanUcPeriod"/>
            </a:pPr>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Right to Survival:</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Every child has the right to live with proper food, clean water, healthcare, and shelter. CRY ensures that children are not denied these basic needs.</a:t>
            </a:r>
          </a:p>
          <a:p>
            <a:pPr marL="400050" indent="-400050" algn="just">
              <a:buFont typeface="+mj-lt"/>
              <a:buAutoNum type="romanUcPeriod"/>
            </a:pPr>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Right to Development:</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Children must get quality education, emotional care, and the chance to play and learn. CRY helps children grow into confident and skilled individuals.</a:t>
            </a:r>
          </a:p>
          <a:p>
            <a:pPr marL="400050" indent="-400050" algn="just">
              <a:buFont typeface="+mj-lt"/>
              <a:buAutoNum type="romanUcPeriod"/>
            </a:pPr>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Right to Protection:</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Children should be safe from abuse, exploitation, and harmful situations like child labour or early marriage. CRY works to protect children in every community.</a:t>
            </a:r>
          </a:p>
          <a:p>
            <a:pPr marL="400050" indent="-400050" algn="just">
              <a:buFont typeface="+mj-lt"/>
              <a:buAutoNum type="romanUcPeriod"/>
            </a:pPr>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Right to Participation: </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Every child has the right to express their views and be heard in matters affecting them. CRY creates safe spaces where children can freely share their thoughts.</a:t>
            </a:r>
            <a:endParaRPr lang="en-IN"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B10A4BF-A65D-4123-8AB1-B85F58B821A4}"/>
              </a:ext>
            </a:extLst>
          </p:cNvPr>
          <p:cNvPicPr>
            <a:picLocks noChangeAspect="1"/>
          </p:cNvPicPr>
          <p:nvPr/>
        </p:nvPicPr>
        <p:blipFill rotWithShape="1">
          <a:blip r:embed="rId2">
            <a:extLst>
              <a:ext uri="{28A0092B-C50C-407E-A947-70E740481C1C}">
                <a14:useLocalDpi xmlns:a14="http://schemas.microsoft.com/office/drawing/2010/main" val="0"/>
              </a:ext>
            </a:extLst>
          </a:blip>
          <a:srcRect l="6249" r="6328"/>
          <a:stretch/>
        </p:blipFill>
        <p:spPr>
          <a:xfrm>
            <a:off x="7067550" y="2371724"/>
            <a:ext cx="4568134" cy="33623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51267672"/>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68441">
              <a:srgbClr val="FFFFCC"/>
            </a:gs>
            <a:gs pos="52946">
              <a:srgbClr val="7E9D55"/>
            </a:gs>
            <a:gs pos="25135">
              <a:srgbClr val="557637"/>
            </a:gs>
            <a:gs pos="16041">
              <a:srgbClr val="48692D"/>
            </a:gs>
            <a:gs pos="62019">
              <a:srgbClr val="FFFF99"/>
            </a:gs>
            <a:gs pos="79661">
              <a:srgbClr val="A5C372"/>
            </a:gs>
            <a:gs pos="41722">
              <a:srgbClr val="6E8D49"/>
            </a:gs>
            <a:gs pos="33700">
              <a:srgbClr val="628240"/>
            </a:gs>
            <a:gs pos="0">
              <a:schemeClr val="accent2">
                <a:lumMod val="50000"/>
              </a:schemeClr>
            </a:gs>
            <a:gs pos="100000">
              <a:schemeClr val="accent1">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1A6C4-F833-46B2-A5E2-AF2D0B6D9602}"/>
              </a:ext>
            </a:extLst>
          </p:cNvPr>
          <p:cNvSpPr>
            <a:spLocks noGrp="1"/>
          </p:cNvSpPr>
          <p:nvPr>
            <p:ph type="title"/>
          </p:nvPr>
        </p:nvSpPr>
        <p:spPr>
          <a:xfrm>
            <a:off x="762000" y="390526"/>
            <a:ext cx="9980295" cy="1314450"/>
          </a:xfrm>
        </p:spPr>
        <p:txBody>
          <a:bodyPr>
            <a:normAutofit/>
          </a:bodyPr>
          <a:lstStyle/>
          <a:p>
            <a:pPr algn="ctr"/>
            <a:r>
              <a:rPr lang="en-IN" u="sng" dirty="0">
                <a:solidFill>
                  <a:schemeClr val="accent2">
                    <a:lumMod val="50000"/>
                  </a:schemeClr>
                </a:solidFill>
                <a:latin typeface="Eras Bold ITC" panose="020B0907030504020204" pitchFamily="34" charset="0"/>
              </a:rPr>
              <a:t>Right to Education</a:t>
            </a:r>
          </a:p>
        </p:txBody>
      </p:sp>
      <p:sp>
        <p:nvSpPr>
          <p:cNvPr id="3" name="Content Placeholder 2">
            <a:extLst>
              <a:ext uri="{FF2B5EF4-FFF2-40B4-BE49-F238E27FC236}">
                <a16:creationId xmlns:a16="http://schemas.microsoft.com/office/drawing/2014/main" id="{F2081F0A-7DC9-48FB-9374-6BEFA60D0244}"/>
              </a:ext>
            </a:extLst>
          </p:cNvPr>
          <p:cNvSpPr>
            <a:spLocks noGrp="1"/>
          </p:cNvSpPr>
          <p:nvPr>
            <p:ph idx="1"/>
          </p:nvPr>
        </p:nvSpPr>
        <p:spPr>
          <a:xfrm>
            <a:off x="440532" y="1704976"/>
            <a:ext cx="5407818" cy="4562474"/>
          </a:xfrm>
        </p:spPr>
        <p:txBody>
          <a:bodyPr>
            <a:normAutofit/>
          </a:bodyPr>
          <a:lstStyle/>
          <a:p>
            <a:pPr marL="285750" indent="-285750" algn="just"/>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Every Child deserves: </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Free &amp; quality education that fosters personal growth, development, &amp; breaks the cycle of poverty.</a:t>
            </a:r>
          </a:p>
          <a:p>
            <a:pPr marL="285750" indent="-285750" algn="just"/>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Empowering through Education: </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Enables children to make informed decisions, exercise their rights, &amp; reach their full potential.</a:t>
            </a:r>
          </a:p>
          <a:p>
            <a:pPr marL="285750" indent="-285750" algn="just"/>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Government Initiatives: </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Right to Education (RTE) Act ensures access to education for all children.</a:t>
            </a:r>
          </a:p>
          <a:p>
            <a:pPr marL="285750" indent="-285750" algn="just"/>
            <a:r>
              <a:rPr lang="en-GB"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CRY's Work: </a:t>
            </a:r>
            <a:r>
              <a:rPr lang="en-GB"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Improving school access, prioritizing girl child education, &amp; promoting inclusive learning environments.</a:t>
            </a:r>
            <a:endParaRPr lang="en-IN"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64649FC8-E15A-428D-94D1-F8DD91C26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2133" y="3857621"/>
            <a:ext cx="3119335" cy="2271715"/>
          </a:xfrm>
          <a:prstGeom prst="rect">
            <a:avLst/>
          </a:prstGeom>
          <a:ln>
            <a:noFill/>
          </a:ln>
          <a:effectLst>
            <a:softEdge rad="112500"/>
          </a:effectLst>
        </p:spPr>
      </p:pic>
      <p:pic>
        <p:nvPicPr>
          <p:cNvPr id="1026" name="Picture 2" descr="RTE Act-2009 focuses on Quality of ...">
            <a:extLst>
              <a:ext uri="{FF2B5EF4-FFF2-40B4-BE49-F238E27FC236}">
                <a16:creationId xmlns:a16="http://schemas.microsoft.com/office/drawing/2014/main" id="{E8C622B6-AAE9-41BD-A885-8132A519B24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60" t="13344" r="5736" b="14195"/>
          <a:stretch/>
        </p:blipFill>
        <p:spPr bwMode="auto">
          <a:xfrm>
            <a:off x="6567489" y="1704976"/>
            <a:ext cx="4357768" cy="19431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RIGHT TO EDUCATION SHOULD BE IN SEEN IN DEEDS AND NOT WORDS – Lok Raj  Sangathan">
            <a:extLst>
              <a:ext uri="{FF2B5EF4-FFF2-40B4-BE49-F238E27FC236}">
                <a16:creationId xmlns:a16="http://schemas.microsoft.com/office/drawing/2014/main" id="{7A433C80-3E87-421F-854D-A7C2647684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5120" y="3857622"/>
            <a:ext cx="2221676" cy="227171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3342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68441">
              <a:schemeClr val="accent1">
                <a:lumMod val="60000"/>
                <a:lumOff val="40000"/>
              </a:schemeClr>
            </a:gs>
            <a:gs pos="52946">
              <a:srgbClr val="7E9D55"/>
            </a:gs>
            <a:gs pos="25135">
              <a:srgbClr val="557637"/>
            </a:gs>
            <a:gs pos="16041">
              <a:srgbClr val="48692D"/>
            </a:gs>
            <a:gs pos="62019">
              <a:schemeClr val="accent1">
                <a:lumMod val="60000"/>
                <a:lumOff val="40000"/>
              </a:schemeClr>
            </a:gs>
            <a:gs pos="79661">
              <a:srgbClr val="FFFFCC"/>
            </a:gs>
            <a:gs pos="41722">
              <a:srgbClr val="6E8D49"/>
            </a:gs>
            <a:gs pos="33700">
              <a:srgbClr val="628240"/>
            </a:gs>
            <a:gs pos="0">
              <a:schemeClr val="accent2">
                <a:lumMod val="50000"/>
              </a:schemeClr>
            </a:gs>
            <a:gs pos="100000">
              <a:schemeClr val="accent2">
                <a:lumMod val="5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C5DB4-13D9-4FF5-8261-D8966C2A2861}"/>
              </a:ext>
            </a:extLst>
          </p:cNvPr>
          <p:cNvSpPr>
            <a:spLocks noGrp="1"/>
          </p:cNvSpPr>
          <p:nvPr>
            <p:ph type="title"/>
          </p:nvPr>
        </p:nvSpPr>
        <p:spPr>
          <a:xfrm>
            <a:off x="676275" y="609600"/>
            <a:ext cx="9875520" cy="1356360"/>
          </a:xfrm>
        </p:spPr>
        <p:txBody>
          <a:bodyPr/>
          <a:lstStyle/>
          <a:p>
            <a:pPr algn="ctr"/>
            <a:r>
              <a:rPr lang="en-IN" u="sng" dirty="0">
                <a:solidFill>
                  <a:schemeClr val="accent2">
                    <a:lumMod val="50000"/>
                  </a:schemeClr>
                </a:solidFill>
                <a:latin typeface="Eras Bold ITC" panose="020B0907030504020204" pitchFamily="34" charset="0"/>
              </a:rPr>
              <a:t>Right to Protection</a:t>
            </a:r>
          </a:p>
        </p:txBody>
      </p:sp>
      <p:sp>
        <p:nvSpPr>
          <p:cNvPr id="3" name="Content Placeholder 2">
            <a:extLst>
              <a:ext uri="{FF2B5EF4-FFF2-40B4-BE49-F238E27FC236}">
                <a16:creationId xmlns:a16="http://schemas.microsoft.com/office/drawing/2014/main" id="{BF816DA5-7207-44FA-8DA2-8FBC1FAE14E8}"/>
              </a:ext>
            </a:extLst>
          </p:cNvPr>
          <p:cNvSpPr>
            <a:spLocks noGrp="1"/>
          </p:cNvSpPr>
          <p:nvPr>
            <p:ph idx="1"/>
          </p:nvPr>
        </p:nvSpPr>
        <p:spPr>
          <a:xfrm>
            <a:off x="552450" y="2051687"/>
            <a:ext cx="5572125" cy="4282438"/>
          </a:xfrm>
        </p:spPr>
        <p:txBody>
          <a:bodyPr>
            <a:normAutofit/>
          </a:bodyPr>
          <a:lstStyle/>
          <a:p>
            <a:pPr marL="342900" indent="-342900" algn="just"/>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Protecting Children: </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Abuse, neglect, violence, &amp; exploitation can have lasting impacts on their lives.</a:t>
            </a:r>
          </a:p>
          <a:p>
            <a:pPr marL="342900" indent="-342900" algn="just"/>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Prevention through Education: </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Educating children &amp; adults about child rights to prevent issues like child labour, trafficking, &amp; child marriage.</a:t>
            </a:r>
          </a:p>
          <a:p>
            <a:pPr marL="342900" indent="-342900" algn="just"/>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Support and Care: </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Providing essential services for victims of abuse, ensuring their physical, emotional, &amp; psychological well-being.</a:t>
            </a:r>
          </a:p>
          <a:p>
            <a:pPr marL="342900" indent="-342900" algn="just"/>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Policy and Advocacy: </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Implementing &amp; enforcing laws &amp; policies that safeguard children's rights &amp; protect them from harm.</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Child protection &amp; rights | CALVARY PREMA MINISTRY SOCIETY">
            <a:extLst>
              <a:ext uri="{FF2B5EF4-FFF2-40B4-BE49-F238E27FC236}">
                <a16:creationId xmlns:a16="http://schemas.microsoft.com/office/drawing/2014/main" id="{3ACF2FD3-0E7D-4EA3-B1CE-92D27EC6D0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8913" y="2247899"/>
            <a:ext cx="4976812" cy="29321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254187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33155">
              <a:schemeClr val="accent2">
                <a:lumMod val="60000"/>
                <a:lumOff val="40000"/>
              </a:schemeClr>
            </a:gs>
            <a:gs pos="25135">
              <a:srgbClr val="FFFF66"/>
            </a:gs>
            <a:gs pos="8021">
              <a:schemeClr val="accent2">
                <a:lumMod val="50000"/>
              </a:schemeClr>
            </a:gs>
            <a:gs pos="62567">
              <a:schemeClr val="accent2">
                <a:lumMod val="50000"/>
              </a:schemeClr>
            </a:gs>
            <a:gs pos="51872">
              <a:schemeClr val="accent2">
                <a:lumMod val="60000"/>
                <a:lumOff val="40000"/>
              </a:schemeClr>
            </a:gs>
            <a:gs pos="16041">
              <a:schemeClr val="accent1">
                <a:lumMod val="60000"/>
                <a:lumOff val="40000"/>
              </a:schemeClr>
            </a:gs>
          </a:gsLst>
          <a:lin ang="12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FA086-BF8E-461A-A2B4-8E51CFD89D3E}"/>
              </a:ext>
            </a:extLst>
          </p:cNvPr>
          <p:cNvSpPr>
            <a:spLocks noGrp="1"/>
          </p:cNvSpPr>
          <p:nvPr>
            <p:ph type="title"/>
          </p:nvPr>
        </p:nvSpPr>
        <p:spPr>
          <a:xfrm>
            <a:off x="885825" y="271215"/>
            <a:ext cx="9875520" cy="1356360"/>
          </a:xfrm>
        </p:spPr>
        <p:txBody>
          <a:bodyPr/>
          <a:lstStyle/>
          <a:p>
            <a:r>
              <a:rPr lang="en-IN" u="sng" dirty="0">
                <a:solidFill>
                  <a:schemeClr val="accent1">
                    <a:lumMod val="50000"/>
                  </a:schemeClr>
                </a:solidFill>
                <a:latin typeface="Britannic Bold" panose="020B0903060703020204" pitchFamily="34" charset="0"/>
              </a:rPr>
              <a:t>Right to Participation</a:t>
            </a:r>
          </a:p>
        </p:txBody>
      </p:sp>
      <p:sp>
        <p:nvSpPr>
          <p:cNvPr id="3" name="Content Placeholder 2">
            <a:extLst>
              <a:ext uri="{FF2B5EF4-FFF2-40B4-BE49-F238E27FC236}">
                <a16:creationId xmlns:a16="http://schemas.microsoft.com/office/drawing/2014/main" id="{20C94FCA-7AD7-4E5D-BEF7-13C80F67CBCD}"/>
              </a:ext>
            </a:extLst>
          </p:cNvPr>
          <p:cNvSpPr>
            <a:spLocks noGrp="1"/>
          </p:cNvSpPr>
          <p:nvPr>
            <p:ph idx="1"/>
          </p:nvPr>
        </p:nvSpPr>
        <p:spPr>
          <a:xfrm>
            <a:off x="809626" y="1613042"/>
            <a:ext cx="6372224" cy="4038600"/>
          </a:xfrm>
        </p:spPr>
        <p:txBody>
          <a:bodyPr>
            <a:normAutofit/>
          </a:bodyPr>
          <a:lstStyle/>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Every child has the right to express their views freely in matters affecting them (UNCRC Article 12).</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Participation strengthens children’s confidence, decision-making skills, and sense of belonging.</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It can happen in families, schools, communities, and even policy-making spaces.</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Barriers include age-based discrimination, adultism, lack of safe spaces, and social norms that silence children.</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CRY empowers children through clubs, peer groups, campaigns, and youth leadership programs.</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8C9535A-1CA2-409C-8499-39E8879C266C}"/>
              </a:ext>
            </a:extLst>
          </p:cNvPr>
          <p:cNvPicPr>
            <a:picLocks noChangeAspect="1"/>
          </p:cNvPicPr>
          <p:nvPr/>
        </p:nvPicPr>
        <p:blipFill rotWithShape="1">
          <a:blip r:embed="rId2">
            <a:extLst>
              <a:ext uri="{28A0092B-C50C-407E-A947-70E740481C1C}">
                <a14:useLocalDpi xmlns:a14="http://schemas.microsoft.com/office/drawing/2010/main" val="0"/>
              </a:ext>
            </a:extLst>
          </a:blip>
          <a:srcRect t="7125" b="4580"/>
          <a:stretch/>
        </p:blipFill>
        <p:spPr>
          <a:xfrm>
            <a:off x="7879710" y="3981450"/>
            <a:ext cx="3159767" cy="22621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C85DE3B8-90DE-4148-A8C8-EC3B4FC6ABF1}"/>
              </a:ext>
            </a:extLst>
          </p:cNvPr>
          <p:cNvPicPr>
            <a:picLocks noChangeAspect="1"/>
          </p:cNvPicPr>
          <p:nvPr/>
        </p:nvPicPr>
        <p:blipFill rotWithShape="1">
          <a:blip r:embed="rId3">
            <a:extLst>
              <a:ext uri="{28A0092B-C50C-407E-A947-70E740481C1C}">
                <a14:useLocalDpi xmlns:a14="http://schemas.microsoft.com/office/drawing/2010/main" val="0"/>
              </a:ext>
            </a:extLst>
          </a:blip>
          <a:srcRect l="16513" t="3362" r="16760"/>
          <a:stretch/>
        </p:blipFill>
        <p:spPr>
          <a:xfrm>
            <a:off x="7879710" y="1123949"/>
            <a:ext cx="3159766" cy="25083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14482316"/>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33155">
              <a:schemeClr val="accent2">
                <a:lumMod val="75000"/>
              </a:schemeClr>
            </a:gs>
            <a:gs pos="25135">
              <a:schemeClr val="accent1">
                <a:lumMod val="40000"/>
                <a:lumOff val="60000"/>
              </a:schemeClr>
            </a:gs>
            <a:gs pos="8021">
              <a:schemeClr val="accent1">
                <a:lumMod val="75000"/>
              </a:schemeClr>
            </a:gs>
            <a:gs pos="62567">
              <a:schemeClr val="accent2">
                <a:lumMod val="50000"/>
              </a:schemeClr>
            </a:gs>
            <a:gs pos="51872">
              <a:schemeClr val="accent2">
                <a:lumMod val="60000"/>
                <a:lumOff val="40000"/>
              </a:schemeClr>
            </a:gs>
            <a:gs pos="16041">
              <a:schemeClr val="accent1">
                <a:lumMod val="60000"/>
                <a:lumOff val="40000"/>
              </a:schemeClr>
            </a:gs>
          </a:gsLst>
          <a:lin ang="120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FA64C-3389-4917-9416-E9E040A45D69}"/>
              </a:ext>
            </a:extLst>
          </p:cNvPr>
          <p:cNvSpPr>
            <a:spLocks noGrp="1"/>
          </p:cNvSpPr>
          <p:nvPr>
            <p:ph type="title"/>
          </p:nvPr>
        </p:nvSpPr>
        <p:spPr>
          <a:xfrm>
            <a:off x="828674" y="466725"/>
            <a:ext cx="9789795" cy="1356360"/>
          </a:xfrm>
        </p:spPr>
        <p:txBody>
          <a:bodyPr/>
          <a:lstStyle/>
          <a:p>
            <a:pPr algn="ctr"/>
            <a:r>
              <a:rPr lang="en-IN" dirty="0"/>
              <a:t> </a:t>
            </a:r>
            <a:r>
              <a:rPr lang="en-IN" u="sng" dirty="0">
                <a:solidFill>
                  <a:schemeClr val="accent1">
                    <a:lumMod val="50000"/>
                  </a:schemeClr>
                </a:solidFill>
                <a:latin typeface="Britannic Bold" panose="020B0903060703020204" pitchFamily="34" charset="0"/>
              </a:rPr>
              <a:t>Child Health and Nutrition</a:t>
            </a:r>
          </a:p>
        </p:txBody>
      </p:sp>
      <p:sp>
        <p:nvSpPr>
          <p:cNvPr id="3" name="Content Placeholder 2">
            <a:extLst>
              <a:ext uri="{FF2B5EF4-FFF2-40B4-BE49-F238E27FC236}">
                <a16:creationId xmlns:a16="http://schemas.microsoft.com/office/drawing/2014/main" id="{F1E3A041-3709-4B31-A325-B18512FE1101}"/>
              </a:ext>
            </a:extLst>
          </p:cNvPr>
          <p:cNvSpPr>
            <a:spLocks noGrp="1"/>
          </p:cNvSpPr>
          <p:nvPr>
            <p:ph idx="1"/>
          </p:nvPr>
        </p:nvSpPr>
        <p:spPr>
          <a:xfrm>
            <a:off x="457200" y="1823085"/>
            <a:ext cx="7372350" cy="4568190"/>
          </a:xfrm>
        </p:spPr>
        <p:txBody>
          <a:bodyPr>
            <a:normAutofit/>
          </a:bodyPr>
          <a:lstStyle/>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Every child has the right to good health and nutrition for survival, development, and lifelong well-being.</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Malnutrition and anaemia are major issues in India, affecting children's growth, learning, and immunity.</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Challenges include poverty, poor sanitation, early marriage, lack of awareness, and gender discrimination.</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Government schemes like ICDS, Mid-Day Meals, and </a:t>
            </a:r>
            <a:r>
              <a:rPr lang="en-GB"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Poshan</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GB"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Abhiyaan</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 aim to address these issues.</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CRY supports health rights by connecting families to services and raising awareness in underserved areas.</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Government schemes: ICDS, Mid-Day Meals, </a:t>
            </a:r>
            <a:r>
              <a:rPr lang="en-GB"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Poshan</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GB"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Abhiyaan</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Awareness on hygiene and nutrition.</a:t>
            </a:r>
          </a:p>
          <a:p>
            <a:pPr marL="285750" indent="-285750" algn="just"/>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CRY connects families to health services, conducts community monitoring.</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9573A671-C326-4939-BEF6-0F701CD13C61}"/>
              </a:ext>
            </a:extLst>
          </p:cNvPr>
          <p:cNvPicPr>
            <a:picLocks noChangeAspect="1"/>
          </p:cNvPicPr>
          <p:nvPr/>
        </p:nvPicPr>
        <p:blipFill rotWithShape="1">
          <a:blip r:embed="rId2">
            <a:extLst>
              <a:ext uri="{28A0092B-C50C-407E-A947-70E740481C1C}">
                <a14:useLocalDpi xmlns:a14="http://schemas.microsoft.com/office/drawing/2010/main" val="0"/>
              </a:ext>
            </a:extLst>
          </a:blip>
          <a:srcRect l="7241" t="6100" r="7072" b="6817"/>
          <a:stretch/>
        </p:blipFill>
        <p:spPr>
          <a:xfrm>
            <a:off x="8277225" y="1823085"/>
            <a:ext cx="2990850" cy="45681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15383637"/>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57749">
              <a:schemeClr val="accent1">
                <a:lumMod val="40000"/>
                <a:lumOff val="60000"/>
              </a:schemeClr>
            </a:gs>
            <a:gs pos="48122">
              <a:srgbClr val="FFFFCC"/>
            </a:gs>
            <a:gs pos="37958">
              <a:srgbClr val="FFFF99"/>
            </a:gs>
            <a:gs pos="28320">
              <a:schemeClr val="accent1">
                <a:lumMod val="75000"/>
              </a:schemeClr>
            </a:gs>
            <a:gs pos="18157">
              <a:schemeClr val="accent1">
                <a:lumMod val="50000"/>
              </a:schemeClr>
            </a:gs>
            <a:gs pos="7992">
              <a:schemeClr val="accent2">
                <a:lumMod val="75000"/>
              </a:schemeClr>
            </a:gs>
            <a:gs pos="0">
              <a:schemeClr val="accent2">
                <a:lumMod val="50000"/>
              </a:schemeClr>
            </a:gs>
            <a:gs pos="74000">
              <a:srgbClr val="FFFF99"/>
            </a:gs>
            <a:gs pos="83000">
              <a:schemeClr val="accent1">
                <a:lumMod val="60000"/>
                <a:lumOff val="40000"/>
              </a:schemeClr>
            </a:gs>
            <a:gs pos="100000">
              <a:schemeClr val="accent2">
                <a:lumMod val="5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B4D96-EBA4-4EDD-A34E-955184DCA097}"/>
              </a:ext>
            </a:extLst>
          </p:cNvPr>
          <p:cNvSpPr>
            <a:spLocks noGrp="1"/>
          </p:cNvSpPr>
          <p:nvPr>
            <p:ph type="title"/>
          </p:nvPr>
        </p:nvSpPr>
        <p:spPr>
          <a:xfrm>
            <a:off x="1158240" y="542925"/>
            <a:ext cx="9875520" cy="1356360"/>
          </a:xfrm>
        </p:spPr>
        <p:txBody>
          <a:bodyPr/>
          <a:lstStyle/>
          <a:p>
            <a:pPr algn="ctr"/>
            <a:r>
              <a:rPr lang="en-IN" u="sng" dirty="0">
                <a:solidFill>
                  <a:schemeClr val="accent2">
                    <a:lumMod val="50000"/>
                  </a:schemeClr>
                </a:solidFill>
                <a:latin typeface="Eras Bold ITC" panose="020B0907030504020204" pitchFamily="34" charset="0"/>
              </a:rPr>
              <a:t>Challenges Faced by Children</a:t>
            </a:r>
          </a:p>
        </p:txBody>
      </p:sp>
      <p:sp>
        <p:nvSpPr>
          <p:cNvPr id="3" name="Content Placeholder 2">
            <a:extLst>
              <a:ext uri="{FF2B5EF4-FFF2-40B4-BE49-F238E27FC236}">
                <a16:creationId xmlns:a16="http://schemas.microsoft.com/office/drawing/2014/main" id="{E46255AE-99BC-4CD7-B163-D11FAF24CBC9}"/>
              </a:ext>
            </a:extLst>
          </p:cNvPr>
          <p:cNvSpPr>
            <a:spLocks noGrp="1"/>
          </p:cNvSpPr>
          <p:nvPr>
            <p:ph idx="1"/>
          </p:nvPr>
        </p:nvSpPr>
        <p:spPr>
          <a:xfrm>
            <a:off x="533401" y="1965960"/>
            <a:ext cx="7505700" cy="4038600"/>
          </a:xfrm>
        </p:spPr>
        <p:txBody>
          <a:bodyPr>
            <a:normAutofit/>
          </a:bodyPr>
          <a:lstStyle/>
          <a:p>
            <a:pPr marL="45720" indent="0" algn="just">
              <a:buNone/>
            </a:pP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Children across India face many challenges that prevent them from enjoying their basic rights. These issues often affect their education, health, and safety.</a:t>
            </a:r>
          </a:p>
          <a:p>
            <a:pPr marL="388620" indent="-342900" algn="just">
              <a:buAutoNum type="arabicPeriod"/>
            </a:pPr>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Poverty:</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 Many families cannot afford school fees, healthcare, or nutritious food. Children are often forced to drop out of school to work and support their families. Poor living conditions also increase the risk of disease and malnutrition.</a:t>
            </a:r>
          </a:p>
          <a:p>
            <a:pPr marL="388620" indent="-342900" algn="just">
              <a:buAutoNum type="arabicPeriod"/>
            </a:pPr>
            <a:r>
              <a:rPr lang="en-GB" sz="1800" b="1" dirty="0">
                <a:solidFill>
                  <a:schemeClr val="tx1"/>
                </a:solidFill>
                <a:latin typeface="Calibri" panose="020F0502020204030204" pitchFamily="34" charset="0"/>
                <a:ea typeface="Calibri" panose="020F0502020204030204" pitchFamily="34" charset="0"/>
                <a:cs typeface="Calibri" panose="020F0502020204030204" pitchFamily="34" charset="0"/>
              </a:rPr>
              <a:t>Exploitation:</a:t>
            </a: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 Children face exploitation in the form of child labour, child marriage, trafficking, and abuse. Lack of awareness, weak enforcement of laws, and social norms contribute to this problem. Many children are unaware of their rights or too afraid to speak up.</a:t>
            </a:r>
          </a:p>
          <a:p>
            <a:pPr marL="45720" indent="0" algn="just">
              <a:buNone/>
            </a:pPr>
            <a:r>
              <a:rPr lang="en-GB" sz="1800" dirty="0">
                <a:solidFill>
                  <a:schemeClr val="tx1"/>
                </a:solidFill>
                <a:latin typeface="Calibri" panose="020F0502020204030204" pitchFamily="34" charset="0"/>
                <a:ea typeface="Calibri" panose="020F0502020204030204" pitchFamily="34" charset="0"/>
                <a:cs typeface="Calibri" panose="020F0502020204030204" pitchFamily="34" charset="0"/>
              </a:rPr>
              <a:t>These challenges make it harder for children to grow up safe, healthy, and educated. Solving them requires action from individuals, communities, NGOs, and the government.</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Project on Poverty in India: Challenges, Purpose &amp; Consequences">
            <a:extLst>
              <a:ext uri="{FF2B5EF4-FFF2-40B4-BE49-F238E27FC236}">
                <a16:creationId xmlns:a16="http://schemas.microsoft.com/office/drawing/2014/main" id="{F4901D93-08B1-47E2-88C3-D09B948EAB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2104" y="1965960"/>
            <a:ext cx="3416495" cy="196786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076" name="Picture 4" descr="Child Abuse Prevention">
            <a:extLst>
              <a:ext uri="{FF2B5EF4-FFF2-40B4-BE49-F238E27FC236}">
                <a16:creationId xmlns:a16="http://schemas.microsoft.com/office/drawing/2014/main" id="{A3727E40-A5F8-4BFE-BE68-8AE78330F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135" y="4086225"/>
            <a:ext cx="3282464" cy="215836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6111223"/>
      </p:ext>
    </p:extLst>
  </p:cSld>
  <p:clrMapOvr>
    <a:masterClrMapping/>
  </p:clrMapOvr>
  <p:transition spd="slow">
    <p:comb/>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57749">
              <a:schemeClr val="accent1">
                <a:lumMod val="40000"/>
                <a:lumOff val="60000"/>
              </a:schemeClr>
            </a:gs>
            <a:gs pos="48122">
              <a:srgbClr val="FFFFCC"/>
            </a:gs>
            <a:gs pos="37958">
              <a:schemeClr val="accent3">
                <a:lumMod val="60000"/>
                <a:lumOff val="40000"/>
              </a:schemeClr>
            </a:gs>
            <a:gs pos="28320">
              <a:schemeClr val="accent1">
                <a:lumMod val="75000"/>
              </a:schemeClr>
            </a:gs>
            <a:gs pos="18157">
              <a:schemeClr val="accent1">
                <a:lumMod val="50000"/>
              </a:schemeClr>
            </a:gs>
            <a:gs pos="7992">
              <a:schemeClr val="accent2">
                <a:lumMod val="75000"/>
              </a:schemeClr>
            </a:gs>
            <a:gs pos="0">
              <a:schemeClr val="accent2">
                <a:lumMod val="50000"/>
              </a:schemeClr>
            </a:gs>
            <a:gs pos="74000">
              <a:srgbClr val="FFFF99"/>
            </a:gs>
            <a:gs pos="83000">
              <a:schemeClr val="accent1">
                <a:lumMod val="60000"/>
                <a:lumOff val="40000"/>
              </a:schemeClr>
            </a:gs>
            <a:gs pos="100000">
              <a:schemeClr val="accent2">
                <a:lumMod val="50000"/>
              </a:schemeClr>
            </a:gs>
          </a:gsLst>
          <a:lin ang="108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9AC8-8604-4A06-9537-89E599E28D33}"/>
              </a:ext>
            </a:extLst>
          </p:cNvPr>
          <p:cNvSpPr>
            <a:spLocks noGrp="1"/>
          </p:cNvSpPr>
          <p:nvPr>
            <p:ph type="title"/>
          </p:nvPr>
        </p:nvSpPr>
        <p:spPr>
          <a:xfrm>
            <a:off x="933450" y="285750"/>
            <a:ext cx="9875520" cy="981075"/>
          </a:xfrm>
        </p:spPr>
        <p:txBody>
          <a:bodyPr>
            <a:normAutofit/>
          </a:bodyPr>
          <a:lstStyle/>
          <a:p>
            <a:pPr algn="ctr"/>
            <a:r>
              <a:rPr lang="en-GB" sz="4000" u="sng" dirty="0">
                <a:solidFill>
                  <a:schemeClr val="accent2">
                    <a:lumMod val="50000"/>
                  </a:schemeClr>
                </a:solidFill>
                <a:latin typeface="Eras Bold ITC" panose="020B0907030504020204" pitchFamily="34" charset="0"/>
              </a:rPr>
              <a:t>Role of Organizations like CRY </a:t>
            </a:r>
            <a:endParaRPr lang="en-IN" sz="4000" u="sng" dirty="0">
              <a:solidFill>
                <a:schemeClr val="accent2">
                  <a:lumMod val="50000"/>
                </a:schemeClr>
              </a:solidFill>
              <a:latin typeface="Eras Bold ITC" panose="020B0907030504020204" pitchFamily="34" charset="0"/>
            </a:endParaRPr>
          </a:p>
        </p:txBody>
      </p:sp>
      <p:sp>
        <p:nvSpPr>
          <p:cNvPr id="3" name="Content Placeholder 2">
            <a:extLst>
              <a:ext uri="{FF2B5EF4-FFF2-40B4-BE49-F238E27FC236}">
                <a16:creationId xmlns:a16="http://schemas.microsoft.com/office/drawing/2014/main" id="{971C6432-CB04-4CA1-8D0D-CD176F9E3CF7}"/>
              </a:ext>
            </a:extLst>
          </p:cNvPr>
          <p:cNvSpPr>
            <a:spLocks noGrp="1"/>
          </p:cNvSpPr>
          <p:nvPr>
            <p:ph idx="1"/>
          </p:nvPr>
        </p:nvSpPr>
        <p:spPr>
          <a:xfrm>
            <a:off x="538162" y="1266825"/>
            <a:ext cx="11115675" cy="5114925"/>
          </a:xfrm>
        </p:spPr>
        <p:txBody>
          <a:bodyPr>
            <a:normAutofit/>
          </a:bodyPr>
          <a:lstStyle/>
          <a:p>
            <a:pPr marL="45720" indent="0">
              <a:buNone/>
            </a:pPr>
            <a:r>
              <a:rPr lang="en-GB" sz="1600" i="1" dirty="0">
                <a:solidFill>
                  <a:schemeClr val="tx1"/>
                </a:solidFill>
                <a:latin typeface="Calibri" panose="020F0502020204030204" pitchFamily="34" charset="0"/>
                <a:ea typeface="Calibri" panose="020F0502020204030204" pitchFamily="34" charset="0"/>
                <a:cs typeface="Calibri" panose="020F0502020204030204" pitchFamily="34" charset="0"/>
              </a:rPr>
              <a:t>CRY (Child Rights and You) is a leading Indian NGO that works to ensure every child enjoys their basic rights — like education, protection, health, and a safe environment.</a:t>
            </a:r>
          </a:p>
          <a:p>
            <a:pPr marL="45720" indent="0">
              <a:buNone/>
            </a:pPr>
            <a:r>
              <a:rPr lang="en-GB" sz="1600" b="1" dirty="0">
                <a:solidFill>
                  <a:schemeClr val="tx1"/>
                </a:solidFill>
                <a:latin typeface="Calibri" panose="020F0502020204030204" pitchFamily="34" charset="0"/>
                <a:ea typeface="Calibri" panose="020F0502020204030204" pitchFamily="34" charset="0"/>
                <a:cs typeface="Calibri" panose="020F0502020204030204" pitchFamily="34" charset="0"/>
              </a:rPr>
              <a:t>What CRY does:</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Helps children go to school and stay in school.</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Protects children from child labour, child marriage, and abuse.</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Supports families and communities to become more aware and involved in protecting child rights.</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Works to improve child health and nutrition in underserved areas.</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Collaborates with government systems by supporting programs, training local officials, and sharing data to improve child-related policies and services.</a:t>
            </a:r>
          </a:p>
          <a:p>
            <a:pPr marL="45720" indent="0">
              <a:buNone/>
            </a:pPr>
            <a:r>
              <a:rPr lang="en-GB" sz="1600" b="1" dirty="0">
                <a:solidFill>
                  <a:schemeClr val="tx1"/>
                </a:solidFill>
                <a:latin typeface="Calibri" panose="020F0502020204030204" pitchFamily="34" charset="0"/>
                <a:ea typeface="Calibri" panose="020F0502020204030204" pitchFamily="34" charset="0"/>
                <a:cs typeface="Calibri" panose="020F0502020204030204" pitchFamily="34" charset="0"/>
              </a:rPr>
              <a:t>Impact so far:</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Reached over 3 million children across India.</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Helped increase school </a:t>
            </a:r>
            <a:r>
              <a:rPr lang="en-GB"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enrollment</a:t>
            </a:r>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 and reduce child marriage and child labour.</a:t>
            </a:r>
          </a:p>
          <a:p>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Created safer, more supportive environments for children at the community level. </a:t>
            </a:r>
            <a:endParaRPr lang="en-IN"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48851078"/>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34000">
              <a:schemeClr val="accent1">
                <a:lumMod val="40000"/>
                <a:lumOff val="60000"/>
              </a:schemeClr>
            </a:gs>
            <a:gs pos="535">
              <a:schemeClr val="accent3">
                <a:lumMod val="75000"/>
              </a:schemeClr>
            </a:gs>
            <a:gs pos="47000">
              <a:schemeClr val="accent1">
                <a:lumMod val="40000"/>
                <a:lumOff val="60000"/>
              </a:schemeClr>
            </a:gs>
            <a:gs pos="10000">
              <a:srgbClr val="FFFF99"/>
            </a:gs>
            <a:gs pos="96257">
              <a:schemeClr val="accent3">
                <a:lumMod val="75000"/>
              </a:schemeClr>
            </a:gs>
            <a:gs pos="57000">
              <a:schemeClr val="accent1">
                <a:lumMod val="40000"/>
                <a:lumOff val="60000"/>
              </a:schemeClr>
            </a:gs>
            <a:gs pos="76478">
              <a:srgbClr val="E4F391"/>
            </a:gs>
            <a:gs pos="86000">
              <a:schemeClr val="accent2">
                <a:lumMod val="60000"/>
                <a:lumOff val="40000"/>
              </a:schemeClr>
            </a:gs>
            <a:gs pos="22000">
              <a:schemeClr val="accent1">
                <a:lumMod val="40000"/>
                <a:lumOff val="60000"/>
              </a:schemeClr>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E990-A10E-42A0-A830-B79536113F17}"/>
              </a:ext>
            </a:extLst>
          </p:cNvPr>
          <p:cNvSpPr>
            <a:spLocks noGrp="1"/>
          </p:cNvSpPr>
          <p:nvPr>
            <p:ph type="title"/>
          </p:nvPr>
        </p:nvSpPr>
        <p:spPr>
          <a:xfrm>
            <a:off x="1028700" y="361950"/>
            <a:ext cx="9875520" cy="1356360"/>
          </a:xfrm>
          <a:ln>
            <a:noFill/>
          </a:ln>
        </p:spPr>
        <p:txBody>
          <a:bodyPr>
            <a:normAutofit/>
          </a:bodyPr>
          <a:lstStyle/>
          <a:p>
            <a:pPr algn="ctr"/>
            <a:r>
              <a:rPr lang="en-IN" sz="4800" u="sng" dirty="0">
                <a:solidFill>
                  <a:schemeClr val="accent2">
                    <a:lumMod val="50000"/>
                  </a:schemeClr>
                </a:solidFill>
                <a:latin typeface="Britannic Bold" panose="020B0903060703020204" pitchFamily="34" charset="0"/>
              </a:rPr>
              <a:t>Acknowledgements</a:t>
            </a:r>
          </a:p>
        </p:txBody>
      </p:sp>
      <p:sp>
        <p:nvSpPr>
          <p:cNvPr id="3" name="Content Placeholder 2">
            <a:extLst>
              <a:ext uri="{FF2B5EF4-FFF2-40B4-BE49-F238E27FC236}">
                <a16:creationId xmlns:a16="http://schemas.microsoft.com/office/drawing/2014/main" id="{5D6B09C9-A17F-4C80-80DB-7F3CB9C5DD95}"/>
              </a:ext>
            </a:extLst>
          </p:cNvPr>
          <p:cNvSpPr>
            <a:spLocks noGrp="1"/>
          </p:cNvSpPr>
          <p:nvPr>
            <p:ph idx="1"/>
          </p:nvPr>
        </p:nvSpPr>
        <p:spPr>
          <a:xfrm>
            <a:off x="1028700" y="1866900"/>
            <a:ext cx="10306050" cy="4118610"/>
          </a:xfrm>
        </p:spPr>
        <p:txBody>
          <a:bodyPr>
            <a:normAutofit/>
          </a:bodyPr>
          <a:lstStyle/>
          <a:p>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Supriti Das: Responsible for the Overall Presentation Preparation.</a:t>
            </a:r>
          </a:p>
          <a:p>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Anushka Ghose: Researcher (Slides 5,6) and Presenter (Slides 5,6).</a:t>
            </a:r>
          </a:p>
          <a:p>
            <a:r>
              <a:rPr lang="en-GB" sz="2000" dirty="0" err="1">
                <a:solidFill>
                  <a:schemeClr val="tx1"/>
                </a:solidFill>
                <a:latin typeface="Calibri" panose="020F0502020204030204" pitchFamily="34" charset="0"/>
                <a:ea typeface="Calibri" panose="020F0502020204030204" pitchFamily="34" charset="0"/>
                <a:cs typeface="Calibri" panose="020F0502020204030204" pitchFamily="34" charset="0"/>
              </a:rPr>
              <a:t>Tanu</a:t>
            </a:r>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GB" sz="2000" dirty="0" err="1">
                <a:solidFill>
                  <a:schemeClr val="tx1"/>
                </a:solidFill>
                <a:latin typeface="Calibri" panose="020F0502020204030204" pitchFamily="34" charset="0"/>
                <a:ea typeface="Calibri" panose="020F0502020204030204" pitchFamily="34" charset="0"/>
                <a:cs typeface="Calibri" panose="020F0502020204030204" pitchFamily="34" charset="0"/>
              </a:rPr>
              <a:t>Bhutra</a:t>
            </a:r>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 Researcher (Slides 3,4) and Presenter (Slides 1,3,4).</a:t>
            </a:r>
          </a:p>
          <a:p>
            <a:r>
              <a:rPr lang="en-GB" sz="2000" dirty="0" err="1">
                <a:solidFill>
                  <a:schemeClr val="tx1"/>
                </a:solidFill>
                <a:latin typeface="Calibri" panose="020F0502020204030204" pitchFamily="34" charset="0"/>
                <a:ea typeface="Calibri" panose="020F0502020204030204" pitchFamily="34" charset="0"/>
                <a:cs typeface="Calibri" panose="020F0502020204030204" pitchFamily="34" charset="0"/>
              </a:rPr>
              <a:t>Samreen</a:t>
            </a:r>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 Humaira: Researcher (Slides 7,8) and Presenter (Slides 7,8).</a:t>
            </a:r>
          </a:p>
          <a:p>
            <a:r>
              <a:rPr lang="en-GB" sz="2000" dirty="0" err="1">
                <a:solidFill>
                  <a:schemeClr val="tx1"/>
                </a:solidFill>
                <a:latin typeface="Calibri" panose="020F0502020204030204" pitchFamily="34" charset="0"/>
                <a:ea typeface="Calibri" panose="020F0502020204030204" pitchFamily="34" charset="0"/>
                <a:cs typeface="Calibri" panose="020F0502020204030204" pitchFamily="34" charset="0"/>
              </a:rPr>
              <a:t>Samranggi</a:t>
            </a:r>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 Biswas: Researcher (Slides 9,10) and Presenter (Slides 9,10).</a:t>
            </a:r>
          </a:p>
          <a:p>
            <a:pPr marL="45720" indent="0">
              <a:buNone/>
            </a:pPr>
            <a:endPar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45720" indent="0">
              <a:buNone/>
            </a:pPr>
            <a:r>
              <a:rPr lang="en-GB" sz="2000" dirty="0">
                <a:solidFill>
                  <a:schemeClr val="tx1"/>
                </a:solidFill>
                <a:latin typeface="Calibri" panose="020F0502020204030204" pitchFamily="34" charset="0"/>
                <a:ea typeface="Calibri" panose="020F0502020204030204" pitchFamily="34" charset="0"/>
                <a:cs typeface="Calibri" panose="020F0502020204030204" pitchFamily="34" charset="0"/>
              </a:rPr>
              <a:t>We sincerely thank CRY for the opportunity to contribute to this meaningful initiative. It was an enriching experience.</a:t>
            </a:r>
            <a:endPar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7D5F38BA-013B-4255-913F-1C839BF3CFDD}"/>
              </a:ext>
            </a:extLst>
          </p:cNvPr>
          <p:cNvSpPr/>
          <p:nvPr/>
        </p:nvSpPr>
        <p:spPr>
          <a:xfrm>
            <a:off x="342899" y="276225"/>
            <a:ext cx="11477625" cy="6315075"/>
          </a:xfrm>
          <a:prstGeom prst="rect">
            <a:avLst/>
          </a:pr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077904430"/>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theme/theme1.xml><?xml version="1.0" encoding="utf-8"?>
<a:theme xmlns:a="http://schemas.openxmlformats.org/drawingml/2006/main" name="Basis">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Basis</Template>
  <TotalTime>531</TotalTime>
  <Words>1139</Words>
  <Application>Microsoft Office PowerPoint</Application>
  <PresentationFormat>Widescreen</PresentationFormat>
  <Paragraphs>91</Paragraphs>
  <Slides>11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Arial</vt:lpstr>
      <vt:lpstr>Bell MT</vt:lpstr>
      <vt:lpstr>Britannic Bold</vt:lpstr>
      <vt:lpstr>Calibri</vt:lpstr>
      <vt:lpstr>Corbel</vt:lpstr>
      <vt:lpstr>Elephant</vt:lpstr>
      <vt:lpstr>Eras Bold ITC</vt:lpstr>
      <vt:lpstr>Eras Light ITC</vt:lpstr>
      <vt:lpstr>Trebuchet MS</vt:lpstr>
      <vt:lpstr>Basis</vt:lpstr>
      <vt:lpstr>Child Rights Fundamental Rights of Every Child</vt:lpstr>
      <vt:lpstr>Table Of Contents</vt:lpstr>
      <vt:lpstr> Introduction to Child Rights</vt:lpstr>
      <vt:lpstr>Key Child Rights According to CRY’s Policy</vt:lpstr>
      <vt:lpstr>Right to Education</vt:lpstr>
      <vt:lpstr>Right to Protection</vt:lpstr>
      <vt:lpstr>Right to Participation</vt:lpstr>
      <vt:lpstr> Child Health and Nutrition</vt:lpstr>
      <vt:lpstr>Challenges Faced by Children</vt:lpstr>
      <vt:lpstr>Role of Organizations like CRY </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MOULIK DAS</dc:creator>
  <cp:lastModifiedBy>MOULIK DAS</cp:lastModifiedBy>
  <cp:revision>41</cp:revision>
  <dcterms:created xsi:type="dcterms:W3CDTF">2025-07-01T06:05:00Z</dcterms:created>
  <dcterms:modified xsi:type="dcterms:W3CDTF">2025-07-02T11:14:53Z</dcterms:modified>
</cp:coreProperties>
</file>