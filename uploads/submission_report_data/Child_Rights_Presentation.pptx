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chemeClr val="accent1"/>
                </a:solidFill>
              </a:defRPr>
            </a:pPr>
            <a:r>
              <a:t>Who is a Child? What are Child Rights?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>
                <a:solidFill>
                  <a:schemeClr val="tx1"/>
                </a:solidFill>
              </a:defRPr>
            </a:pPr>
            <a:r>
              <a:t>A child is defined as any person under the age of 18.</a:t>
            </a:r>
            <a:br/>
            <a:br/>
            <a:r>
              <a:t>Child rights are specialized human rights that recognize the unique needs of children. They include:</a:t>
            </a:r>
            <a:br/>
            <a:r>
              <a:t>- Right to survival</a:t>
            </a:r>
            <a:br/>
            <a:r>
              <a:t>- Right to protection</a:t>
            </a:r>
            <a:br/>
            <a:r>
              <a:t>- Right to development</a:t>
            </a:r>
            <a:br/>
            <a:r>
              <a:t>- Right to participation</a:t>
            </a:r>
          </a:p>
        </p:txBody>
      </p:sp>
      <p:pic>
        <p:nvPicPr>
          <p:cNvPr id="4" name="Picture 3" descr="file-NCkkuTFsAhcWo53wi1sXdQ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28800"/>
            <a:ext cx="27432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chemeClr val="accent1"/>
                </a:solidFill>
              </a:defRPr>
            </a:pPr>
            <a:r>
              <a:t>Child Marriage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>
                <a:solidFill>
                  <a:schemeClr val="tx1"/>
                </a:solidFill>
              </a:defRPr>
            </a:pPr>
            <a:r>
              <a:t>Child marriage refers to any formal or informal marriage involving a person below the age of 18.</a:t>
            </a:r>
            <a:br/>
            <a:br/>
            <a:r>
              <a:t>Consequences:</a:t>
            </a:r>
            <a:br/>
            <a:r>
              <a:t>- Denial of education</a:t>
            </a:r>
            <a:br/>
            <a:r>
              <a:t>- Health risks due to early pregnancy</a:t>
            </a:r>
            <a:br/>
            <a:r>
              <a:t>- Increased domestic violence</a:t>
            </a:r>
            <a:br/>
            <a:r>
              <a:t>- Violation of human rights</a:t>
            </a:r>
          </a:p>
        </p:txBody>
      </p:sp>
      <p:pic>
        <p:nvPicPr>
          <p:cNvPr id="4" name="Picture 3" descr="file-DVizjTzUYSmUAWeAubQPM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28800"/>
            <a:ext cx="27432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chemeClr val="accent1"/>
                </a:solidFill>
              </a:defRPr>
            </a:pPr>
            <a:r>
              <a:t>Children’s Right to Participation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>
                <a:solidFill>
                  <a:schemeClr val="tx1"/>
                </a:solidFill>
              </a:defRPr>
            </a:pPr>
            <a:r>
              <a:t>This right ensures children have the freedom to express their views in matters affecting them.</a:t>
            </a:r>
            <a:br/>
            <a:br/>
            <a:r>
              <a:t>Key Aspects:</a:t>
            </a:r>
            <a:br/>
            <a:r>
              <a:t>- Freedom of expression</a:t>
            </a:r>
            <a:br/>
            <a:r>
              <a:t>- Right to be heard</a:t>
            </a:r>
            <a:br/>
            <a:r>
              <a:t>- Inclusion in decision-making</a:t>
            </a:r>
            <a:br/>
            <a:r>
              <a:t>- Access to information</a:t>
            </a:r>
          </a:p>
        </p:txBody>
      </p:sp>
      <p:pic>
        <p:nvPicPr>
          <p:cNvPr id="4" name="Picture 3" descr="file-NCkkuTFsAhcWo53wi1sXdQ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28800"/>
            <a:ext cx="27432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352128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chemeClr val="accent1"/>
                </a:solidFill>
              </a:defRPr>
            </a:pPr>
            <a:r>
              <a:rPr dirty="0"/>
              <a:t>Right to Education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>
                <a:solidFill>
                  <a:schemeClr val="tx1"/>
                </a:solidFill>
              </a:defRPr>
            </a:pPr>
            <a:r>
              <a:t>The Right to Education Act (RTE), 2009 in India mandates:</a:t>
            </a:r>
            <a:br/>
            <a:r>
              <a:t>- Free and compulsory education for children aged 6-14</a:t>
            </a:r>
            <a:br/>
            <a:r>
              <a:t>- No child shall be held back, expelled, or required to pass a board exam until the completion of elementary education.</a:t>
            </a:r>
          </a:p>
        </p:txBody>
      </p:sp>
      <p:pic>
        <p:nvPicPr>
          <p:cNvPr id="4" name="Picture 3" descr="file-DVizjTzUYSmUAWeAubQPM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28800"/>
            <a:ext cx="27432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352128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chemeClr val="accent1"/>
                </a:solidFill>
              </a:defRPr>
            </a:pPr>
            <a:r>
              <a:rPr dirty="0"/>
              <a:t>Right to Education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>
                <a:solidFill>
                  <a:schemeClr val="tx1"/>
                </a:solidFill>
              </a:defRPr>
            </a:pPr>
            <a:r>
              <a:t>Key Provisions:</a:t>
            </a:r>
            <a:br/>
            <a:r>
              <a:t>- 25% reservation for disadvantaged groups in private schools</a:t>
            </a:r>
            <a:br/>
            <a:r>
              <a:t>- Quality norms for schools</a:t>
            </a:r>
            <a:br/>
            <a:r>
              <a:t>- Prohibition of physical punishment and mental harassment</a:t>
            </a:r>
            <a:br/>
            <a:r>
              <a:t>- Banning of capitation fees and screening procedures</a:t>
            </a:r>
          </a:p>
        </p:txBody>
      </p:sp>
      <p:pic>
        <p:nvPicPr>
          <p:cNvPr id="4" name="Picture 3" descr="file-NCkkuTFsAhcWo53wi1sXdQ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28800"/>
            <a:ext cx="27432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502855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chemeClr val="accent1"/>
                </a:solidFill>
              </a:defRPr>
            </a:pPr>
            <a:r>
              <a:rPr dirty="0"/>
              <a:t>ICDS - Early Childhood Care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>
                <a:solidFill>
                  <a:schemeClr val="tx1"/>
                </a:solidFill>
              </a:defRPr>
            </a:pPr>
            <a:r>
              <a:t>Integrated Child Development Services (ICDS) is a government program providing:</a:t>
            </a:r>
            <a:br/>
            <a:r>
              <a:t>- Supplementary nutrition</a:t>
            </a:r>
            <a:br/>
            <a:r>
              <a:t>- Immunization</a:t>
            </a:r>
            <a:br/>
            <a:r>
              <a:t>- Health check-ups</a:t>
            </a:r>
            <a:br/>
            <a:r>
              <a:t>- Referral services</a:t>
            </a:r>
          </a:p>
        </p:txBody>
      </p:sp>
      <p:pic>
        <p:nvPicPr>
          <p:cNvPr id="4" name="Picture 3" descr="file-DVizjTzUYSmUAWeAubQPM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28800"/>
            <a:ext cx="27432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502855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chemeClr val="accent1"/>
                </a:solidFill>
              </a:defRPr>
            </a:pPr>
            <a:r>
              <a:rPr dirty="0"/>
              <a:t>ICDS - Early Childhood Care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>
                <a:solidFill>
                  <a:schemeClr val="tx1"/>
                </a:solidFill>
              </a:defRPr>
            </a:pPr>
            <a:r>
              <a:t>Objectives:</a:t>
            </a:r>
            <a:br/>
            <a:r>
              <a:t>- Improve nutritional and health status of children under 6</a:t>
            </a:r>
            <a:br/>
            <a:r>
              <a:t>- Lay the foundation for proper psychological, physical, and social development</a:t>
            </a:r>
            <a:br/>
            <a:r>
              <a:t>- Reduce incidence of mortality, morbidity, and school dropout</a:t>
            </a:r>
          </a:p>
        </p:txBody>
      </p:sp>
      <p:pic>
        <p:nvPicPr>
          <p:cNvPr id="4" name="Picture 3" descr="file-NCkkuTFsAhcWo53wi1sXdQ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28800"/>
            <a:ext cx="27432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241123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chemeClr val="accent1"/>
                </a:solidFill>
              </a:defRPr>
            </a:pPr>
            <a:r>
              <a:rPr dirty="0"/>
              <a:t>Child </a:t>
            </a:r>
            <a:r>
              <a:rPr dirty="0" err="1"/>
              <a:t>Labour</a:t>
            </a:r>
            <a:r>
              <a:rPr dirty="0"/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>
                <a:solidFill>
                  <a:schemeClr val="tx1"/>
                </a:solidFill>
              </a:defRPr>
            </a:pPr>
            <a:r>
              <a:t>Child labour refers to the exploitation of children through any form of work that deprives them of their childhood.</a:t>
            </a:r>
            <a:br/>
            <a:br/>
            <a:r>
              <a:t>Causes:</a:t>
            </a:r>
            <a:br/>
            <a:r>
              <a:t>- Poverty</a:t>
            </a:r>
            <a:br/>
            <a:r>
              <a:t>- Lack of education</a:t>
            </a:r>
            <a:br/>
            <a:r>
              <a:t>- Social norms</a:t>
            </a:r>
            <a:br/>
            <a:r>
              <a:t>- Inadequate laws</a:t>
            </a:r>
          </a:p>
        </p:txBody>
      </p:sp>
      <p:pic>
        <p:nvPicPr>
          <p:cNvPr id="4" name="Picture 3" descr="file-DVizjTzUYSmUAWeAubQPM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28800"/>
            <a:ext cx="27432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241123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chemeClr val="accent1"/>
                </a:solidFill>
              </a:defRPr>
            </a:pPr>
            <a:r>
              <a:rPr dirty="0"/>
              <a:t>Child </a:t>
            </a:r>
            <a:r>
              <a:rPr dirty="0" err="1"/>
              <a:t>Labour</a:t>
            </a:r>
            <a:r>
              <a:rPr dirty="0"/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>
                <a:solidFill>
                  <a:schemeClr val="tx1"/>
                </a:solidFill>
              </a:defRPr>
            </a:pPr>
            <a:r>
              <a:t>Laws &amp; Interventions:</a:t>
            </a:r>
            <a:br/>
            <a:r>
              <a:t>- Child Labour (Prohibition and Regulation) Act, 1986</a:t>
            </a:r>
            <a:br/>
            <a:r>
              <a:t>- National Child Labour Project (NCLP)</a:t>
            </a:r>
            <a:br/>
            <a:r>
              <a:t>- Right to Education Act</a:t>
            </a:r>
            <a:br/>
            <a:r>
              <a:t>- Role of NGOs and public awareness campaigns</a:t>
            </a:r>
          </a:p>
        </p:txBody>
      </p:sp>
      <p:pic>
        <p:nvPicPr>
          <p:cNvPr id="4" name="Picture 3" descr="file-NCkkuTFsAhcWo53wi1sXdQ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28800"/>
            <a:ext cx="27432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410477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chemeClr val="accent1"/>
                </a:solidFill>
              </a:defRPr>
            </a:pPr>
            <a:r>
              <a:rPr dirty="0"/>
              <a:t>Juvenile Justice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>
                <a:solidFill>
                  <a:schemeClr val="tx1"/>
                </a:solidFill>
              </a:defRPr>
            </a:pPr>
            <a:r>
              <a:t>The Juvenile Justice (Care and Protection of Children) Act, 2015 aims to:</a:t>
            </a:r>
            <a:br/>
            <a:r>
              <a:t>- Provide care, protection, and rehabilitation for children in conflict with the law or in need of care.</a:t>
            </a:r>
            <a:br/>
            <a:r>
              <a:t>- Set up Juvenile Justice Boards and Child Welfare Committees.</a:t>
            </a:r>
          </a:p>
        </p:txBody>
      </p:sp>
      <p:pic>
        <p:nvPicPr>
          <p:cNvPr id="4" name="Picture 3" descr="file-DVizjTzUYSmUAWeAubQPM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28800"/>
            <a:ext cx="27432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43259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chemeClr val="accent1"/>
                </a:solidFill>
              </a:defRPr>
            </a:pPr>
            <a:r>
              <a:rPr dirty="0"/>
              <a:t>Juvenile Justice System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>
                <a:solidFill>
                  <a:schemeClr val="tx1"/>
                </a:solidFill>
              </a:defRPr>
            </a:pPr>
            <a:r>
              <a:t>Key Provisions:</a:t>
            </a:r>
            <a:br/>
            <a:r>
              <a:t>- Children under 18 cannot be tried as adults (exceptions for heinous crimes aged 16-18)</a:t>
            </a:r>
            <a:br/>
            <a:r>
              <a:t>- Emphasis on reform and reintegration</a:t>
            </a:r>
            <a:br/>
            <a:r>
              <a:t>- Prohibition of capital punishment or life imprisonment for juveniles</a:t>
            </a:r>
          </a:p>
        </p:txBody>
      </p:sp>
      <p:pic>
        <p:nvPicPr>
          <p:cNvPr id="4" name="Picture 3" descr="file-NCkkuTFsAhcWo53wi1sXdQ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28800"/>
            <a:ext cx="2743200" cy="3200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Jay Kumar</cp:lastModifiedBy>
  <cp:revision>3</cp:revision>
  <dcterms:created xsi:type="dcterms:W3CDTF">2013-01-27T09:14:16Z</dcterms:created>
  <dcterms:modified xsi:type="dcterms:W3CDTF">2025-05-20T08:02:48Z</dcterms:modified>
  <cp:category/>
</cp:coreProperties>
</file>