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770E"/>
    <a:srgbClr val="D283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141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779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898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2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30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60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70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028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669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540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435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609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0063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144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414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595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F631C-B368-400B-A719-6DDFE5358750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971EDAF-DA03-4F39-9142-216A3C6B9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05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  <p:sldLayoutId id="2147484143" r:id="rId12"/>
    <p:sldLayoutId id="2147484144" r:id="rId13"/>
    <p:sldLayoutId id="2147484145" r:id="rId14"/>
    <p:sldLayoutId id="2147484146" r:id="rId15"/>
    <p:sldLayoutId id="21474841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737A-C8E1-45E7-989D-F2C193F00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733424"/>
            <a:ext cx="9067800" cy="2867025"/>
          </a:xfrm>
        </p:spPr>
        <p:txBody>
          <a:bodyPr/>
          <a:lstStyle/>
          <a:p>
            <a:pPr algn="ctr"/>
            <a:r>
              <a:rPr lang="en-IN" sz="6000" dirty="0">
                <a:solidFill>
                  <a:srgbClr val="BE770E"/>
                </a:solidFill>
                <a:latin typeface="Eras Bold ITC" panose="020B0907030504020204" pitchFamily="34" charset="0"/>
              </a:rPr>
              <a:t>Child Safeguarding Policy</a:t>
            </a:r>
            <a:br>
              <a:rPr lang="en-IN" sz="6000" dirty="0">
                <a:solidFill>
                  <a:srgbClr val="BE770E"/>
                </a:solidFill>
              </a:rPr>
            </a:br>
            <a:r>
              <a:rPr lang="en-GB" sz="2400" b="1" i="1" dirty="0">
                <a:solidFill>
                  <a:srgbClr val="BE770E"/>
                </a:solidFill>
              </a:rPr>
              <a:t>Creating a Safe Environment for Every Child</a:t>
            </a:r>
            <a:endParaRPr lang="en-IN" sz="2400" b="1" i="1" dirty="0">
              <a:solidFill>
                <a:srgbClr val="BE770E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4D26D-2651-45A9-87F8-A0FD9C2999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1946" y="3924301"/>
            <a:ext cx="3645958" cy="2600324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Presented by: Group E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Anushka Ghose (Group Leader) </a:t>
            </a:r>
          </a:p>
          <a:p>
            <a:pPr algn="ctr"/>
            <a:r>
              <a:rPr lang="en-IN" dirty="0" err="1">
                <a:solidFill>
                  <a:schemeClr val="tx1"/>
                </a:solidFill>
              </a:rPr>
              <a:t>Samranggi</a:t>
            </a:r>
            <a:r>
              <a:rPr lang="en-IN" dirty="0">
                <a:solidFill>
                  <a:schemeClr val="tx1"/>
                </a:solidFill>
              </a:rPr>
              <a:t> Biswas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Supriti Das </a:t>
            </a:r>
          </a:p>
          <a:p>
            <a:pPr algn="ctr"/>
            <a:r>
              <a:rPr lang="en-IN" dirty="0" err="1">
                <a:solidFill>
                  <a:schemeClr val="tx1"/>
                </a:solidFill>
              </a:rPr>
              <a:t>Samreen</a:t>
            </a:r>
            <a:r>
              <a:rPr lang="en-IN" dirty="0">
                <a:solidFill>
                  <a:schemeClr val="tx1"/>
                </a:solidFill>
              </a:rPr>
              <a:t> Humaira</a:t>
            </a:r>
          </a:p>
          <a:p>
            <a:pPr algn="ctr"/>
            <a:r>
              <a:rPr lang="en-IN" dirty="0" err="1">
                <a:solidFill>
                  <a:schemeClr val="tx1"/>
                </a:solidFill>
              </a:rPr>
              <a:t>Tanu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Bhutra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698370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C12E-1763-499A-8852-FEEC7867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40" y="482603"/>
            <a:ext cx="8596312" cy="1320800"/>
          </a:xfrm>
        </p:spPr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Table Of Contents</a:t>
            </a:r>
            <a:endParaRPr lang="en-IN" b="1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F494493-2A4D-470E-881E-2C3B38793B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922006"/>
              </p:ext>
            </p:extLst>
          </p:nvPr>
        </p:nvGraphicFramePr>
        <p:xfrm>
          <a:off x="677690" y="1143003"/>
          <a:ext cx="8596312" cy="475296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5410">
                  <a:extLst>
                    <a:ext uri="{9D8B030D-6E8A-4147-A177-3AD203B41FA5}">
                      <a16:colId xmlns:a16="http://schemas.microsoft.com/office/drawing/2014/main" val="3373271660"/>
                    </a:ext>
                  </a:extLst>
                </a:gridCol>
                <a:gridCol w="7330902">
                  <a:extLst>
                    <a:ext uri="{9D8B030D-6E8A-4147-A177-3AD203B41FA5}">
                      <a16:colId xmlns:a16="http://schemas.microsoft.com/office/drawing/2014/main" val="1288689752"/>
                    </a:ext>
                  </a:extLst>
                </a:gridCol>
              </a:tblGrid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 NO.</a:t>
                      </a:r>
                      <a:endParaRPr lang="en-IN" sz="2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IN" sz="2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028566"/>
                  </a:ext>
                </a:extLst>
              </a:tr>
              <a:tr h="53547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Introduction to Child Safeguarding Policy</a:t>
                      </a:r>
                      <a:endParaRPr lang="en-IN" sz="1800" b="0" u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21559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Objectives of the Child Safeguarding Policy</a:t>
                      </a:r>
                      <a:endParaRPr lang="en-IN" sz="1800" b="0" u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910476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Key Principles of Child Safeguarding Policy</a:t>
                      </a:r>
                      <a:endParaRPr lang="en-IN" sz="1800" b="0" u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47989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Behavioural Code for staffs, associates and visitors</a:t>
                      </a:r>
                      <a:endParaRPr lang="en-IN" sz="1800" b="0" u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128896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Roles and Responsibilities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484110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Reporting and Responding to Concerns</a:t>
                      </a:r>
                      <a:endParaRPr lang="en-IN" sz="1800" b="0" u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221378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Conclusion and Commitment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351524"/>
                  </a:ext>
                </a:extLst>
              </a:tr>
              <a:tr h="52718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Acknowledgements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741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27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305D-9B50-4C36-9ED2-310479AA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411947"/>
            <a:ext cx="8686800" cy="1293028"/>
          </a:xfrm>
        </p:spPr>
        <p:txBody>
          <a:bodyPr>
            <a:noAutofit/>
          </a:bodyPr>
          <a:lstStyle/>
          <a:p>
            <a:r>
              <a:rPr lang="en-GB" b="1" u="sng" dirty="0">
                <a:solidFill>
                  <a:srgbClr val="BE770E"/>
                </a:solidFill>
                <a:latin typeface="Berlin Sans FB Demi" panose="020E0802020502020306" pitchFamily="34" charset="0"/>
              </a:rPr>
              <a:t>Introduction to Child Safeguarding Policy</a:t>
            </a:r>
            <a:endParaRPr lang="en-IN" b="1" u="sng" dirty="0">
              <a:solidFill>
                <a:srgbClr val="BE770E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57A13-982A-4222-94FA-0F1A86EA2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483" y="1228725"/>
            <a:ext cx="8554608" cy="2828926"/>
          </a:xfrm>
        </p:spPr>
        <p:txBody>
          <a:bodyPr/>
          <a:lstStyle/>
          <a:p>
            <a:pPr marL="0" indent="0" algn="just">
              <a:buNone/>
            </a:pP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A Child Safeguarding Policy protects children from abuse, neglect, exploitation, and violence.</a:t>
            </a:r>
          </a:p>
          <a:p>
            <a:pPr marL="0" indent="0" algn="just">
              <a:buNone/>
            </a:pP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Provides guidelines, roles, and responsibilities for staff, interns, volunteers, and partners.</a:t>
            </a:r>
          </a:p>
          <a:p>
            <a:pPr marL="0" indent="0" algn="just">
              <a:buNone/>
            </a:pP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CRY's policy is based on the UNCRC, Indian Constitution, and upholds Zero Tolerance for any form of child abuse.</a:t>
            </a:r>
          </a:p>
          <a:p>
            <a:pPr marL="0" indent="0" algn="just">
              <a:buNone/>
            </a:pP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Applies to all individuals interacting with children in any CRY-supported space.</a:t>
            </a:r>
          </a:p>
          <a:p>
            <a:pPr marL="0" indent="0" algn="just">
              <a:buNone/>
            </a:pPr>
            <a:endParaRPr lang="en-IN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3BF351-0CCE-47AE-A83C-E13CD08253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86"/>
          <a:stretch/>
        </p:blipFill>
        <p:spPr>
          <a:xfrm>
            <a:off x="683484" y="4057651"/>
            <a:ext cx="2421666" cy="20342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A29276-8802-4F02-B845-D37ABD0B1F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05"/>
          <a:stretch/>
        </p:blipFill>
        <p:spPr>
          <a:xfrm>
            <a:off x="3735235" y="4057651"/>
            <a:ext cx="2527797" cy="20342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77DA50-DB4B-4ABA-B040-CA29C256E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117" y="4049377"/>
            <a:ext cx="2087605" cy="20425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4949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0631-F875-4AF8-AD3F-9059C2E8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42925"/>
            <a:ext cx="8997777" cy="1038225"/>
          </a:xfrm>
        </p:spPr>
        <p:txBody>
          <a:bodyPr>
            <a:normAutofit fontScale="90000"/>
          </a:bodyPr>
          <a:lstStyle/>
          <a:p>
            <a:r>
              <a:rPr lang="en-GB" b="1" u="sng" dirty="0">
                <a:solidFill>
                  <a:srgbClr val="BE770E"/>
                </a:solidFill>
              </a:rPr>
              <a:t>Objectives of the Child Safeguarding Policy</a:t>
            </a:r>
            <a:endParaRPr lang="en-IN" b="1" u="sng" dirty="0">
              <a:solidFill>
                <a:srgbClr val="BE770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AEBF7-781C-4DE6-9114-A1652EA83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1581150"/>
            <a:ext cx="4371974" cy="432435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Reinforce CRY’s commitment to protecting children from all harm.</a:t>
            </a:r>
          </a:p>
          <a:p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Ensure the dignity, welfare, and safety of children in all programs.</a:t>
            </a:r>
          </a:p>
          <a:p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Provide a clear Code of Conduct for all representatives.</a:t>
            </a:r>
          </a:p>
          <a:p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Establish confidential and safe reporting systems.</a:t>
            </a:r>
          </a:p>
          <a:p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Empower everyone to prevent, recognize, and respond to child abuse.</a:t>
            </a:r>
            <a:endParaRPr lang="en-IN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35A6-C510-441E-94AF-DE167F08E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340" y="1322330"/>
            <a:ext cx="4425285" cy="14043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D7500D-1058-4507-80D0-27EE95BA8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064" y="5209379"/>
            <a:ext cx="4371974" cy="10284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853D7E-C1CF-468E-87CA-E1E9933E8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064" y="2726718"/>
            <a:ext cx="4286250" cy="23655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6885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9F10-C7BE-45F8-B898-00403DDA8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609600"/>
            <a:ext cx="8940627" cy="923925"/>
          </a:xfrm>
        </p:spPr>
        <p:txBody>
          <a:bodyPr>
            <a:normAutofit/>
          </a:bodyPr>
          <a:lstStyle/>
          <a:p>
            <a:r>
              <a:rPr lang="en-GB" b="1" u="sng" dirty="0">
                <a:solidFill>
                  <a:srgbClr val="BE770E"/>
                </a:solidFill>
                <a:latin typeface="Berlin Sans FB Demi" panose="020E0802020502020306" pitchFamily="34" charset="0"/>
              </a:rPr>
              <a:t>Key Principles of Child Safeguarding Policy</a:t>
            </a:r>
            <a:endParaRPr lang="en-IN" b="1" u="sng" dirty="0">
              <a:solidFill>
                <a:srgbClr val="BE770E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C1CBD-2761-455B-A817-ADCB75674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5" y="1714500"/>
            <a:ext cx="4943474" cy="4876800"/>
          </a:xfrm>
        </p:spPr>
        <p:txBody>
          <a:bodyPr>
            <a:normAutofit/>
          </a:bodyPr>
          <a:lstStyle/>
          <a:p>
            <a:pPr marL="400050" indent="-400050" algn="just">
              <a:buFont typeface="+mj-lt"/>
              <a:buAutoNum type="romanUcPeriod"/>
            </a:pPr>
            <a:r>
              <a:rPr lang="en-GB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Treat all children equally: 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Respect every child and listen to them, no matter their background.</a:t>
            </a:r>
          </a:p>
          <a:p>
            <a:pPr marL="400050" indent="-400050" algn="just">
              <a:buFont typeface="+mj-lt"/>
              <a:buAutoNum type="romanUcPeriod"/>
            </a:pPr>
            <a:r>
              <a:rPr lang="en-GB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Act in the child’s best interest: 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Always make decisions that are best for the child’s safety and well-being.</a:t>
            </a:r>
          </a:p>
          <a:p>
            <a:pPr marL="400050" indent="-400050" algn="just">
              <a:buFont typeface="+mj-lt"/>
              <a:buAutoNum type="romanUcPeriod"/>
            </a:pPr>
            <a:r>
              <a:rPr lang="en-GB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Let children share their views: 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Give children a chance to express themselves freely in classrooms and in decisions about their lives.</a:t>
            </a:r>
          </a:p>
          <a:p>
            <a:pPr marL="400050" indent="-400050" algn="just">
              <a:buFont typeface="+mj-lt"/>
              <a:buAutoNum type="romanUcPeriod"/>
            </a:pPr>
            <a:r>
              <a:rPr lang="en-GB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Zero tolerance for child abuse: 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Any kind of abuse is completely unacceptable.</a:t>
            </a:r>
            <a:endParaRPr lang="en-IN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97551-3B4C-424B-8F32-95481C733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69" y="4152900"/>
            <a:ext cx="1844729" cy="19060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2E4245-AADD-4E69-BA66-D3920374B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419225"/>
            <a:ext cx="2626868" cy="2486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6210489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8780B-A5BF-4E32-A2D7-DE98E4F78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552448"/>
            <a:ext cx="9410699" cy="1066800"/>
          </a:xfrm>
        </p:spPr>
        <p:txBody>
          <a:bodyPr>
            <a:noAutofit/>
          </a:bodyPr>
          <a:lstStyle/>
          <a:p>
            <a:pPr algn="ctr"/>
            <a:r>
              <a:rPr lang="en-GB" sz="3200" b="1" u="sng" dirty="0">
                <a:solidFill>
                  <a:srgbClr val="BE770E"/>
                </a:solidFill>
              </a:rPr>
              <a:t>Behavioural Code for staffs, associates and visitors</a:t>
            </a:r>
            <a:endParaRPr lang="en-IN" sz="3200" b="1" u="sng" dirty="0">
              <a:solidFill>
                <a:srgbClr val="BE770E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C25C0D6-B969-4C76-A047-E48F0FD5B8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808902"/>
              </p:ext>
            </p:extLst>
          </p:nvPr>
        </p:nvGraphicFramePr>
        <p:xfrm>
          <a:off x="695149" y="2112961"/>
          <a:ext cx="8496475" cy="318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3448">
                  <a:extLst>
                    <a:ext uri="{9D8B030D-6E8A-4147-A177-3AD203B41FA5}">
                      <a16:colId xmlns:a16="http://schemas.microsoft.com/office/drawing/2014/main" val="3455081900"/>
                    </a:ext>
                  </a:extLst>
                </a:gridCol>
                <a:gridCol w="4253027">
                  <a:extLst>
                    <a:ext uri="{9D8B030D-6E8A-4147-A177-3AD203B41FA5}">
                      <a16:colId xmlns:a16="http://schemas.microsoft.com/office/drawing/2014/main" val="1147973429"/>
                    </a:ext>
                  </a:extLst>
                </a:gridCol>
              </a:tblGrid>
              <a:tr h="49887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Do's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Don'ts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57023"/>
                  </a:ext>
                </a:extLst>
              </a:tr>
              <a:tr h="812086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Bahnschrift SemiLight" panose="020B0502040204020203" pitchFamily="34" charset="0"/>
                        </a:rPr>
                        <a:t>Respect the privacy &amp; dignity of every child.</a:t>
                      </a: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Bahnschrift SemiLight" panose="020B0502040204020203" pitchFamily="34" charset="0"/>
                        </a:rPr>
                        <a:t>Do not abuse, hit, or harm any child in any way.</a:t>
                      </a: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183656"/>
                  </a:ext>
                </a:extLst>
              </a:tr>
              <a:tr h="935991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Bahnschrift SemiLight" panose="020B0502040204020203" pitchFamily="34" charset="0"/>
                        </a:rPr>
                        <a:t>Make proactive efforts for ensuring safety of children</a:t>
                      </a: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Bahnschrift SemiLight" panose="020B0502040204020203" pitchFamily="34" charset="0"/>
                        </a:rPr>
                        <a:t>Do not engage in behaviour that is sexually inappropriate, offensive, or provocative.</a:t>
                      </a: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169296"/>
                  </a:ext>
                </a:extLst>
              </a:tr>
              <a:tr h="935991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Bahnschrift SemiLight" panose="020B0502040204020203" pitchFamily="34" charset="0"/>
                        </a:rPr>
                        <a:t>Always seek informed consent from children &amp; their guardians before taking interviews, photos, or videos.</a:t>
                      </a: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Bahnschrift SemiLight" panose="020B0502040204020203" pitchFamily="34" charset="0"/>
                        </a:rPr>
                        <a:t>Do not disclose the identity and /or personal information of children.</a:t>
                      </a:r>
                      <a:endParaRPr lang="en-IN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019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20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B215-DD72-4BB3-9BBA-F25ED0006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6" y="326225"/>
            <a:ext cx="5943600" cy="1016801"/>
          </a:xfrm>
        </p:spPr>
        <p:txBody>
          <a:bodyPr>
            <a:normAutofit/>
          </a:bodyPr>
          <a:lstStyle/>
          <a:p>
            <a:r>
              <a:rPr lang="en-IN" sz="4000" b="1" u="sng" dirty="0">
                <a:solidFill>
                  <a:srgbClr val="BE770E"/>
                </a:solidFill>
                <a:latin typeface="Berlin Sans FB Demi" panose="020E0802020502020306" pitchFamily="34" charset="0"/>
              </a:rPr>
              <a:t>Roles and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19000-5339-4602-B980-F006B6A9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28725"/>
            <a:ext cx="9067800" cy="53244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Directors / Functional Heads / Program Heads: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that representatives are aware of CRY’s commitment to preventing child abuse and exploitation.</a:t>
            </a:r>
          </a:p>
          <a:p>
            <a:pPr marL="0" indent="0" algn="just">
              <a:buNone/>
            </a:pP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HR Function: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that all representatives read, sign, and abide by CRY’s Child Safeguarding Policy and Code of Conduct.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policy breaches and take appropriate disciplinary action if required, as per CRY’s procedures.</a:t>
            </a:r>
          </a:p>
          <a:p>
            <a:pPr marL="0" indent="0" algn="just">
              <a:buNone/>
            </a:pPr>
            <a:endParaRPr lang="en-GB" sz="1600" dirty="0">
              <a:solidFill>
                <a:schemeClr val="tx1"/>
              </a:solidFill>
              <a:latin typeface="Bahnschrift SemiLigh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9E8F2C-4376-4AE9-BC22-772572E91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76" y="3890962"/>
            <a:ext cx="3277474" cy="25622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8792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141EA-2906-4374-BABB-5CC07B6A7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400050"/>
            <a:ext cx="8961967" cy="56959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Management: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and implement CRY’s Standard Operating Procedures (SOPs) in line with local laws.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Appoint a Designated Authority (DA) as a focal point to oversee implementation and monitoring of CRY’s child protection systems.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that CRY’s reporting and response mechanisms are functional and effective.</a:t>
            </a:r>
            <a:endParaRPr lang="en-GB" sz="1600" b="1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 marL="0" indent="0" algn="just">
              <a:buNone/>
            </a:pP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4. Staff &amp; Associates: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Be fully aware of and comply with CRY’s child safeguarding procedures.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Ensure informed consent is obtained before collecting children’s images, and respect children’s dignity and privacy in alignment with CRY’s values.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Participate in training and empower themselves regarding CRY’s child protection mechanisms.</a:t>
            </a:r>
          </a:p>
          <a:p>
            <a:pPr marL="0" indent="0" algn="just">
              <a:buNone/>
            </a:pP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5. General Representatives: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Report any suspected or known abuse within 24 hours using proper documentation as per CRY’s guidelines.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Cooperate in CRY’s investigations and ensure confidentiality is maintained.</a:t>
            </a:r>
          </a:p>
          <a:p>
            <a:pPr algn="just"/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Do not share personal information about children unless legally required, in line with CRY’s data protection standards.</a:t>
            </a:r>
            <a:endParaRPr lang="en-IN" sz="1600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091532"/>
      </p:ext>
    </p:extLst>
  </p:cSld>
  <p:clrMapOvr>
    <a:masterClrMapping/>
  </p:clrMapOvr>
  <p:transition spd="slow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99C0-FF34-45C5-9B24-13E38967D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259" y="352425"/>
            <a:ext cx="8596668" cy="1019175"/>
          </a:xfrm>
        </p:spPr>
        <p:txBody>
          <a:bodyPr/>
          <a:lstStyle/>
          <a:p>
            <a:r>
              <a:rPr lang="en-GB" b="1" u="sng" dirty="0">
                <a:solidFill>
                  <a:srgbClr val="BE770E"/>
                </a:solidFill>
                <a:latin typeface="Berlin Sans FB Demi" panose="020E0802020502020306" pitchFamily="34" charset="0"/>
              </a:rPr>
              <a:t>Reporting and Responding to Concerns</a:t>
            </a:r>
            <a:endParaRPr lang="en-IN" b="1" u="sng" dirty="0">
              <a:solidFill>
                <a:srgbClr val="BE770E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BB0DD-3869-49BB-BF84-DDA1247E6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68" y="1284289"/>
            <a:ext cx="5818716" cy="50117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600" b="1" u="sng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Reporting Responsibilities</a:t>
            </a: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: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All CRY staff and associates must report any suspicion of child abuse within 24 hours.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Reports go to the Designated Authority (DA), HR Director, or CEO.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Reports must be documented clearly: time, place, people involved, and what happened.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Confidentiality is critical – information is shared only on a need-to-know basis.</a:t>
            </a:r>
          </a:p>
          <a:p>
            <a:pPr marL="0" indent="0">
              <a:buNone/>
            </a:pPr>
            <a:endParaRPr lang="en-GB" sz="1600" b="1" u="sng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r>
              <a:rPr lang="en-GB" sz="1600" b="1" u="sng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Responding to Reports</a:t>
            </a:r>
            <a:r>
              <a:rPr lang="en-GB" sz="16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: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CRY will act within 48 hours to support and protect the child.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Investigations will be confidential, impartial, and thorough.</a:t>
            </a:r>
          </a:p>
          <a:p>
            <a:r>
              <a:rPr lang="en-GB" sz="16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Violations may lead to disciplinary action or legal steps as per policy and law.</a:t>
            </a:r>
            <a:endParaRPr lang="en-IN" sz="1600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1A3BC-BCBA-494F-9A88-979694CF4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853" y="1286636"/>
            <a:ext cx="2527183" cy="21423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9233E7-4F49-4CAE-B574-1F515A309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853" y="3896487"/>
            <a:ext cx="2527183" cy="21423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8875519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DE49B-CE18-4F00-A281-66071038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918" y="390525"/>
            <a:ext cx="8596668" cy="885825"/>
          </a:xfrm>
        </p:spPr>
        <p:txBody>
          <a:bodyPr/>
          <a:lstStyle/>
          <a:p>
            <a:pPr algn="ctr"/>
            <a:r>
              <a:rPr lang="en-IN" b="1" u="sng" dirty="0">
                <a:solidFill>
                  <a:srgbClr val="BE770E"/>
                </a:solidFill>
              </a:rPr>
              <a:t>Conclusion and Commitment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9CD74-9925-4EB8-A105-57A5A8B09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918" y="1200151"/>
            <a:ext cx="8596668" cy="4886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4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CRY’s Commitment: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CRY believes that child safeguarding is everyone’s responsibility – staff, volunteers, interns, visitors, and partners.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All representatives must read, sign, and follow CRY’s Child Safeguarding Policy and Code of Conduct.</a:t>
            </a:r>
          </a:p>
          <a:p>
            <a:pPr marL="0" indent="0">
              <a:buNone/>
            </a:pPr>
            <a:endParaRPr lang="en-GB" sz="1400" b="1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r>
              <a:rPr lang="en-GB" sz="14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Safeguarding is a shared responsibility, it includes: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Being aware of and committed to preventing child abuse, exploitation, and neglect.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Following CRY’s SOPs, protection mechanisms, and legal obligations at all times.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Promoting a safe and respectful environment where children can speak freely and are treated with dignity.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Identifying and managing risks proactively in all child-accessed spaces.</a:t>
            </a:r>
          </a:p>
          <a:p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Upholding the highest standards of behaviour toward children both professionally and personally.</a:t>
            </a:r>
          </a:p>
          <a:p>
            <a:pPr marL="0" indent="0">
              <a:buNone/>
            </a:pPr>
            <a:endParaRPr lang="en-GB" sz="1400" b="1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r>
              <a:rPr lang="en-GB" sz="14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Key Message: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Safeguarding is not optional — it is an organizational value, a legal obligation, and a collective duty.</a:t>
            </a:r>
            <a:endParaRPr lang="en-IN" sz="1400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69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E2F46-5C4A-4C0D-B2FF-B92DDD4C9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9537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rgbClr val="BE770E"/>
                </a:solidFill>
                <a:latin typeface="Franklin Gothic Heavy" panose="020B0903020102020204" pitchFamily="34" charset="0"/>
              </a:rPr>
              <a:t> </a:t>
            </a:r>
            <a:r>
              <a:rPr lang="en-IN" sz="4000" u="sng" dirty="0">
                <a:solidFill>
                  <a:srgbClr val="BE770E"/>
                </a:solidFill>
                <a:latin typeface="Franklin Gothic Heavy" panose="020B0903020102020204" pitchFamily="34" charset="0"/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905BD-6A95-4717-8067-7B9C2B54C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859" y="1605628"/>
            <a:ext cx="8596668" cy="388077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Bahnschrift SemiLight" panose="020B0502040204020203" pitchFamily="34" charset="0"/>
              </a:rPr>
              <a:t>Supriti Das: 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Responsible for the </a:t>
            </a:r>
            <a:r>
              <a:rPr lang="en-IN" dirty="0">
                <a:solidFill>
                  <a:schemeClr val="tx1"/>
                </a:solidFill>
                <a:latin typeface="Bahnschrift SemiLight" panose="020B0502040204020203" pitchFamily="34" charset="0"/>
              </a:rPr>
              <a:t>Overall Presentation Preparation.</a:t>
            </a:r>
            <a:endParaRPr lang="en-GB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Anushka Ghose: Researcher (Slides 5, 6, 7) and Presenter (Slides 5, 6).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1"/>
                </a:solidFill>
                <a:latin typeface="Bahnschrift SemiLight" panose="020B0502040204020203" pitchFamily="34" charset="0"/>
              </a:rPr>
              <a:t>Samreen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 Humaira: Researcher (Slides 3, 4) and Presenter (Slides 1, 3, 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1"/>
                </a:solidFill>
                <a:latin typeface="Bahnschrift SemiLight" panose="020B0502040204020203" pitchFamily="34" charset="0"/>
              </a:rPr>
              <a:t>Tanu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Bahnschrift SemiLight" panose="020B0502040204020203" pitchFamily="34" charset="0"/>
              </a:rPr>
              <a:t>Bhutra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: Reviewer and Editor (Slide 7, 8) and Presenter (Slide 7, 8).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1"/>
                </a:solidFill>
                <a:latin typeface="Bahnschrift SemiLight" panose="020B0502040204020203" pitchFamily="34" charset="0"/>
              </a:rPr>
              <a:t>Samranggi</a:t>
            </a: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 Biswas: Researcher (Slides 9, 10) and Presenter (Slides 9, 10).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Bahnschrift SemiLight" panose="020B0502040204020203" pitchFamily="34" charset="0"/>
              </a:rPr>
              <a:t>Special thanks to CRY for providing us the opportunity to work on this project.</a:t>
            </a:r>
            <a:endParaRPr lang="en-IN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283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611</TotalTime>
  <Words>978</Words>
  <Application>Microsoft Office PowerPoint</Application>
  <PresentationFormat>Widescreen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Arial Black</vt:lpstr>
      <vt:lpstr>Bahnschrift SemiLight</vt:lpstr>
      <vt:lpstr>Berlin Sans FB Demi</vt:lpstr>
      <vt:lpstr>Calibri</vt:lpstr>
      <vt:lpstr>Eras Bold ITC</vt:lpstr>
      <vt:lpstr>Franklin Gothic Heavy</vt:lpstr>
      <vt:lpstr>Trebuchet MS</vt:lpstr>
      <vt:lpstr>Wingdings 3</vt:lpstr>
      <vt:lpstr>Facet</vt:lpstr>
      <vt:lpstr>Child Safeguarding Policy Creating a Safe Environment for Every Child</vt:lpstr>
      <vt:lpstr>Table Of Contents</vt:lpstr>
      <vt:lpstr>Introduction to Child Safeguarding Policy</vt:lpstr>
      <vt:lpstr>Objectives of the Child Safeguarding Policy</vt:lpstr>
      <vt:lpstr>Key Principles of Child Safeguarding Policy</vt:lpstr>
      <vt:lpstr>Behavioural Code for staffs, associates and visitors</vt:lpstr>
      <vt:lpstr>Roles and Responsibilities</vt:lpstr>
      <vt:lpstr>PowerPoint Presentation</vt:lpstr>
      <vt:lpstr>Reporting and Responding to Concerns</vt:lpstr>
      <vt:lpstr>Conclusion and Commitment</vt:lpstr>
      <vt:lpstr> 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MOULIK DAS</dc:creator>
  <cp:lastModifiedBy>MOULIK DAS</cp:lastModifiedBy>
  <cp:revision>47</cp:revision>
  <dcterms:created xsi:type="dcterms:W3CDTF">2025-06-23T05:38:58Z</dcterms:created>
  <dcterms:modified xsi:type="dcterms:W3CDTF">2025-06-25T13:36:04Z</dcterms:modified>
</cp:coreProperties>
</file>