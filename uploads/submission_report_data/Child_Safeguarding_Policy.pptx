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 /><Relationship Id="rId2" Type="http://schemas.openxmlformats.org/package/2006/relationships/metadata/thumbnail" Target="docProps/thumbnail.jpeg" /><Relationship Id="rId1" Type="http://schemas.openxmlformats.org/officeDocument/2006/relationships/officeDocument" Target="ppt/presentation.xml" /><Relationship Id="rId4" Type="http://schemas.openxmlformats.org/officeDocument/2006/relationships/extended-properties" Target="docProps/app.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8" r:id="rId2"/>
    <p:sldId id="266" r:id="rId3"/>
    <p:sldId id="267" r:id="rId4"/>
    <p:sldId id="263" r:id="rId5"/>
    <p:sldId id="264" r:id="rId6"/>
    <p:sldId id="261" r:id="rId7"/>
    <p:sldId id="265" r:id="rId8"/>
    <p:sldId id="260" r:id="rId9"/>
    <p:sldId id="259" r:id="rId1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76" d="100"/>
          <a:sy n="76" d="100"/>
        </p:scale>
        <p:origin x="946" y="5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 /><Relationship Id="rId13" Type="http://schemas.openxmlformats.org/officeDocument/2006/relationships/theme" Target="theme/theme1.xml" /><Relationship Id="rId3" Type="http://schemas.openxmlformats.org/officeDocument/2006/relationships/slide" Target="slides/slide2.xml" /><Relationship Id="rId7" Type="http://schemas.openxmlformats.org/officeDocument/2006/relationships/slide" Target="slides/slide6.xml" /><Relationship Id="rId12" Type="http://schemas.openxmlformats.org/officeDocument/2006/relationships/viewProps" Target="viewProps.xml" /><Relationship Id="rId2" Type="http://schemas.openxmlformats.org/officeDocument/2006/relationships/slide" Target="slides/slide1.xml" /><Relationship Id="rId1" Type="http://schemas.openxmlformats.org/officeDocument/2006/relationships/slideMaster" Target="slideMasters/slideMaster1.xml" /><Relationship Id="rId6" Type="http://schemas.openxmlformats.org/officeDocument/2006/relationships/slide" Target="slides/slide5.xml" /><Relationship Id="rId11" Type="http://schemas.openxmlformats.org/officeDocument/2006/relationships/presProps" Target="presProps.xml" /><Relationship Id="rId5" Type="http://schemas.openxmlformats.org/officeDocument/2006/relationships/slide" Target="slides/slide4.xml" /><Relationship Id="rId10" Type="http://schemas.openxmlformats.org/officeDocument/2006/relationships/slide" Target="slides/slide9.xml" /><Relationship Id="rId4" Type="http://schemas.openxmlformats.org/officeDocument/2006/relationships/slide" Target="slides/slide3.xml" /><Relationship Id="rId9" Type="http://schemas.openxmlformats.org/officeDocument/2006/relationships/slide" Target="slides/slide8.xml" /><Relationship Id="rId14" Type="http://schemas.openxmlformats.org/officeDocument/2006/relationships/tableStyles" Target="tableStyles.xml" /></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8ABA62-954E-E00A-576F-ABA55D9C5FAD}"/>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FBA94CA8-DFD0-F225-1871-D24E8C9E49C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A21FDDD0-4B9F-3E6D-4148-5C53B3B89EA5}"/>
              </a:ext>
            </a:extLst>
          </p:cNvPr>
          <p:cNvSpPr>
            <a:spLocks noGrp="1"/>
          </p:cNvSpPr>
          <p:nvPr>
            <p:ph type="dt" sz="half" idx="10"/>
          </p:nvPr>
        </p:nvSpPr>
        <p:spPr/>
        <p:txBody>
          <a:bodyPr/>
          <a:lstStyle/>
          <a:p>
            <a:fld id="{78235042-D265-404F-9DFA-385D41407F57}" type="datetimeFigureOut">
              <a:rPr lang="en-IN" smtClean="0"/>
              <a:t>28-06-2025</a:t>
            </a:fld>
            <a:endParaRPr lang="en-IN"/>
          </a:p>
        </p:txBody>
      </p:sp>
      <p:sp>
        <p:nvSpPr>
          <p:cNvPr id="5" name="Footer Placeholder 4">
            <a:extLst>
              <a:ext uri="{FF2B5EF4-FFF2-40B4-BE49-F238E27FC236}">
                <a16:creationId xmlns:a16="http://schemas.microsoft.com/office/drawing/2014/main" id="{AB0B39EF-BBBD-6721-4776-24D211FEF20C}"/>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48F1EFCA-57A6-465C-160D-834C1470836E}"/>
              </a:ext>
            </a:extLst>
          </p:cNvPr>
          <p:cNvSpPr>
            <a:spLocks noGrp="1"/>
          </p:cNvSpPr>
          <p:nvPr>
            <p:ph type="sldNum" sz="quarter" idx="12"/>
          </p:nvPr>
        </p:nvSpPr>
        <p:spPr/>
        <p:txBody>
          <a:bodyPr/>
          <a:lstStyle/>
          <a:p>
            <a:fld id="{7ED38ABA-946C-45EE-A658-59F6742088C4}" type="slidenum">
              <a:rPr lang="en-IN" smtClean="0"/>
              <a:t>‹#›</a:t>
            </a:fld>
            <a:endParaRPr lang="en-IN"/>
          </a:p>
        </p:txBody>
      </p:sp>
    </p:spTree>
    <p:extLst>
      <p:ext uri="{BB962C8B-B14F-4D97-AF65-F5344CB8AC3E}">
        <p14:creationId xmlns:p14="http://schemas.microsoft.com/office/powerpoint/2010/main" val="57559937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6D1531-B41A-B91E-7345-DB6D16DFEBB2}"/>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11049E0C-8F86-04D0-21DB-80BF30EA20F8}"/>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1AFC7955-0838-A5A5-F55E-7E09D1A01CC3}"/>
              </a:ext>
            </a:extLst>
          </p:cNvPr>
          <p:cNvSpPr>
            <a:spLocks noGrp="1"/>
          </p:cNvSpPr>
          <p:nvPr>
            <p:ph type="dt" sz="half" idx="10"/>
          </p:nvPr>
        </p:nvSpPr>
        <p:spPr/>
        <p:txBody>
          <a:bodyPr/>
          <a:lstStyle/>
          <a:p>
            <a:fld id="{78235042-D265-404F-9DFA-385D41407F57}" type="datetimeFigureOut">
              <a:rPr lang="en-IN" smtClean="0"/>
              <a:t>28-06-2025</a:t>
            </a:fld>
            <a:endParaRPr lang="en-IN"/>
          </a:p>
        </p:txBody>
      </p:sp>
      <p:sp>
        <p:nvSpPr>
          <p:cNvPr id="5" name="Footer Placeholder 4">
            <a:extLst>
              <a:ext uri="{FF2B5EF4-FFF2-40B4-BE49-F238E27FC236}">
                <a16:creationId xmlns:a16="http://schemas.microsoft.com/office/drawing/2014/main" id="{2DAE2DFE-A1B0-4696-990B-603B5703FD6E}"/>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C433F54B-6520-46FD-2783-57D6F8A18FF0}"/>
              </a:ext>
            </a:extLst>
          </p:cNvPr>
          <p:cNvSpPr>
            <a:spLocks noGrp="1"/>
          </p:cNvSpPr>
          <p:nvPr>
            <p:ph type="sldNum" sz="quarter" idx="12"/>
          </p:nvPr>
        </p:nvSpPr>
        <p:spPr/>
        <p:txBody>
          <a:bodyPr/>
          <a:lstStyle/>
          <a:p>
            <a:fld id="{7ED38ABA-946C-45EE-A658-59F6742088C4}" type="slidenum">
              <a:rPr lang="en-IN" smtClean="0"/>
              <a:t>‹#›</a:t>
            </a:fld>
            <a:endParaRPr lang="en-IN"/>
          </a:p>
        </p:txBody>
      </p:sp>
    </p:spTree>
    <p:extLst>
      <p:ext uri="{BB962C8B-B14F-4D97-AF65-F5344CB8AC3E}">
        <p14:creationId xmlns:p14="http://schemas.microsoft.com/office/powerpoint/2010/main" val="87350674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5536A1-9340-177D-1502-1BF6AD830349}"/>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BA969ED8-4159-92A2-F60D-3A1098EBF6E1}"/>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C9BFA8BD-7A9D-024F-B568-651100C5A497}"/>
              </a:ext>
            </a:extLst>
          </p:cNvPr>
          <p:cNvSpPr>
            <a:spLocks noGrp="1"/>
          </p:cNvSpPr>
          <p:nvPr>
            <p:ph type="dt" sz="half" idx="10"/>
          </p:nvPr>
        </p:nvSpPr>
        <p:spPr/>
        <p:txBody>
          <a:bodyPr/>
          <a:lstStyle/>
          <a:p>
            <a:fld id="{78235042-D265-404F-9DFA-385D41407F57}" type="datetimeFigureOut">
              <a:rPr lang="en-IN" smtClean="0"/>
              <a:t>28-06-2025</a:t>
            </a:fld>
            <a:endParaRPr lang="en-IN"/>
          </a:p>
        </p:txBody>
      </p:sp>
      <p:sp>
        <p:nvSpPr>
          <p:cNvPr id="5" name="Footer Placeholder 4">
            <a:extLst>
              <a:ext uri="{FF2B5EF4-FFF2-40B4-BE49-F238E27FC236}">
                <a16:creationId xmlns:a16="http://schemas.microsoft.com/office/drawing/2014/main" id="{5E093DBF-ACD0-29D4-AF09-2CB133835FB2}"/>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2BA09A4F-132C-E50E-A635-8C52EC1D4349}"/>
              </a:ext>
            </a:extLst>
          </p:cNvPr>
          <p:cNvSpPr>
            <a:spLocks noGrp="1"/>
          </p:cNvSpPr>
          <p:nvPr>
            <p:ph type="sldNum" sz="quarter" idx="12"/>
          </p:nvPr>
        </p:nvSpPr>
        <p:spPr/>
        <p:txBody>
          <a:bodyPr/>
          <a:lstStyle/>
          <a:p>
            <a:fld id="{7ED38ABA-946C-45EE-A658-59F6742088C4}" type="slidenum">
              <a:rPr lang="en-IN" smtClean="0"/>
              <a:t>‹#›</a:t>
            </a:fld>
            <a:endParaRPr lang="en-IN"/>
          </a:p>
        </p:txBody>
      </p:sp>
    </p:spTree>
    <p:extLst>
      <p:ext uri="{BB962C8B-B14F-4D97-AF65-F5344CB8AC3E}">
        <p14:creationId xmlns:p14="http://schemas.microsoft.com/office/powerpoint/2010/main" val="122011091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859816-955D-FF14-ADF1-8034551BED9E}"/>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C1C8FF8C-E67C-9B03-FE6E-0857A9ABFBF8}"/>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67B9154D-BB57-2105-5D34-C54FA8C55310}"/>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85BF0025-AE1C-4EFD-ACEF-4EB205BBA3F9}"/>
              </a:ext>
            </a:extLst>
          </p:cNvPr>
          <p:cNvSpPr>
            <a:spLocks noGrp="1"/>
          </p:cNvSpPr>
          <p:nvPr>
            <p:ph type="dt" sz="half" idx="10"/>
          </p:nvPr>
        </p:nvSpPr>
        <p:spPr/>
        <p:txBody>
          <a:bodyPr/>
          <a:lstStyle/>
          <a:p>
            <a:fld id="{78235042-D265-404F-9DFA-385D41407F57}" type="datetimeFigureOut">
              <a:rPr lang="en-IN" smtClean="0"/>
              <a:t>28-06-2025</a:t>
            </a:fld>
            <a:endParaRPr lang="en-IN"/>
          </a:p>
        </p:txBody>
      </p:sp>
      <p:sp>
        <p:nvSpPr>
          <p:cNvPr id="6" name="Footer Placeholder 5">
            <a:extLst>
              <a:ext uri="{FF2B5EF4-FFF2-40B4-BE49-F238E27FC236}">
                <a16:creationId xmlns:a16="http://schemas.microsoft.com/office/drawing/2014/main" id="{5BABE5E1-1E5C-ACBF-3663-4A2B48451942}"/>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202E582A-CDB5-C13C-09DF-D2C762DA3142}"/>
              </a:ext>
            </a:extLst>
          </p:cNvPr>
          <p:cNvSpPr>
            <a:spLocks noGrp="1"/>
          </p:cNvSpPr>
          <p:nvPr>
            <p:ph type="sldNum" sz="quarter" idx="12"/>
          </p:nvPr>
        </p:nvSpPr>
        <p:spPr/>
        <p:txBody>
          <a:bodyPr/>
          <a:lstStyle/>
          <a:p>
            <a:fld id="{7ED38ABA-946C-45EE-A658-59F6742088C4}" type="slidenum">
              <a:rPr lang="en-IN" smtClean="0"/>
              <a:t>‹#›</a:t>
            </a:fld>
            <a:endParaRPr lang="en-IN"/>
          </a:p>
        </p:txBody>
      </p:sp>
    </p:spTree>
    <p:extLst>
      <p:ext uri="{BB962C8B-B14F-4D97-AF65-F5344CB8AC3E}">
        <p14:creationId xmlns:p14="http://schemas.microsoft.com/office/powerpoint/2010/main" val="275991237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BDF5CB-940B-6E5F-2371-716EAE03A587}"/>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961C473E-E0E9-D8F2-3592-0E09D44C3E8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8E51BCB8-0D6F-1B7F-5532-D013DC2C245E}"/>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AC38D0D8-F441-940B-945E-E111D56DD6DB}"/>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128994E3-157A-6F7A-0610-ABDD9B9BA4F5}"/>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B189AC3A-511D-D685-E97B-F1AD05946CEE}"/>
              </a:ext>
            </a:extLst>
          </p:cNvPr>
          <p:cNvSpPr>
            <a:spLocks noGrp="1"/>
          </p:cNvSpPr>
          <p:nvPr>
            <p:ph type="dt" sz="half" idx="10"/>
          </p:nvPr>
        </p:nvSpPr>
        <p:spPr/>
        <p:txBody>
          <a:bodyPr/>
          <a:lstStyle/>
          <a:p>
            <a:fld id="{78235042-D265-404F-9DFA-385D41407F57}" type="datetimeFigureOut">
              <a:rPr lang="en-IN" smtClean="0"/>
              <a:t>28-06-2025</a:t>
            </a:fld>
            <a:endParaRPr lang="en-IN"/>
          </a:p>
        </p:txBody>
      </p:sp>
      <p:sp>
        <p:nvSpPr>
          <p:cNvPr id="8" name="Footer Placeholder 7">
            <a:extLst>
              <a:ext uri="{FF2B5EF4-FFF2-40B4-BE49-F238E27FC236}">
                <a16:creationId xmlns:a16="http://schemas.microsoft.com/office/drawing/2014/main" id="{428B390E-DAB0-E6BA-7F05-7AD79B766315}"/>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71D6FC1C-2B92-D876-D06D-7EC7F6ABF714}"/>
              </a:ext>
            </a:extLst>
          </p:cNvPr>
          <p:cNvSpPr>
            <a:spLocks noGrp="1"/>
          </p:cNvSpPr>
          <p:nvPr>
            <p:ph type="sldNum" sz="quarter" idx="12"/>
          </p:nvPr>
        </p:nvSpPr>
        <p:spPr/>
        <p:txBody>
          <a:bodyPr/>
          <a:lstStyle/>
          <a:p>
            <a:fld id="{7ED38ABA-946C-45EE-A658-59F6742088C4}" type="slidenum">
              <a:rPr lang="en-IN" smtClean="0"/>
              <a:t>‹#›</a:t>
            </a:fld>
            <a:endParaRPr lang="en-IN"/>
          </a:p>
        </p:txBody>
      </p:sp>
    </p:spTree>
    <p:extLst>
      <p:ext uri="{BB962C8B-B14F-4D97-AF65-F5344CB8AC3E}">
        <p14:creationId xmlns:p14="http://schemas.microsoft.com/office/powerpoint/2010/main" val="65805092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88DB76-4653-61D1-8D4A-78BB6D30FFD6}"/>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0D171135-E042-D113-7823-744516436727}"/>
              </a:ext>
            </a:extLst>
          </p:cNvPr>
          <p:cNvSpPr>
            <a:spLocks noGrp="1"/>
          </p:cNvSpPr>
          <p:nvPr>
            <p:ph type="dt" sz="half" idx="10"/>
          </p:nvPr>
        </p:nvSpPr>
        <p:spPr/>
        <p:txBody>
          <a:bodyPr/>
          <a:lstStyle/>
          <a:p>
            <a:fld id="{78235042-D265-404F-9DFA-385D41407F57}" type="datetimeFigureOut">
              <a:rPr lang="en-IN" smtClean="0"/>
              <a:t>28-06-2025</a:t>
            </a:fld>
            <a:endParaRPr lang="en-IN"/>
          </a:p>
        </p:txBody>
      </p:sp>
      <p:sp>
        <p:nvSpPr>
          <p:cNvPr id="4" name="Footer Placeholder 3">
            <a:extLst>
              <a:ext uri="{FF2B5EF4-FFF2-40B4-BE49-F238E27FC236}">
                <a16:creationId xmlns:a16="http://schemas.microsoft.com/office/drawing/2014/main" id="{144F3B1D-CE53-3047-B994-ED60D56263C5}"/>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3477E21F-42C3-54F2-531C-4ADA53A92C88}"/>
              </a:ext>
            </a:extLst>
          </p:cNvPr>
          <p:cNvSpPr>
            <a:spLocks noGrp="1"/>
          </p:cNvSpPr>
          <p:nvPr>
            <p:ph type="sldNum" sz="quarter" idx="12"/>
          </p:nvPr>
        </p:nvSpPr>
        <p:spPr/>
        <p:txBody>
          <a:bodyPr/>
          <a:lstStyle/>
          <a:p>
            <a:fld id="{7ED38ABA-946C-45EE-A658-59F6742088C4}" type="slidenum">
              <a:rPr lang="en-IN" smtClean="0"/>
              <a:t>‹#›</a:t>
            </a:fld>
            <a:endParaRPr lang="en-IN"/>
          </a:p>
        </p:txBody>
      </p:sp>
    </p:spTree>
    <p:extLst>
      <p:ext uri="{BB962C8B-B14F-4D97-AF65-F5344CB8AC3E}">
        <p14:creationId xmlns:p14="http://schemas.microsoft.com/office/powerpoint/2010/main" val="179980244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2C7C965E-CC34-8547-85BD-C5EFE8CB9507}"/>
              </a:ext>
            </a:extLst>
          </p:cNvPr>
          <p:cNvSpPr>
            <a:spLocks noGrp="1"/>
          </p:cNvSpPr>
          <p:nvPr>
            <p:ph type="dt" sz="half" idx="10"/>
          </p:nvPr>
        </p:nvSpPr>
        <p:spPr/>
        <p:txBody>
          <a:bodyPr/>
          <a:lstStyle/>
          <a:p>
            <a:fld id="{78235042-D265-404F-9DFA-385D41407F57}" type="datetimeFigureOut">
              <a:rPr lang="en-IN" smtClean="0"/>
              <a:t>28-06-2025</a:t>
            </a:fld>
            <a:endParaRPr lang="en-IN"/>
          </a:p>
        </p:txBody>
      </p:sp>
      <p:sp>
        <p:nvSpPr>
          <p:cNvPr id="3" name="Footer Placeholder 2">
            <a:extLst>
              <a:ext uri="{FF2B5EF4-FFF2-40B4-BE49-F238E27FC236}">
                <a16:creationId xmlns:a16="http://schemas.microsoft.com/office/drawing/2014/main" id="{A9DEF780-3CA7-DF6F-5BE8-8C13A787BBC5}"/>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D61E8B42-679A-027C-E2A7-29C493F30F89}"/>
              </a:ext>
            </a:extLst>
          </p:cNvPr>
          <p:cNvSpPr>
            <a:spLocks noGrp="1"/>
          </p:cNvSpPr>
          <p:nvPr>
            <p:ph type="sldNum" sz="quarter" idx="12"/>
          </p:nvPr>
        </p:nvSpPr>
        <p:spPr/>
        <p:txBody>
          <a:bodyPr/>
          <a:lstStyle/>
          <a:p>
            <a:fld id="{7ED38ABA-946C-45EE-A658-59F6742088C4}" type="slidenum">
              <a:rPr lang="en-IN" smtClean="0"/>
              <a:t>‹#›</a:t>
            </a:fld>
            <a:endParaRPr lang="en-IN"/>
          </a:p>
        </p:txBody>
      </p:sp>
    </p:spTree>
    <p:extLst>
      <p:ext uri="{BB962C8B-B14F-4D97-AF65-F5344CB8AC3E}">
        <p14:creationId xmlns:p14="http://schemas.microsoft.com/office/powerpoint/2010/main" val="384676000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5C2CF6-AB20-8836-388B-877EE434143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F99FC0A8-80A3-6644-6878-48533BE6455C}"/>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4400AC4D-95A7-3611-68C6-3492FBB92BB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76AE77E-6785-1F4D-0B0A-AEA443CEF689}"/>
              </a:ext>
            </a:extLst>
          </p:cNvPr>
          <p:cNvSpPr>
            <a:spLocks noGrp="1"/>
          </p:cNvSpPr>
          <p:nvPr>
            <p:ph type="dt" sz="half" idx="10"/>
          </p:nvPr>
        </p:nvSpPr>
        <p:spPr/>
        <p:txBody>
          <a:bodyPr/>
          <a:lstStyle/>
          <a:p>
            <a:fld id="{78235042-D265-404F-9DFA-385D41407F57}" type="datetimeFigureOut">
              <a:rPr lang="en-IN" smtClean="0"/>
              <a:t>28-06-2025</a:t>
            </a:fld>
            <a:endParaRPr lang="en-IN"/>
          </a:p>
        </p:txBody>
      </p:sp>
      <p:sp>
        <p:nvSpPr>
          <p:cNvPr id="6" name="Footer Placeholder 5">
            <a:extLst>
              <a:ext uri="{FF2B5EF4-FFF2-40B4-BE49-F238E27FC236}">
                <a16:creationId xmlns:a16="http://schemas.microsoft.com/office/drawing/2014/main" id="{0923F526-89E6-943F-9D1C-1C0541DF139B}"/>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23383683-8C36-6609-0D34-E68DC5FE5E48}"/>
              </a:ext>
            </a:extLst>
          </p:cNvPr>
          <p:cNvSpPr>
            <a:spLocks noGrp="1"/>
          </p:cNvSpPr>
          <p:nvPr>
            <p:ph type="sldNum" sz="quarter" idx="12"/>
          </p:nvPr>
        </p:nvSpPr>
        <p:spPr/>
        <p:txBody>
          <a:bodyPr/>
          <a:lstStyle/>
          <a:p>
            <a:fld id="{7ED38ABA-946C-45EE-A658-59F6742088C4}" type="slidenum">
              <a:rPr lang="en-IN" smtClean="0"/>
              <a:t>‹#›</a:t>
            </a:fld>
            <a:endParaRPr lang="en-IN"/>
          </a:p>
        </p:txBody>
      </p:sp>
    </p:spTree>
    <p:extLst>
      <p:ext uri="{BB962C8B-B14F-4D97-AF65-F5344CB8AC3E}">
        <p14:creationId xmlns:p14="http://schemas.microsoft.com/office/powerpoint/2010/main" val="265253689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74E1C8-60F7-F79F-4A66-064D8A640AF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3980179E-A1A4-F74D-36AE-DBC0BE4D777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C499F1D4-F5D2-9D27-B22E-6107369D30D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21EC0F5-D1FE-7F12-C300-2561742516B5}"/>
              </a:ext>
            </a:extLst>
          </p:cNvPr>
          <p:cNvSpPr>
            <a:spLocks noGrp="1"/>
          </p:cNvSpPr>
          <p:nvPr>
            <p:ph type="dt" sz="half" idx="10"/>
          </p:nvPr>
        </p:nvSpPr>
        <p:spPr/>
        <p:txBody>
          <a:bodyPr/>
          <a:lstStyle/>
          <a:p>
            <a:fld id="{78235042-D265-404F-9DFA-385D41407F57}" type="datetimeFigureOut">
              <a:rPr lang="en-IN" smtClean="0"/>
              <a:t>28-06-2025</a:t>
            </a:fld>
            <a:endParaRPr lang="en-IN"/>
          </a:p>
        </p:txBody>
      </p:sp>
      <p:sp>
        <p:nvSpPr>
          <p:cNvPr id="6" name="Footer Placeholder 5">
            <a:extLst>
              <a:ext uri="{FF2B5EF4-FFF2-40B4-BE49-F238E27FC236}">
                <a16:creationId xmlns:a16="http://schemas.microsoft.com/office/drawing/2014/main" id="{53487849-530E-8E9E-A6C5-AA2E68E2B64F}"/>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F39746E3-337D-6C56-F207-19BF1D8F6F2D}"/>
              </a:ext>
            </a:extLst>
          </p:cNvPr>
          <p:cNvSpPr>
            <a:spLocks noGrp="1"/>
          </p:cNvSpPr>
          <p:nvPr>
            <p:ph type="sldNum" sz="quarter" idx="12"/>
          </p:nvPr>
        </p:nvSpPr>
        <p:spPr/>
        <p:txBody>
          <a:bodyPr/>
          <a:lstStyle/>
          <a:p>
            <a:fld id="{7ED38ABA-946C-45EE-A658-59F6742088C4}" type="slidenum">
              <a:rPr lang="en-IN" smtClean="0"/>
              <a:t>‹#›</a:t>
            </a:fld>
            <a:endParaRPr lang="en-IN"/>
          </a:p>
        </p:txBody>
      </p:sp>
    </p:spTree>
    <p:extLst>
      <p:ext uri="{BB962C8B-B14F-4D97-AF65-F5344CB8AC3E}">
        <p14:creationId xmlns:p14="http://schemas.microsoft.com/office/powerpoint/2010/main" val="270353074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7D885-5BF2-8F9A-5CB2-B772D5A7B52C}"/>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B9F44DD5-2C94-37AD-72C8-0765E2725A91}"/>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176D3162-8274-6AD8-D31F-1703F5BD2ECE}"/>
              </a:ext>
            </a:extLst>
          </p:cNvPr>
          <p:cNvSpPr>
            <a:spLocks noGrp="1"/>
          </p:cNvSpPr>
          <p:nvPr>
            <p:ph type="dt" sz="half" idx="10"/>
          </p:nvPr>
        </p:nvSpPr>
        <p:spPr/>
        <p:txBody>
          <a:bodyPr/>
          <a:lstStyle/>
          <a:p>
            <a:fld id="{78235042-D265-404F-9DFA-385D41407F57}" type="datetimeFigureOut">
              <a:rPr lang="en-IN" smtClean="0"/>
              <a:t>28-06-2025</a:t>
            </a:fld>
            <a:endParaRPr lang="en-IN"/>
          </a:p>
        </p:txBody>
      </p:sp>
      <p:sp>
        <p:nvSpPr>
          <p:cNvPr id="5" name="Footer Placeholder 4">
            <a:extLst>
              <a:ext uri="{FF2B5EF4-FFF2-40B4-BE49-F238E27FC236}">
                <a16:creationId xmlns:a16="http://schemas.microsoft.com/office/drawing/2014/main" id="{87BD2036-2AD9-65EC-8666-11F4AC033B4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935B061D-58F8-7ABF-D306-190594E9C759}"/>
              </a:ext>
            </a:extLst>
          </p:cNvPr>
          <p:cNvSpPr>
            <a:spLocks noGrp="1"/>
          </p:cNvSpPr>
          <p:nvPr>
            <p:ph type="sldNum" sz="quarter" idx="12"/>
          </p:nvPr>
        </p:nvSpPr>
        <p:spPr/>
        <p:txBody>
          <a:bodyPr/>
          <a:lstStyle/>
          <a:p>
            <a:fld id="{7ED38ABA-946C-45EE-A658-59F6742088C4}" type="slidenum">
              <a:rPr lang="en-IN" smtClean="0"/>
              <a:t>‹#›</a:t>
            </a:fld>
            <a:endParaRPr lang="en-IN"/>
          </a:p>
        </p:txBody>
      </p:sp>
    </p:spTree>
    <p:extLst>
      <p:ext uri="{BB962C8B-B14F-4D97-AF65-F5344CB8AC3E}">
        <p14:creationId xmlns:p14="http://schemas.microsoft.com/office/powerpoint/2010/main" val="181078564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64511F1E-6AB2-5A6F-03FB-ED933F484F26}"/>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227941C5-B87B-7ADC-3726-06D485053897}"/>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5CB26DAF-A010-CBA3-5E16-736573C3609B}"/>
              </a:ext>
            </a:extLst>
          </p:cNvPr>
          <p:cNvSpPr>
            <a:spLocks noGrp="1"/>
          </p:cNvSpPr>
          <p:nvPr>
            <p:ph type="dt" sz="half" idx="10"/>
          </p:nvPr>
        </p:nvSpPr>
        <p:spPr/>
        <p:txBody>
          <a:bodyPr/>
          <a:lstStyle/>
          <a:p>
            <a:fld id="{78235042-D265-404F-9DFA-385D41407F57}" type="datetimeFigureOut">
              <a:rPr lang="en-IN" smtClean="0"/>
              <a:t>28-06-2025</a:t>
            </a:fld>
            <a:endParaRPr lang="en-IN"/>
          </a:p>
        </p:txBody>
      </p:sp>
      <p:sp>
        <p:nvSpPr>
          <p:cNvPr id="5" name="Footer Placeholder 4">
            <a:extLst>
              <a:ext uri="{FF2B5EF4-FFF2-40B4-BE49-F238E27FC236}">
                <a16:creationId xmlns:a16="http://schemas.microsoft.com/office/drawing/2014/main" id="{88C49C26-00B2-B7F7-AB3F-6FA29F3A3C4C}"/>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E504DF0F-8B91-BC9B-305E-2305B0E2D187}"/>
              </a:ext>
            </a:extLst>
          </p:cNvPr>
          <p:cNvSpPr>
            <a:spLocks noGrp="1"/>
          </p:cNvSpPr>
          <p:nvPr>
            <p:ph type="sldNum" sz="quarter" idx="12"/>
          </p:nvPr>
        </p:nvSpPr>
        <p:spPr/>
        <p:txBody>
          <a:bodyPr/>
          <a:lstStyle/>
          <a:p>
            <a:fld id="{7ED38ABA-946C-45EE-A658-59F6742088C4}" type="slidenum">
              <a:rPr lang="en-IN" smtClean="0"/>
              <a:t>‹#›</a:t>
            </a:fld>
            <a:endParaRPr lang="en-IN"/>
          </a:p>
        </p:txBody>
      </p:sp>
    </p:spTree>
    <p:extLst>
      <p:ext uri="{BB962C8B-B14F-4D97-AF65-F5344CB8AC3E}">
        <p14:creationId xmlns:p14="http://schemas.microsoft.com/office/powerpoint/2010/main" val="287439741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 /><Relationship Id="rId3" Type="http://schemas.openxmlformats.org/officeDocument/2006/relationships/slideLayout" Target="../slideLayouts/slideLayout3.xml" /><Relationship Id="rId7" Type="http://schemas.openxmlformats.org/officeDocument/2006/relationships/slideLayout" Target="../slideLayouts/slideLayout7.xml" /><Relationship Id="rId12" Type="http://schemas.openxmlformats.org/officeDocument/2006/relationships/theme" Target="../theme/theme1.xml" /><Relationship Id="rId2" Type="http://schemas.openxmlformats.org/officeDocument/2006/relationships/slideLayout" Target="../slideLayouts/slideLayout2.xml" /><Relationship Id="rId1" Type="http://schemas.openxmlformats.org/officeDocument/2006/relationships/slideLayout" Target="../slideLayouts/slideLayout1.xml" /><Relationship Id="rId6" Type="http://schemas.openxmlformats.org/officeDocument/2006/relationships/slideLayout" Target="../slideLayouts/slideLayout6.xml" /><Relationship Id="rId11" Type="http://schemas.openxmlformats.org/officeDocument/2006/relationships/slideLayout" Target="../slideLayouts/slideLayout11.xml" /><Relationship Id="rId5" Type="http://schemas.openxmlformats.org/officeDocument/2006/relationships/slideLayout" Target="../slideLayouts/slideLayout5.xml" /><Relationship Id="rId10" Type="http://schemas.openxmlformats.org/officeDocument/2006/relationships/slideLayout" Target="../slideLayouts/slideLayout10.xml" /><Relationship Id="rId4" Type="http://schemas.openxmlformats.org/officeDocument/2006/relationships/slideLayout" Target="../slideLayouts/slideLayout4.xml" /><Relationship Id="rId9" Type="http://schemas.openxmlformats.org/officeDocument/2006/relationships/slideLayout" Target="../slideLayouts/slideLayout9.xml" /></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6627E18-3C7F-54DB-D580-8E2172D5E55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C7633DD7-5162-F732-C535-42932FAC4D4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5F494BBB-C6BD-3886-EFB4-287727ACEB5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8235042-D265-404F-9DFA-385D41407F57}" type="datetimeFigureOut">
              <a:rPr lang="en-IN" smtClean="0"/>
              <a:t>28-06-2025</a:t>
            </a:fld>
            <a:endParaRPr lang="en-IN"/>
          </a:p>
        </p:txBody>
      </p:sp>
      <p:sp>
        <p:nvSpPr>
          <p:cNvPr id="5" name="Footer Placeholder 4">
            <a:extLst>
              <a:ext uri="{FF2B5EF4-FFF2-40B4-BE49-F238E27FC236}">
                <a16:creationId xmlns:a16="http://schemas.microsoft.com/office/drawing/2014/main" id="{8A5A4DAD-6A16-3224-0DDE-84990F36A4B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D43B682D-195A-03B4-9D60-5C81FAC2A0C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ED38ABA-946C-45EE-A658-59F6742088C4}" type="slidenum">
              <a:rPr lang="en-IN" smtClean="0"/>
              <a:t>‹#›</a:t>
            </a:fld>
            <a:endParaRPr lang="en-IN"/>
          </a:p>
        </p:txBody>
      </p:sp>
    </p:spTree>
    <p:extLst>
      <p:ext uri="{BB962C8B-B14F-4D97-AF65-F5344CB8AC3E}">
        <p14:creationId xmlns:p14="http://schemas.microsoft.com/office/powerpoint/2010/main" val="22384530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40.png" /><Relationship Id="rId13" Type="http://schemas.openxmlformats.org/officeDocument/2006/relationships/image" Target="../media/image7.png" /><Relationship Id="rId18" Type="http://schemas.openxmlformats.org/officeDocument/2006/relationships/image" Target="../media/image90.png" /><Relationship Id="rId3" Type="http://schemas.openxmlformats.org/officeDocument/2006/relationships/image" Target="../media/image2.png" /><Relationship Id="rId7" Type="http://schemas.openxmlformats.org/officeDocument/2006/relationships/image" Target="../media/image4.png" /><Relationship Id="rId12" Type="http://schemas.openxmlformats.org/officeDocument/2006/relationships/image" Target="../media/image60.png" /><Relationship Id="rId17" Type="http://schemas.openxmlformats.org/officeDocument/2006/relationships/image" Target="../media/image9.png" /><Relationship Id="rId2" Type="http://schemas.openxmlformats.org/officeDocument/2006/relationships/image" Target="../media/image1.jpg" /><Relationship Id="rId16" Type="http://schemas.openxmlformats.org/officeDocument/2006/relationships/image" Target="../media/image80.png" /><Relationship Id="rId1" Type="http://schemas.openxmlformats.org/officeDocument/2006/relationships/slideLayout" Target="../slideLayouts/slideLayout7.xml" /><Relationship Id="rId6" Type="http://schemas.openxmlformats.org/officeDocument/2006/relationships/image" Target="../media/image30.png" /><Relationship Id="rId11" Type="http://schemas.openxmlformats.org/officeDocument/2006/relationships/image" Target="../media/image6.png" /><Relationship Id="rId5" Type="http://schemas.openxmlformats.org/officeDocument/2006/relationships/image" Target="../media/image3.png" /><Relationship Id="rId15" Type="http://schemas.openxmlformats.org/officeDocument/2006/relationships/image" Target="../media/image8.png" /><Relationship Id="rId10" Type="http://schemas.openxmlformats.org/officeDocument/2006/relationships/image" Target="../media/image50.png" /><Relationship Id="rId4" Type="http://schemas.openxmlformats.org/officeDocument/2006/relationships/image" Target="../media/image20.png" /><Relationship Id="rId9" Type="http://schemas.openxmlformats.org/officeDocument/2006/relationships/image" Target="../media/image5.png" /><Relationship Id="rId14" Type="http://schemas.openxmlformats.org/officeDocument/2006/relationships/image" Target="../media/image70.png" /></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F3D0ADE2-1954-4BFD-DAF1-7DF78B886D8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1999" cy="6818772"/>
          </a:xfrm>
          <a:prstGeom prst="rect">
            <a:avLst/>
          </a:prstGeom>
        </p:spPr>
      </p:pic>
      <p:sp>
        <p:nvSpPr>
          <p:cNvPr id="4" name="TextBox 3">
            <a:extLst>
              <a:ext uri="{FF2B5EF4-FFF2-40B4-BE49-F238E27FC236}">
                <a16:creationId xmlns:a16="http://schemas.microsoft.com/office/drawing/2014/main" id="{6B94D941-B3F8-EEBB-38F4-262F64F8D1E8}"/>
              </a:ext>
            </a:extLst>
          </p:cNvPr>
          <p:cNvSpPr txBox="1"/>
          <p:nvPr/>
        </p:nvSpPr>
        <p:spPr>
          <a:xfrm>
            <a:off x="1157037" y="288758"/>
            <a:ext cx="10118558" cy="923330"/>
          </a:xfrm>
          <a:prstGeom prst="rect">
            <a:avLst/>
          </a:prstGeom>
          <a:noFill/>
        </p:spPr>
        <p:txBody>
          <a:bodyPr wrap="square" rtlCol="0">
            <a:spAutoFit/>
          </a:bodyPr>
          <a:lstStyle/>
          <a:p>
            <a:r>
              <a:rPr lang="en-US" sz="5400" dirty="0">
                <a:latin typeface="Showcard Gothic" panose="04020904020102020604" pitchFamily="82" charset="0"/>
              </a:rPr>
              <a:t>CHILD</a:t>
            </a:r>
            <a:r>
              <a:rPr lang="en-GB" sz="5400" dirty="0">
                <a:latin typeface="Showcard Gothic" panose="04020904020102020604" pitchFamily="82" charset="0"/>
              </a:rPr>
              <a:t> SAFEGUARDING POLICY</a:t>
            </a:r>
            <a:endParaRPr lang="en-IN" sz="5400" dirty="0">
              <a:latin typeface="Showcard Gothic" panose="04020904020102020604" pitchFamily="82" charset="0"/>
            </a:endParaRPr>
          </a:p>
        </p:txBody>
      </p:sp>
      <p:cxnSp>
        <p:nvCxnSpPr>
          <p:cNvPr id="6" name="Straight Connector 5">
            <a:extLst>
              <a:ext uri="{FF2B5EF4-FFF2-40B4-BE49-F238E27FC236}">
                <a16:creationId xmlns:a16="http://schemas.microsoft.com/office/drawing/2014/main" id="{BE547E9A-C244-A181-95BD-548D92711424}"/>
              </a:ext>
            </a:extLst>
          </p:cNvPr>
          <p:cNvCxnSpPr>
            <a:cxnSpLocks/>
          </p:cNvCxnSpPr>
          <p:nvPr/>
        </p:nvCxnSpPr>
        <p:spPr>
          <a:xfrm>
            <a:off x="341644" y="3549316"/>
            <a:ext cx="11364686" cy="0"/>
          </a:xfrm>
          <a:prstGeom prst="line">
            <a:avLst/>
          </a:prstGeom>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pslz="http://schemas.microsoft.com/office/powerpoint/2016/slidezoom">
        <mc:Choice Requires="pslz">
          <p:graphicFrame>
            <p:nvGraphicFramePr>
              <p:cNvPr id="8" name="Slide Zoom 7">
                <a:extLst>
                  <a:ext uri="{FF2B5EF4-FFF2-40B4-BE49-F238E27FC236}">
                    <a16:creationId xmlns:a16="http://schemas.microsoft.com/office/drawing/2014/main" id="{2BB2457C-3035-FA92-7545-9FD0BF54AD36}"/>
                  </a:ext>
                </a:extLst>
              </p:cNvPr>
              <p:cNvGraphicFramePr>
                <a:graphicFrameLocks noChangeAspect="1"/>
              </p:cNvGraphicFramePr>
              <p:nvPr>
                <p:extLst>
                  <p:ext uri="{D42A27DB-BD31-4B8C-83A1-F6EECF244321}">
                    <p14:modId xmlns:p14="http://schemas.microsoft.com/office/powerpoint/2010/main" val="180543511"/>
                  </p:ext>
                </p:extLst>
              </p:nvPr>
            </p:nvGraphicFramePr>
            <p:xfrm>
              <a:off x="180268" y="3569426"/>
              <a:ext cx="2401556" cy="1350875"/>
            </p:xfrm>
            <a:graphic>
              <a:graphicData uri="http://schemas.microsoft.com/office/powerpoint/2016/slidezoom">
                <pslz:sldZm>
                  <pslz:sldZmObj sldId="266" cId="1899018120">
                    <pslz:zmPr id="{452BD289-5BFE-4C80-9103-88DA4D28F37D}" returnToParent="0" transitionDur="1000" showBg="0">
                      <p166:blipFill xmlns:p166="http://schemas.microsoft.com/office/powerpoint/2016/6/main">
                        <a:blip r:embed="rId3"/>
                        <a:stretch>
                          <a:fillRect/>
                        </a:stretch>
                      </p166:blipFill>
                      <p166:spPr xmlns:p166="http://schemas.microsoft.com/office/powerpoint/2016/6/main">
                        <a:xfrm>
                          <a:off x="0" y="0"/>
                          <a:ext cx="2401556" cy="1350875"/>
                        </a:xfrm>
                        <a:prstGeom prst="rect">
                          <a:avLst/>
                        </a:prstGeom>
                      </p166:spPr>
                    </pslz:zmPr>
                  </pslz:sldZmObj>
                </pslz:sldZm>
              </a:graphicData>
            </a:graphic>
          </p:graphicFrame>
        </mc:Choice>
        <mc:Fallback xmlns="">
          <p:pic>
            <p:nvPicPr>
              <p:cNvPr id="8" name="Slide Zoom 7">
                <a:extLst>
                  <a:ext uri="{FF2B5EF4-FFF2-40B4-BE49-F238E27FC236}">
                    <a16:creationId xmlns:a16="http://schemas.microsoft.com/office/drawing/2014/main" id="{2BB2457C-3035-FA92-7545-9FD0BF54AD36}"/>
                  </a:ext>
                </a:extLst>
              </p:cNvPr>
              <p:cNvPicPr>
                <a:picLocks noGrp="1" noRot="1" noChangeAspect="1" noMove="1" noResize="1" noEditPoints="1" noAdjustHandles="1" noChangeArrowheads="1" noChangeShapeType="1"/>
              </p:cNvPicPr>
              <p:nvPr/>
            </p:nvPicPr>
            <p:blipFill>
              <a:blip r:embed="rId4"/>
              <a:stretch>
                <a:fillRect/>
              </a:stretch>
            </p:blipFill>
            <p:spPr>
              <a:xfrm>
                <a:off x="180268" y="3569426"/>
                <a:ext cx="2401556" cy="1350875"/>
              </a:xfrm>
              <a:prstGeom prst="rect">
                <a:avLst/>
              </a:prstGeom>
            </p:spPr>
          </p:pic>
        </mc:Fallback>
      </mc:AlternateContent>
      <mc:AlternateContent xmlns:mc="http://schemas.openxmlformats.org/markup-compatibility/2006" xmlns:pslz="http://schemas.microsoft.com/office/powerpoint/2016/slidezoom">
        <mc:Choice Requires="pslz">
          <p:graphicFrame>
            <p:nvGraphicFramePr>
              <p:cNvPr id="24" name="Slide Zoom 23">
                <a:extLst>
                  <a:ext uri="{FF2B5EF4-FFF2-40B4-BE49-F238E27FC236}">
                    <a16:creationId xmlns:a16="http://schemas.microsoft.com/office/drawing/2014/main" id="{A94469D9-DEB0-36D3-EEDA-18BA4F128AF5}"/>
                  </a:ext>
                </a:extLst>
              </p:cNvPr>
              <p:cNvGraphicFramePr>
                <a:graphicFrameLocks noChangeAspect="1"/>
              </p:cNvGraphicFramePr>
              <p:nvPr>
                <p:extLst>
                  <p:ext uri="{D42A27DB-BD31-4B8C-83A1-F6EECF244321}">
                    <p14:modId xmlns:p14="http://schemas.microsoft.com/office/powerpoint/2010/main" val="3920915049"/>
                  </p:ext>
                </p:extLst>
              </p:nvPr>
            </p:nvGraphicFramePr>
            <p:xfrm>
              <a:off x="1073028" y="2357338"/>
              <a:ext cx="2401556" cy="1350875"/>
            </p:xfrm>
            <a:graphic>
              <a:graphicData uri="http://schemas.microsoft.com/office/powerpoint/2016/slidezoom">
                <pslz:sldZm>
                  <pslz:sldZmObj sldId="267" cId="3320676883">
                    <pslz:zmPr id="{84F7C47B-AF83-48CB-A9F2-A1D9F372BAAC}" returnToParent="0" transitionDur="1000" showBg="0">
                      <p166:blipFill xmlns:p166="http://schemas.microsoft.com/office/powerpoint/2016/6/main">
                        <a:blip r:embed="rId5"/>
                        <a:stretch>
                          <a:fillRect/>
                        </a:stretch>
                      </p166:blipFill>
                      <p166:spPr xmlns:p166="http://schemas.microsoft.com/office/powerpoint/2016/6/main">
                        <a:xfrm>
                          <a:off x="0" y="0"/>
                          <a:ext cx="2401556" cy="1350875"/>
                        </a:xfrm>
                        <a:prstGeom prst="rect">
                          <a:avLst/>
                        </a:prstGeom>
                      </p166:spPr>
                    </pslz:zmPr>
                  </pslz:sldZmObj>
                </pslz:sldZm>
              </a:graphicData>
            </a:graphic>
          </p:graphicFrame>
        </mc:Choice>
        <mc:Fallback xmlns="">
          <p:pic>
            <p:nvPicPr>
              <p:cNvPr id="24" name="Slide Zoom 23">
                <a:extLst>
                  <a:ext uri="{FF2B5EF4-FFF2-40B4-BE49-F238E27FC236}">
                    <a16:creationId xmlns:a16="http://schemas.microsoft.com/office/drawing/2014/main" id="{A94469D9-DEB0-36D3-EEDA-18BA4F128AF5}"/>
                  </a:ext>
                </a:extLst>
              </p:cNvPr>
              <p:cNvPicPr>
                <a:picLocks noGrp="1" noRot="1" noChangeAspect="1" noMove="1" noResize="1" noEditPoints="1" noAdjustHandles="1" noChangeArrowheads="1" noChangeShapeType="1"/>
              </p:cNvPicPr>
              <p:nvPr/>
            </p:nvPicPr>
            <p:blipFill>
              <a:blip r:embed="rId6"/>
              <a:stretch>
                <a:fillRect/>
              </a:stretch>
            </p:blipFill>
            <p:spPr>
              <a:xfrm>
                <a:off x="1073028" y="2357338"/>
                <a:ext cx="2401556" cy="1350875"/>
              </a:xfrm>
              <a:prstGeom prst="rect">
                <a:avLst/>
              </a:prstGeom>
            </p:spPr>
          </p:pic>
        </mc:Fallback>
      </mc:AlternateContent>
      <mc:AlternateContent xmlns:mc="http://schemas.openxmlformats.org/markup-compatibility/2006" xmlns:pslz="http://schemas.microsoft.com/office/powerpoint/2016/slidezoom">
        <mc:Choice Requires="pslz">
          <p:graphicFrame>
            <p:nvGraphicFramePr>
              <p:cNvPr id="26" name="Slide Zoom 25">
                <a:extLst>
                  <a:ext uri="{FF2B5EF4-FFF2-40B4-BE49-F238E27FC236}">
                    <a16:creationId xmlns:a16="http://schemas.microsoft.com/office/drawing/2014/main" id="{FD2C4C1D-B3A4-4925-0CB8-B4316284D51D}"/>
                  </a:ext>
                </a:extLst>
              </p:cNvPr>
              <p:cNvGraphicFramePr>
                <a:graphicFrameLocks noChangeAspect="1"/>
              </p:cNvGraphicFramePr>
              <p:nvPr>
                <p:extLst>
                  <p:ext uri="{D42A27DB-BD31-4B8C-83A1-F6EECF244321}">
                    <p14:modId xmlns:p14="http://schemas.microsoft.com/office/powerpoint/2010/main" val="2280785465"/>
                  </p:ext>
                </p:extLst>
              </p:nvPr>
            </p:nvGraphicFramePr>
            <p:xfrm>
              <a:off x="3111983" y="3535540"/>
              <a:ext cx="2401556" cy="1350875"/>
            </p:xfrm>
            <a:graphic>
              <a:graphicData uri="http://schemas.microsoft.com/office/powerpoint/2016/slidezoom">
                <pslz:sldZm>
                  <pslz:sldZmObj sldId="263" cId="2378969804">
                    <pslz:zmPr id="{7D604B7E-6618-4F1D-919D-ACEF2017CC9A}" returnToParent="0" transitionDur="1000" showBg="0">
                      <p166:blipFill xmlns:p166="http://schemas.microsoft.com/office/powerpoint/2016/6/main">
                        <a:blip r:embed="rId7"/>
                        <a:stretch>
                          <a:fillRect/>
                        </a:stretch>
                      </p166:blipFill>
                      <p166:spPr xmlns:p166="http://schemas.microsoft.com/office/powerpoint/2016/6/main">
                        <a:xfrm>
                          <a:off x="0" y="0"/>
                          <a:ext cx="2401556" cy="1350875"/>
                        </a:xfrm>
                        <a:prstGeom prst="rect">
                          <a:avLst/>
                        </a:prstGeom>
                      </p166:spPr>
                    </pslz:zmPr>
                  </pslz:sldZmObj>
                </pslz:sldZm>
              </a:graphicData>
            </a:graphic>
          </p:graphicFrame>
        </mc:Choice>
        <mc:Fallback xmlns="">
          <p:pic>
            <p:nvPicPr>
              <p:cNvPr id="26" name="Slide Zoom 25">
                <a:extLst>
                  <a:ext uri="{FF2B5EF4-FFF2-40B4-BE49-F238E27FC236}">
                    <a16:creationId xmlns:a16="http://schemas.microsoft.com/office/drawing/2014/main" id="{FD2C4C1D-B3A4-4925-0CB8-B4316284D51D}"/>
                  </a:ext>
                </a:extLst>
              </p:cNvPr>
              <p:cNvPicPr>
                <a:picLocks noGrp="1" noRot="1" noChangeAspect="1" noMove="1" noResize="1" noEditPoints="1" noAdjustHandles="1" noChangeArrowheads="1" noChangeShapeType="1"/>
              </p:cNvPicPr>
              <p:nvPr/>
            </p:nvPicPr>
            <p:blipFill>
              <a:blip r:embed="rId8"/>
              <a:stretch>
                <a:fillRect/>
              </a:stretch>
            </p:blipFill>
            <p:spPr>
              <a:xfrm>
                <a:off x="3111983" y="3535540"/>
                <a:ext cx="2401556" cy="1350875"/>
              </a:xfrm>
              <a:prstGeom prst="rect">
                <a:avLst/>
              </a:prstGeom>
            </p:spPr>
          </p:pic>
        </mc:Fallback>
      </mc:AlternateContent>
      <mc:AlternateContent xmlns:mc="http://schemas.openxmlformats.org/markup-compatibility/2006" xmlns:pslz="http://schemas.microsoft.com/office/powerpoint/2016/slidezoom">
        <mc:Choice Requires="pslz">
          <p:graphicFrame>
            <p:nvGraphicFramePr>
              <p:cNvPr id="28" name="Slide Zoom 27">
                <a:extLst>
                  <a:ext uri="{FF2B5EF4-FFF2-40B4-BE49-F238E27FC236}">
                    <a16:creationId xmlns:a16="http://schemas.microsoft.com/office/drawing/2014/main" id="{90EF57B1-7A7F-5273-EC9E-70CCB3C7220A}"/>
                  </a:ext>
                </a:extLst>
              </p:cNvPr>
              <p:cNvGraphicFramePr>
                <a:graphicFrameLocks noChangeAspect="1"/>
              </p:cNvGraphicFramePr>
              <p:nvPr>
                <p:extLst>
                  <p:ext uri="{D42A27DB-BD31-4B8C-83A1-F6EECF244321}">
                    <p14:modId xmlns:p14="http://schemas.microsoft.com/office/powerpoint/2010/main" val="4060007685"/>
                  </p:ext>
                </p:extLst>
              </p:nvPr>
            </p:nvGraphicFramePr>
            <p:xfrm>
              <a:off x="3941570" y="2256726"/>
              <a:ext cx="2584101" cy="1453557"/>
            </p:xfrm>
            <a:graphic>
              <a:graphicData uri="http://schemas.microsoft.com/office/powerpoint/2016/slidezoom">
                <pslz:sldZm>
                  <pslz:sldZmObj sldId="264" cId="3495244658">
                    <pslz:zmPr id="{0C28D1ED-6B03-4505-AE6D-759A33A993F1}" returnToParent="0" showBg="0">
                      <p166:blipFill xmlns:p166="http://schemas.microsoft.com/office/powerpoint/2016/6/main">
                        <a:blip r:embed="rId9"/>
                        <a:stretch>
                          <a:fillRect/>
                        </a:stretch>
                      </p166:blipFill>
                      <p166:spPr xmlns:p166="http://schemas.microsoft.com/office/powerpoint/2016/6/main">
                        <a:xfrm>
                          <a:off x="0" y="0"/>
                          <a:ext cx="2584101" cy="1453557"/>
                        </a:xfrm>
                        <a:prstGeom prst="rect">
                          <a:avLst/>
                        </a:prstGeom>
                      </p166:spPr>
                    </pslz:zmPr>
                  </pslz:sldZmObj>
                </pslz:sldZm>
              </a:graphicData>
            </a:graphic>
          </p:graphicFrame>
        </mc:Choice>
        <mc:Fallback xmlns="">
          <p:pic>
            <p:nvPicPr>
              <p:cNvPr id="28" name="Slide Zoom 27">
                <a:extLst>
                  <a:ext uri="{FF2B5EF4-FFF2-40B4-BE49-F238E27FC236}">
                    <a16:creationId xmlns:a16="http://schemas.microsoft.com/office/drawing/2014/main" id="{90EF57B1-7A7F-5273-EC9E-70CCB3C7220A}"/>
                  </a:ext>
                </a:extLst>
              </p:cNvPr>
              <p:cNvPicPr>
                <a:picLocks noGrp="1" noRot="1" noChangeAspect="1" noMove="1" noResize="1" noEditPoints="1" noAdjustHandles="1" noChangeArrowheads="1" noChangeShapeType="1"/>
              </p:cNvPicPr>
              <p:nvPr/>
            </p:nvPicPr>
            <p:blipFill>
              <a:blip r:embed="rId10"/>
              <a:stretch>
                <a:fillRect/>
              </a:stretch>
            </p:blipFill>
            <p:spPr>
              <a:xfrm>
                <a:off x="3941570" y="2256726"/>
                <a:ext cx="2584101" cy="1453557"/>
              </a:xfrm>
              <a:prstGeom prst="rect">
                <a:avLst/>
              </a:prstGeom>
            </p:spPr>
          </p:pic>
        </mc:Fallback>
      </mc:AlternateContent>
      <mc:AlternateContent xmlns:mc="http://schemas.openxmlformats.org/markup-compatibility/2006" xmlns:pslz="http://schemas.microsoft.com/office/powerpoint/2016/slidezoom">
        <mc:Choice Requires="pslz">
          <p:graphicFrame>
            <p:nvGraphicFramePr>
              <p:cNvPr id="30" name="Slide Zoom 29">
                <a:extLst>
                  <a:ext uri="{FF2B5EF4-FFF2-40B4-BE49-F238E27FC236}">
                    <a16:creationId xmlns:a16="http://schemas.microsoft.com/office/drawing/2014/main" id="{50667C10-1D98-3EE9-CDE6-682B84C2334B}"/>
                  </a:ext>
                </a:extLst>
              </p:cNvPr>
              <p:cNvGraphicFramePr>
                <a:graphicFrameLocks noChangeAspect="1"/>
              </p:cNvGraphicFramePr>
              <p:nvPr>
                <p:extLst>
                  <p:ext uri="{D42A27DB-BD31-4B8C-83A1-F6EECF244321}">
                    <p14:modId xmlns:p14="http://schemas.microsoft.com/office/powerpoint/2010/main" val="3577893428"/>
                  </p:ext>
                </p:extLst>
              </p:nvPr>
            </p:nvGraphicFramePr>
            <p:xfrm>
              <a:off x="5886504" y="3690149"/>
              <a:ext cx="2314887" cy="1302124"/>
            </p:xfrm>
            <a:graphic>
              <a:graphicData uri="http://schemas.microsoft.com/office/powerpoint/2016/slidezoom">
                <pslz:sldZm>
                  <pslz:sldZmObj sldId="261" cId="544664198">
                    <pslz:zmPr id="{DC8708ED-96EB-4C0B-A68C-EA916B85AAB3}" returnToParent="0" transitionDur="1000" showBg="0">
                      <p166:blipFill xmlns:p166="http://schemas.microsoft.com/office/powerpoint/2016/6/main">
                        <a:blip r:embed="rId11"/>
                        <a:stretch>
                          <a:fillRect/>
                        </a:stretch>
                      </p166:blipFill>
                      <p166:spPr xmlns:p166="http://schemas.microsoft.com/office/powerpoint/2016/6/main">
                        <a:xfrm>
                          <a:off x="0" y="0"/>
                          <a:ext cx="2314887" cy="1302124"/>
                        </a:xfrm>
                        <a:prstGeom prst="rect">
                          <a:avLst/>
                        </a:prstGeom>
                      </p166:spPr>
                    </pslz:zmPr>
                  </pslz:sldZmObj>
                </pslz:sldZm>
              </a:graphicData>
            </a:graphic>
          </p:graphicFrame>
        </mc:Choice>
        <mc:Fallback xmlns="">
          <p:pic>
            <p:nvPicPr>
              <p:cNvPr id="30" name="Slide Zoom 29">
                <a:extLst>
                  <a:ext uri="{FF2B5EF4-FFF2-40B4-BE49-F238E27FC236}">
                    <a16:creationId xmlns:a16="http://schemas.microsoft.com/office/drawing/2014/main" id="{50667C10-1D98-3EE9-CDE6-682B84C2334B}"/>
                  </a:ext>
                </a:extLst>
              </p:cNvPr>
              <p:cNvPicPr>
                <a:picLocks noGrp="1" noRot="1" noChangeAspect="1" noMove="1" noResize="1" noEditPoints="1" noAdjustHandles="1" noChangeArrowheads="1" noChangeShapeType="1"/>
              </p:cNvPicPr>
              <p:nvPr/>
            </p:nvPicPr>
            <p:blipFill>
              <a:blip r:embed="rId12"/>
              <a:stretch>
                <a:fillRect/>
              </a:stretch>
            </p:blipFill>
            <p:spPr>
              <a:xfrm>
                <a:off x="5886504" y="3690149"/>
                <a:ext cx="2314887" cy="1302124"/>
              </a:xfrm>
              <a:prstGeom prst="rect">
                <a:avLst/>
              </a:prstGeom>
            </p:spPr>
          </p:pic>
        </mc:Fallback>
      </mc:AlternateContent>
      <mc:AlternateContent xmlns:mc="http://schemas.openxmlformats.org/markup-compatibility/2006" xmlns:pslz="http://schemas.microsoft.com/office/powerpoint/2016/slidezoom">
        <mc:Choice Requires="pslz">
          <p:graphicFrame>
            <p:nvGraphicFramePr>
              <p:cNvPr id="32" name="Slide Zoom 31">
                <a:extLst>
                  <a:ext uri="{FF2B5EF4-FFF2-40B4-BE49-F238E27FC236}">
                    <a16:creationId xmlns:a16="http://schemas.microsoft.com/office/drawing/2014/main" id="{C23700E8-9CC5-E96D-6FF2-FA8C215B2B60}"/>
                  </a:ext>
                </a:extLst>
              </p:cNvPr>
              <p:cNvGraphicFramePr>
                <a:graphicFrameLocks noChangeAspect="1"/>
              </p:cNvGraphicFramePr>
              <p:nvPr>
                <p:extLst>
                  <p:ext uri="{D42A27DB-BD31-4B8C-83A1-F6EECF244321}">
                    <p14:modId xmlns:p14="http://schemas.microsoft.com/office/powerpoint/2010/main" val="2623289177"/>
                  </p:ext>
                </p:extLst>
              </p:nvPr>
            </p:nvGraphicFramePr>
            <p:xfrm>
              <a:off x="6606058" y="2267326"/>
              <a:ext cx="2279093" cy="1281990"/>
            </p:xfrm>
            <a:graphic>
              <a:graphicData uri="http://schemas.microsoft.com/office/powerpoint/2016/slidezoom">
                <pslz:sldZm>
                  <pslz:sldZmObj sldId="265" cId="2182825370">
                    <pslz:zmPr id="{11BA7C0C-339C-4B74-AC2A-29232ED6FE96}" returnToParent="0" transitionDur="1000" showBg="0">
                      <p166:blipFill xmlns:p166="http://schemas.microsoft.com/office/powerpoint/2016/6/main">
                        <a:blip r:embed="rId13"/>
                        <a:stretch>
                          <a:fillRect/>
                        </a:stretch>
                      </p166:blipFill>
                      <p166:spPr xmlns:p166="http://schemas.microsoft.com/office/powerpoint/2016/6/main">
                        <a:xfrm>
                          <a:off x="0" y="0"/>
                          <a:ext cx="2279093" cy="1281990"/>
                        </a:xfrm>
                        <a:prstGeom prst="rect">
                          <a:avLst/>
                        </a:prstGeom>
                      </p166:spPr>
                    </pslz:zmPr>
                  </pslz:sldZmObj>
                </pslz:sldZm>
              </a:graphicData>
            </a:graphic>
          </p:graphicFrame>
        </mc:Choice>
        <mc:Fallback xmlns="">
          <p:pic>
            <p:nvPicPr>
              <p:cNvPr id="32" name="Slide Zoom 31">
                <a:extLst>
                  <a:ext uri="{FF2B5EF4-FFF2-40B4-BE49-F238E27FC236}">
                    <a16:creationId xmlns:a16="http://schemas.microsoft.com/office/drawing/2014/main" id="{C23700E8-9CC5-E96D-6FF2-FA8C215B2B60}"/>
                  </a:ext>
                </a:extLst>
              </p:cNvPr>
              <p:cNvPicPr>
                <a:picLocks noGrp="1" noRot="1" noChangeAspect="1" noMove="1" noResize="1" noEditPoints="1" noAdjustHandles="1" noChangeArrowheads="1" noChangeShapeType="1"/>
              </p:cNvPicPr>
              <p:nvPr/>
            </p:nvPicPr>
            <p:blipFill>
              <a:blip r:embed="rId14"/>
              <a:stretch>
                <a:fillRect/>
              </a:stretch>
            </p:blipFill>
            <p:spPr>
              <a:xfrm>
                <a:off x="6606058" y="2267326"/>
                <a:ext cx="2279093" cy="1281990"/>
              </a:xfrm>
              <a:prstGeom prst="rect">
                <a:avLst/>
              </a:prstGeom>
            </p:spPr>
          </p:pic>
        </mc:Fallback>
      </mc:AlternateContent>
      <mc:AlternateContent xmlns:mc="http://schemas.openxmlformats.org/markup-compatibility/2006" xmlns:pslz="http://schemas.microsoft.com/office/powerpoint/2016/slidezoom">
        <mc:Choice Requires="pslz">
          <p:graphicFrame>
            <p:nvGraphicFramePr>
              <p:cNvPr id="34" name="Slide Zoom 33">
                <a:extLst>
                  <a:ext uri="{FF2B5EF4-FFF2-40B4-BE49-F238E27FC236}">
                    <a16:creationId xmlns:a16="http://schemas.microsoft.com/office/drawing/2014/main" id="{87681339-E517-9626-46E6-A36EB5272491}"/>
                  </a:ext>
                </a:extLst>
              </p:cNvPr>
              <p:cNvGraphicFramePr>
                <a:graphicFrameLocks noChangeAspect="1"/>
              </p:cNvGraphicFramePr>
              <p:nvPr>
                <p:extLst>
                  <p:ext uri="{D42A27DB-BD31-4B8C-83A1-F6EECF244321}">
                    <p14:modId xmlns:p14="http://schemas.microsoft.com/office/powerpoint/2010/main" val="2508404981"/>
                  </p:ext>
                </p:extLst>
              </p:nvPr>
            </p:nvGraphicFramePr>
            <p:xfrm>
              <a:off x="8574356" y="3559915"/>
              <a:ext cx="2314887" cy="1302124"/>
            </p:xfrm>
            <a:graphic>
              <a:graphicData uri="http://schemas.microsoft.com/office/powerpoint/2016/slidezoom">
                <pslz:sldZm>
                  <pslz:sldZmObj sldId="260" cId="812360521">
                    <pslz:zmPr id="{4644497E-A669-4D2D-A040-8CEB3132C30C}" returnToParent="0" transitionDur="1000" showBg="0">
                      <p166:blipFill xmlns:p166="http://schemas.microsoft.com/office/powerpoint/2016/6/main">
                        <a:blip r:embed="rId15"/>
                        <a:stretch>
                          <a:fillRect/>
                        </a:stretch>
                      </p166:blipFill>
                      <p166:spPr xmlns:p166="http://schemas.microsoft.com/office/powerpoint/2016/6/main">
                        <a:xfrm>
                          <a:off x="0" y="0"/>
                          <a:ext cx="2314887" cy="1302124"/>
                        </a:xfrm>
                        <a:prstGeom prst="rect">
                          <a:avLst/>
                        </a:prstGeom>
                      </p166:spPr>
                    </pslz:zmPr>
                  </pslz:sldZmObj>
                </pslz:sldZm>
              </a:graphicData>
            </a:graphic>
          </p:graphicFrame>
        </mc:Choice>
        <mc:Fallback xmlns="">
          <p:pic>
            <p:nvPicPr>
              <p:cNvPr id="34" name="Slide Zoom 33">
                <a:extLst>
                  <a:ext uri="{FF2B5EF4-FFF2-40B4-BE49-F238E27FC236}">
                    <a16:creationId xmlns:a16="http://schemas.microsoft.com/office/drawing/2014/main" id="{87681339-E517-9626-46E6-A36EB5272491}"/>
                  </a:ext>
                </a:extLst>
              </p:cNvPr>
              <p:cNvPicPr>
                <a:picLocks noGrp="1" noRot="1" noChangeAspect="1" noMove="1" noResize="1" noEditPoints="1" noAdjustHandles="1" noChangeArrowheads="1" noChangeShapeType="1"/>
              </p:cNvPicPr>
              <p:nvPr/>
            </p:nvPicPr>
            <p:blipFill>
              <a:blip r:embed="rId16"/>
              <a:stretch>
                <a:fillRect/>
              </a:stretch>
            </p:blipFill>
            <p:spPr>
              <a:xfrm>
                <a:off x="8574356" y="3559915"/>
                <a:ext cx="2314887" cy="1302124"/>
              </a:xfrm>
              <a:prstGeom prst="rect">
                <a:avLst/>
              </a:prstGeom>
            </p:spPr>
          </p:pic>
        </mc:Fallback>
      </mc:AlternateContent>
      <mc:AlternateContent xmlns:mc="http://schemas.openxmlformats.org/markup-compatibility/2006" xmlns:pslz="http://schemas.microsoft.com/office/powerpoint/2016/slidezoom">
        <mc:Choice Requires="pslz">
          <p:graphicFrame>
            <p:nvGraphicFramePr>
              <p:cNvPr id="36" name="Slide Zoom 35">
                <a:extLst>
                  <a:ext uri="{FF2B5EF4-FFF2-40B4-BE49-F238E27FC236}">
                    <a16:creationId xmlns:a16="http://schemas.microsoft.com/office/drawing/2014/main" id="{942C9271-0468-BE77-E7C8-D5D056E60840}"/>
                  </a:ext>
                </a:extLst>
              </p:cNvPr>
              <p:cNvGraphicFramePr>
                <a:graphicFrameLocks noChangeAspect="1"/>
              </p:cNvGraphicFramePr>
              <p:nvPr>
                <p:extLst>
                  <p:ext uri="{D42A27DB-BD31-4B8C-83A1-F6EECF244321}">
                    <p14:modId xmlns:p14="http://schemas.microsoft.com/office/powerpoint/2010/main" val="2225467139"/>
                  </p:ext>
                </p:extLst>
              </p:nvPr>
            </p:nvGraphicFramePr>
            <p:xfrm>
              <a:off x="9435402" y="2256726"/>
              <a:ext cx="2171385" cy="1221404"/>
            </p:xfrm>
            <a:graphic>
              <a:graphicData uri="http://schemas.microsoft.com/office/powerpoint/2016/slidezoom">
                <pslz:sldZm>
                  <pslz:sldZmObj sldId="259" cId="99120032">
                    <pslz:zmPr id="{71F35E1D-9D4B-46E2-A021-43D0210330AF}" returnToParent="0" transitionDur="1000" showBg="0">
                      <p166:blipFill xmlns:p166="http://schemas.microsoft.com/office/powerpoint/2016/6/main">
                        <a:blip r:embed="rId17"/>
                        <a:stretch>
                          <a:fillRect/>
                        </a:stretch>
                      </p166:blipFill>
                      <p166:spPr xmlns:p166="http://schemas.microsoft.com/office/powerpoint/2016/6/main">
                        <a:xfrm>
                          <a:off x="0" y="0"/>
                          <a:ext cx="2171385" cy="1221404"/>
                        </a:xfrm>
                        <a:prstGeom prst="rect">
                          <a:avLst/>
                        </a:prstGeom>
                      </p166:spPr>
                    </pslz:zmPr>
                  </pslz:sldZmObj>
                </pslz:sldZm>
              </a:graphicData>
            </a:graphic>
          </p:graphicFrame>
        </mc:Choice>
        <mc:Fallback xmlns="">
          <p:pic>
            <p:nvPicPr>
              <p:cNvPr id="36" name="Slide Zoom 35">
                <a:extLst>
                  <a:ext uri="{FF2B5EF4-FFF2-40B4-BE49-F238E27FC236}">
                    <a16:creationId xmlns:a16="http://schemas.microsoft.com/office/drawing/2014/main" id="{942C9271-0468-BE77-E7C8-D5D056E60840}"/>
                  </a:ext>
                </a:extLst>
              </p:cNvPr>
              <p:cNvPicPr>
                <a:picLocks noGrp="1" noRot="1" noChangeAspect="1" noMove="1" noResize="1" noEditPoints="1" noAdjustHandles="1" noChangeArrowheads="1" noChangeShapeType="1"/>
              </p:cNvPicPr>
              <p:nvPr/>
            </p:nvPicPr>
            <p:blipFill>
              <a:blip r:embed="rId18"/>
              <a:stretch>
                <a:fillRect/>
              </a:stretch>
            </p:blipFill>
            <p:spPr>
              <a:xfrm>
                <a:off x="9435402" y="2256726"/>
                <a:ext cx="2171385" cy="1221404"/>
              </a:xfrm>
              <a:prstGeom prst="rect">
                <a:avLst/>
              </a:prstGeom>
            </p:spPr>
          </p:pic>
        </mc:Fallback>
      </mc:AlternateContent>
    </p:spTree>
    <p:extLst>
      <p:ext uri="{BB962C8B-B14F-4D97-AF65-F5344CB8AC3E}">
        <p14:creationId xmlns:p14="http://schemas.microsoft.com/office/powerpoint/2010/main" val="256738287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6175F9-F53B-E9D5-684B-991F83F74679}"/>
              </a:ext>
            </a:extLst>
          </p:cNvPr>
          <p:cNvSpPr>
            <a:spLocks noGrp="1"/>
          </p:cNvSpPr>
          <p:nvPr>
            <p:ph type="title"/>
          </p:nvPr>
        </p:nvSpPr>
        <p:spPr>
          <a:xfrm>
            <a:off x="838200" y="170822"/>
            <a:ext cx="10515600" cy="997149"/>
          </a:xfrm>
        </p:spPr>
        <p:txBody>
          <a:bodyPr>
            <a:normAutofit/>
          </a:bodyPr>
          <a:lstStyle/>
          <a:p>
            <a:pPr algn="ctr"/>
            <a:r>
              <a:rPr lang="en-US" sz="3600" dirty="0">
                <a:latin typeface="Imprint MT Shadow" panose="04020605060303030202" pitchFamily="82" charset="0"/>
              </a:rPr>
              <a:t>What is CRY?</a:t>
            </a:r>
            <a:endParaRPr lang="en-IN" sz="3600" dirty="0">
              <a:latin typeface="Imprint MT Shadow" panose="04020605060303030202" pitchFamily="82" charset="0"/>
            </a:endParaRPr>
          </a:p>
        </p:txBody>
      </p:sp>
      <p:sp>
        <p:nvSpPr>
          <p:cNvPr id="3" name="Content Placeholder 2">
            <a:extLst>
              <a:ext uri="{FF2B5EF4-FFF2-40B4-BE49-F238E27FC236}">
                <a16:creationId xmlns:a16="http://schemas.microsoft.com/office/drawing/2014/main" id="{CE10E134-A462-4B94-A05C-ADCC423414D3}"/>
              </a:ext>
            </a:extLst>
          </p:cNvPr>
          <p:cNvSpPr>
            <a:spLocks noGrp="1"/>
          </p:cNvSpPr>
          <p:nvPr>
            <p:ph idx="1"/>
          </p:nvPr>
        </p:nvSpPr>
        <p:spPr>
          <a:xfrm>
            <a:off x="314848" y="1268455"/>
            <a:ext cx="11877152" cy="5956309"/>
          </a:xfrm>
        </p:spPr>
        <p:txBody>
          <a:bodyPr>
            <a:normAutofit/>
          </a:bodyPr>
          <a:lstStyle/>
          <a:p>
            <a:pPr marL="0" indent="0">
              <a:buNone/>
            </a:pPr>
            <a:r>
              <a:rPr lang="en-IN" sz="2000" dirty="0"/>
              <a:t>Child Rights and You (CRY) is an Indian non-governmental organization that works towards ensuring children's rights. The organization was started in 1979 by </a:t>
            </a:r>
            <a:r>
              <a:rPr lang="en-IN" sz="2000" dirty="0" err="1"/>
              <a:t>Rippan</a:t>
            </a:r>
            <a:r>
              <a:rPr lang="en-IN" sz="2000" dirty="0"/>
              <a:t> Kapur, an Air India purser. CRY works with 102 local NGOs across 19 states in India and has impacted the lives of over 4.7 million children. They work for health, education &amp; safety of children in India, especially for the lives of the underprivileged children. </a:t>
            </a:r>
          </a:p>
          <a:p>
            <a:pPr marL="0" indent="0">
              <a:buNone/>
            </a:pPr>
            <a:r>
              <a:rPr lang="en-IN" sz="2000" dirty="0"/>
              <a:t>CRY believes that every child has a right to a happy, healthy and creative childhood. They believe in enabling people to pledge their unique strengths and commitments to secure, protect and honour the rights of children. </a:t>
            </a:r>
          </a:p>
          <a:p>
            <a:pPr marL="0" indent="0">
              <a:buNone/>
            </a:pPr>
            <a:r>
              <a:rPr lang="en-IN" sz="2000" dirty="0"/>
              <a:t>As a child rights organisation, CRY – Child Rights and You, is committed to the principle that all children, regardless of all dimensions and layers of discrimination, are entitled to their rights as defined by the United Nations Convention of Child Rights (UNCRC) Charter and the Constitution of India, including an equal right to protection from all kinds of abuse, exploitation, violence and neglect. Thus, A policy named, Child Safeguarding Policy is followed by CRY – Child Rights and You. </a:t>
            </a:r>
          </a:p>
          <a:p>
            <a:pPr marL="0" indent="0">
              <a:buNone/>
            </a:pPr>
            <a:r>
              <a:rPr lang="en-IN" sz="2000" u="sng" dirty="0"/>
              <a:t>Child Safeguarding Policy- Child Rights and You (CRY)</a:t>
            </a:r>
          </a:p>
          <a:p>
            <a:pPr marL="0" indent="0">
              <a:buNone/>
            </a:pPr>
            <a:r>
              <a:rPr lang="en-IN" sz="2000" dirty="0"/>
              <a:t>CRY’s Child Safeguarding Policy stands for its commitment and responsibilities towards safeguarding children and to protect them from all kinds of harm and abuse, keeping the best interest of the child in perspective. It also makes clear that any form of harm and abuse of children is unacceptable and non-negotiable to CRY, and any violation of the policy, whether intentional or unintentional, will invite appropriate disciplinary action and judicial procedures as per this policy, other related policies of the organisation and law of the land.</a:t>
            </a:r>
          </a:p>
          <a:p>
            <a:pPr marL="0" indent="0">
              <a:buNone/>
            </a:pPr>
            <a:endParaRPr lang="en-IN" sz="2000" u="sng" dirty="0"/>
          </a:p>
          <a:p>
            <a:pPr marL="0" indent="0">
              <a:buNone/>
            </a:pPr>
            <a:endParaRPr lang="en-IN" sz="2000" dirty="0"/>
          </a:p>
        </p:txBody>
      </p:sp>
    </p:spTree>
    <p:extLst>
      <p:ext uri="{BB962C8B-B14F-4D97-AF65-F5344CB8AC3E}">
        <p14:creationId xmlns:p14="http://schemas.microsoft.com/office/powerpoint/2010/main" val="189901812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E3EEB6-0695-F8E4-6F9F-0BCF85BD6163}"/>
              </a:ext>
            </a:extLst>
          </p:cNvPr>
          <p:cNvSpPr>
            <a:spLocks noGrp="1"/>
          </p:cNvSpPr>
          <p:nvPr>
            <p:ph type="title"/>
          </p:nvPr>
        </p:nvSpPr>
        <p:spPr>
          <a:xfrm flipH="1">
            <a:off x="12027039" y="103868"/>
            <a:ext cx="71176" cy="45719"/>
          </a:xfrm>
        </p:spPr>
        <p:txBody>
          <a:bodyPr>
            <a:normAutofit fontScale="90000"/>
          </a:bodyPr>
          <a:lstStyle/>
          <a:p>
            <a:r>
              <a:rPr lang="en-US" sz="100" dirty="0"/>
              <a:t>c</a:t>
            </a:r>
            <a:endParaRPr lang="en-IN" sz="100" dirty="0"/>
          </a:p>
        </p:txBody>
      </p:sp>
      <p:sp>
        <p:nvSpPr>
          <p:cNvPr id="3" name="Content Placeholder 2">
            <a:extLst>
              <a:ext uri="{FF2B5EF4-FFF2-40B4-BE49-F238E27FC236}">
                <a16:creationId xmlns:a16="http://schemas.microsoft.com/office/drawing/2014/main" id="{DFA2D0A9-8CAD-B5DF-6EA5-4FFFB238CAC1}"/>
              </a:ext>
            </a:extLst>
          </p:cNvPr>
          <p:cNvSpPr>
            <a:spLocks noGrp="1"/>
          </p:cNvSpPr>
          <p:nvPr>
            <p:ph idx="1"/>
          </p:nvPr>
        </p:nvSpPr>
        <p:spPr>
          <a:xfrm>
            <a:off x="452176" y="401934"/>
            <a:ext cx="11234057" cy="6456065"/>
          </a:xfrm>
        </p:spPr>
        <p:txBody>
          <a:bodyPr>
            <a:normAutofit fontScale="25000" lnSpcReduction="20000"/>
          </a:bodyPr>
          <a:lstStyle/>
          <a:p>
            <a:pPr marL="0" indent="0">
              <a:buNone/>
            </a:pPr>
            <a:r>
              <a:rPr lang="en-IN" sz="6400" dirty="0"/>
              <a:t>According to the above policy, the definition of the categories of “child”, “child abuse” and “child protection” by CRY are as follows:</a:t>
            </a:r>
          </a:p>
          <a:p>
            <a:pPr marL="514350" indent="-514350">
              <a:buFont typeface="+mj-lt"/>
              <a:buAutoNum type="arabicPeriod"/>
            </a:pPr>
            <a:r>
              <a:rPr lang="en-IN" sz="6400" dirty="0"/>
              <a:t> Child: In the policy, the child is defined as a person up to the age of 18 years.</a:t>
            </a:r>
          </a:p>
          <a:p>
            <a:pPr marL="514350" lvl="0" indent="-514350">
              <a:buFont typeface="+mj-lt"/>
              <a:buAutoNum type="arabicPeriod"/>
            </a:pPr>
            <a:r>
              <a:rPr lang="en-IN" sz="6400" dirty="0"/>
              <a:t>Child Abuse: Child abuse is defined as all forms of physical abuse, emotional ill-treatment, sexual abuse and exploitation, neglect or negligent treatment, commercial or other exploitation of a child and includes any action that result in actual or potential harm to a child. Child abuse may be a deliberate act or it may be failing to act to prevent harm. Child abuse consists of anything which individuals, institutions or processes do or fail to do, intentionally or unintentionally, which harms a child or damages their prospect of safe and healthy development.</a:t>
            </a:r>
          </a:p>
          <a:p>
            <a:pPr marL="514350" lvl="0" indent="-514350">
              <a:buFont typeface="+mj-lt"/>
              <a:buAutoNum type="arabicPeriod"/>
            </a:pPr>
            <a:r>
              <a:rPr lang="en-IN" sz="6400" dirty="0"/>
              <a:t>Child Protection: Child protection is the protection of children from any violence, exploitation, abuse and neglect. Within the ambit of this policy, it would mean the measures, activities and safeguards that CRY would be taking to protect children from both intentional and unintentional harm.</a:t>
            </a:r>
          </a:p>
          <a:p>
            <a:pPr marL="0" indent="0">
              <a:buNone/>
            </a:pPr>
            <a:r>
              <a:rPr lang="en-IN" sz="6400" u="sng" dirty="0"/>
              <a:t>The main areas of focus for CRY (Child Rights &amp; You)</a:t>
            </a:r>
            <a:endParaRPr lang="en-IN" sz="6400" dirty="0"/>
          </a:p>
          <a:p>
            <a:pPr lvl="0"/>
            <a:r>
              <a:rPr lang="en-IN" sz="6400" dirty="0"/>
              <a:t>to improving access to quality education and healthcare</a:t>
            </a:r>
          </a:p>
          <a:p>
            <a:pPr lvl="0"/>
            <a:r>
              <a:rPr lang="en-IN" sz="6400" dirty="0"/>
              <a:t>to preventing child labour</a:t>
            </a:r>
          </a:p>
          <a:p>
            <a:pPr lvl="0"/>
            <a:r>
              <a:rPr lang="en-IN" sz="6400" dirty="0"/>
              <a:t>to stop child marriages</a:t>
            </a:r>
          </a:p>
          <a:p>
            <a:pPr lvl="0"/>
            <a:r>
              <a:rPr lang="en-IN" sz="6400" dirty="0"/>
              <a:t>to empower girls and support their education </a:t>
            </a:r>
          </a:p>
          <a:p>
            <a:pPr lvl="0"/>
            <a:r>
              <a:rPr lang="en-IN" sz="6400" dirty="0"/>
              <a:t>to prevent child trafficking and </a:t>
            </a:r>
          </a:p>
          <a:p>
            <a:pPr lvl="0"/>
            <a:r>
              <a:rPr lang="en-IN" sz="6400" dirty="0"/>
              <a:t>to create a safer and brighter future for all children</a:t>
            </a:r>
          </a:p>
          <a:p>
            <a:pPr marL="0" indent="0">
              <a:buNone/>
            </a:pPr>
            <a:r>
              <a:rPr lang="en-IN" sz="6400" u="sng" dirty="0"/>
              <a:t>The Mission of CRY (Child Rights and You)</a:t>
            </a:r>
            <a:endParaRPr lang="en-IN" sz="6400" dirty="0"/>
          </a:p>
          <a:p>
            <a:pPr marL="0" indent="0">
              <a:buNone/>
            </a:pPr>
            <a:r>
              <a:rPr lang="en-IN" sz="6400" dirty="0"/>
              <a:t>CRY's mission is to empower people to take responsibility for underprivileged Indian children. They aim to motivate individuals to act, both independently and collectively, to help children reach their full potential. CRY focuses on mobilizing people's potential for change and inspiring diverse groups to work together in protecting and honouring children's rights across India.</a:t>
            </a:r>
          </a:p>
          <a:p>
            <a:pPr marL="0" indent="0">
              <a:buNone/>
            </a:pPr>
            <a:r>
              <a:rPr lang="en-IN" sz="6200" dirty="0"/>
              <a:t> </a:t>
            </a:r>
          </a:p>
          <a:p>
            <a:pPr marL="0" indent="0">
              <a:buNone/>
            </a:pPr>
            <a:endParaRPr lang="en-IN" dirty="0"/>
          </a:p>
        </p:txBody>
      </p:sp>
    </p:spTree>
    <p:extLst>
      <p:ext uri="{BB962C8B-B14F-4D97-AF65-F5344CB8AC3E}">
        <p14:creationId xmlns:p14="http://schemas.microsoft.com/office/powerpoint/2010/main" val="332067688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C1E3CC-2C4F-ACE1-B83A-16C16AF17C30}"/>
              </a:ext>
            </a:extLst>
          </p:cNvPr>
          <p:cNvSpPr>
            <a:spLocks noGrp="1"/>
          </p:cNvSpPr>
          <p:nvPr>
            <p:ph type="title"/>
          </p:nvPr>
        </p:nvSpPr>
        <p:spPr>
          <a:xfrm>
            <a:off x="726678" y="0"/>
            <a:ext cx="10515600" cy="1325563"/>
          </a:xfrm>
        </p:spPr>
        <p:txBody>
          <a:bodyPr>
            <a:normAutofit/>
          </a:bodyPr>
          <a:lstStyle/>
          <a:p>
            <a:pPr algn="ctr"/>
            <a:r>
              <a:rPr lang="en-IN" sz="3600" dirty="0">
                <a:latin typeface="Imprint MT Shadow" panose="04020605060303030202" pitchFamily="82" charset="0"/>
              </a:rPr>
              <a:t>Legal Compliances</a:t>
            </a:r>
          </a:p>
        </p:txBody>
      </p:sp>
      <p:sp>
        <p:nvSpPr>
          <p:cNvPr id="3" name="Content Placeholder 2">
            <a:extLst>
              <a:ext uri="{FF2B5EF4-FFF2-40B4-BE49-F238E27FC236}">
                <a16:creationId xmlns:a16="http://schemas.microsoft.com/office/drawing/2014/main" id="{B070740F-2A40-EF23-9586-9E301AF02B25}"/>
              </a:ext>
            </a:extLst>
          </p:cNvPr>
          <p:cNvSpPr>
            <a:spLocks noGrp="1"/>
          </p:cNvSpPr>
          <p:nvPr>
            <p:ph idx="1"/>
          </p:nvPr>
        </p:nvSpPr>
        <p:spPr>
          <a:xfrm>
            <a:off x="277014" y="1325563"/>
            <a:ext cx="11414928" cy="5236010"/>
          </a:xfrm>
        </p:spPr>
        <p:txBody>
          <a:bodyPr>
            <a:normAutofit/>
          </a:bodyPr>
          <a:lstStyle/>
          <a:p>
            <a:pPr marL="0" indent="0">
              <a:buNone/>
            </a:pPr>
            <a:r>
              <a:rPr lang="en-US" sz="2000" dirty="0"/>
              <a:t>CRY’s Child Safeguarding Policy (CSP) ensures all procedures align with statutory laws to protect children from harm, abuse, neglect, and exploitation. It emphasizes awareness among staff and associates, while highlighting that ignorance of the law offers no excuse.</a:t>
            </a:r>
          </a:p>
          <a:p>
            <a:pPr marL="0" indent="0">
              <a:buNone/>
            </a:pPr>
            <a:r>
              <a:rPr lang="en-US" sz="2000" u="sng" dirty="0"/>
              <a:t>Direct Legal Compliances</a:t>
            </a:r>
          </a:p>
          <a:p>
            <a:pPr marL="0" indent="0">
              <a:buNone/>
            </a:pPr>
            <a:r>
              <a:rPr lang="en-US" sz="2000" dirty="0"/>
              <a:t>1.  POCSO Act, 2012</a:t>
            </a:r>
          </a:p>
          <a:p>
            <a:pPr marL="0" indent="0">
              <a:buNone/>
            </a:pPr>
            <a:r>
              <a:rPr lang="en-US" sz="2000" dirty="0"/>
              <a:t>This Act protects children from sexual assault and harassment. Under Sections 19 &amp; 20, mandatory reporting of offences is required. NGOs and individuals failing to report may face imprisonment and fines.</a:t>
            </a:r>
          </a:p>
          <a:p>
            <a:pPr marL="0" indent="0">
              <a:buNone/>
            </a:pPr>
            <a:r>
              <a:rPr lang="en-US" sz="2000" dirty="0"/>
              <a:t>2.  Prohibition of Child Marriage Act, 2006</a:t>
            </a:r>
          </a:p>
          <a:p>
            <a:pPr marL="0" indent="0">
              <a:buNone/>
            </a:pPr>
            <a:r>
              <a:rPr lang="en-US" sz="2000" dirty="0"/>
              <a:t>Defines minors as girls under 18 and boys under 21. Marriage of minors is punishable by up to 2 years in prison or ₹1 lakh fine. Those conducting, promoting, or failing to prevent child marriages are liable under Sections 9-11.</a:t>
            </a:r>
          </a:p>
          <a:p>
            <a:pPr marL="0" indent="0">
              <a:buNone/>
            </a:pPr>
            <a:r>
              <a:rPr lang="en-US" sz="2000" dirty="0"/>
              <a:t>3. Juvenile Justice Act, 2015</a:t>
            </a:r>
          </a:p>
          <a:p>
            <a:pPr marL="0" indent="0">
              <a:buNone/>
            </a:pPr>
            <a:r>
              <a:rPr lang="en-US" sz="2000" dirty="0"/>
              <a:t>Replaces the 2000 Act, strengthening protection and rehabilitation for children in need or in conflict with the law. Section 75 penalizes cruelty with up to 10 years' imprisonment in severe cases. Institutions must prevent abuse (Rules 60 &amp; 31).</a:t>
            </a:r>
            <a:endParaRPr lang="en-IN" sz="2000" dirty="0"/>
          </a:p>
        </p:txBody>
      </p:sp>
    </p:spTree>
    <p:extLst>
      <p:ext uri="{BB962C8B-B14F-4D97-AF65-F5344CB8AC3E}">
        <p14:creationId xmlns:p14="http://schemas.microsoft.com/office/powerpoint/2010/main" val="237896980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DC7A1B-B813-1B3C-2014-0A38758DF7E6}"/>
              </a:ext>
            </a:extLst>
          </p:cNvPr>
          <p:cNvSpPr>
            <a:spLocks noGrp="1"/>
          </p:cNvSpPr>
          <p:nvPr>
            <p:ph type="title"/>
          </p:nvPr>
        </p:nvSpPr>
        <p:spPr>
          <a:xfrm>
            <a:off x="492370" y="4853763"/>
            <a:ext cx="10515600" cy="1325563"/>
          </a:xfrm>
        </p:spPr>
        <p:txBody>
          <a:bodyPr/>
          <a:lstStyle/>
          <a:p>
            <a:pPr algn="ctr"/>
            <a:r>
              <a:rPr lang="en-IN" dirty="0">
                <a:latin typeface="Imprint MT Shadow" panose="04020605060303030202" pitchFamily="82" charset="0"/>
              </a:rPr>
              <a:t>Indirect Compliances</a:t>
            </a:r>
          </a:p>
        </p:txBody>
      </p:sp>
      <p:sp>
        <p:nvSpPr>
          <p:cNvPr id="3" name="Content Placeholder 2">
            <a:extLst>
              <a:ext uri="{FF2B5EF4-FFF2-40B4-BE49-F238E27FC236}">
                <a16:creationId xmlns:a16="http://schemas.microsoft.com/office/drawing/2014/main" id="{527737A2-2734-8B7F-D200-E9EF6A1E40B3}"/>
              </a:ext>
            </a:extLst>
          </p:cNvPr>
          <p:cNvSpPr>
            <a:spLocks noGrp="1"/>
          </p:cNvSpPr>
          <p:nvPr>
            <p:ph idx="1"/>
          </p:nvPr>
        </p:nvSpPr>
        <p:spPr>
          <a:xfrm>
            <a:off x="599552" y="856675"/>
            <a:ext cx="10992896" cy="4659870"/>
          </a:xfrm>
        </p:spPr>
        <p:txBody>
          <a:bodyPr>
            <a:normAutofit/>
          </a:bodyPr>
          <a:lstStyle/>
          <a:p>
            <a:pPr marL="0" indent="0">
              <a:buNone/>
            </a:pPr>
            <a:r>
              <a:rPr lang="en-US" sz="2000" u="sng" dirty="0"/>
              <a:t>Right to Education (RTE) Act, 2009</a:t>
            </a:r>
          </a:p>
          <a:p>
            <a:pPr marL="0" indent="0">
              <a:buNone/>
            </a:pPr>
            <a:r>
              <a:rPr lang="en-US" sz="2000" dirty="0"/>
              <a:t>Section 17 prohibits physical or mental punishment in schools. School Management Committees must report rights violations. Guidelines promote positive engagement and mental health support.</a:t>
            </a:r>
          </a:p>
          <a:p>
            <a:pPr marL="0" indent="0">
              <a:buNone/>
            </a:pPr>
            <a:r>
              <a:rPr lang="en-US" sz="2000" u="sng" dirty="0"/>
              <a:t>Child and Adolescent Labor (Prohibition and Regulation) Act, 1986 (Amended 2016)</a:t>
            </a:r>
          </a:p>
          <a:p>
            <a:pPr marL="0" indent="0">
              <a:buNone/>
            </a:pPr>
            <a:r>
              <a:rPr lang="en-US" sz="2000" dirty="0"/>
              <a:t>Prohibits employment of children under 14 in hazardous jobs. Permits light, non-hazardous family-based work post-school. Working hours, conditions, and holidays are strictly regulated to protect health and education.</a:t>
            </a:r>
          </a:p>
          <a:p>
            <a:pPr marL="0" indent="0">
              <a:buNone/>
            </a:pPr>
            <a:r>
              <a:rPr lang="en-US" sz="2000" u="sng" dirty="0"/>
              <a:t>Registration of Births and Deaths Act, 1969</a:t>
            </a:r>
          </a:p>
          <a:p>
            <a:pPr marL="0" indent="0">
              <a:buNone/>
            </a:pPr>
            <a:r>
              <a:rPr lang="en-US" sz="2000" dirty="0"/>
              <a:t>Mandates birth registration to secure children's legal identity, ensuring access to education, healthcare, and protection from exploitation. Birth registration helps governments maintain accurate child protection data.</a:t>
            </a:r>
            <a:endParaRPr lang="en-IN" sz="2000" dirty="0"/>
          </a:p>
        </p:txBody>
      </p:sp>
    </p:spTree>
    <p:extLst>
      <p:ext uri="{BB962C8B-B14F-4D97-AF65-F5344CB8AC3E}">
        <p14:creationId xmlns:p14="http://schemas.microsoft.com/office/powerpoint/2010/main" val="349524465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9998CF-7823-59F6-F0A4-0866F75C7CD7}"/>
              </a:ext>
            </a:extLst>
          </p:cNvPr>
          <p:cNvSpPr>
            <a:spLocks noGrp="1"/>
          </p:cNvSpPr>
          <p:nvPr>
            <p:ph type="title"/>
          </p:nvPr>
        </p:nvSpPr>
        <p:spPr>
          <a:xfrm>
            <a:off x="838200" y="244809"/>
            <a:ext cx="10515600" cy="1325563"/>
          </a:xfrm>
        </p:spPr>
        <p:txBody>
          <a:bodyPr>
            <a:normAutofit/>
          </a:bodyPr>
          <a:lstStyle/>
          <a:p>
            <a:pPr algn="ctr"/>
            <a:r>
              <a:rPr lang="en-IN" sz="3200" dirty="0">
                <a:latin typeface="Imprint MT Shadow" panose="04020605060303030202" pitchFamily="82" charset="0"/>
              </a:rPr>
              <a:t>IMPORTANCE OF CHILD SAFEGUARDING POLICY</a:t>
            </a:r>
          </a:p>
        </p:txBody>
      </p:sp>
      <p:sp>
        <p:nvSpPr>
          <p:cNvPr id="3" name="Content Placeholder 2">
            <a:extLst>
              <a:ext uri="{FF2B5EF4-FFF2-40B4-BE49-F238E27FC236}">
                <a16:creationId xmlns:a16="http://schemas.microsoft.com/office/drawing/2014/main" id="{AF47948D-101B-52CF-D4A9-0A67774C3860}"/>
              </a:ext>
            </a:extLst>
          </p:cNvPr>
          <p:cNvSpPr>
            <a:spLocks noGrp="1"/>
          </p:cNvSpPr>
          <p:nvPr>
            <p:ph idx="1"/>
          </p:nvPr>
        </p:nvSpPr>
        <p:spPr>
          <a:xfrm>
            <a:off x="168441" y="1395663"/>
            <a:ext cx="11634537" cy="5077325"/>
          </a:xfrm>
        </p:spPr>
        <p:txBody>
          <a:bodyPr>
            <a:normAutofit/>
          </a:bodyPr>
          <a:lstStyle/>
          <a:p>
            <a:pPr marL="0" indent="0">
              <a:buNone/>
            </a:pPr>
            <a:r>
              <a:rPr lang="en-IN" sz="2000" dirty="0"/>
              <a:t>Child safeguarding policies are crucial because they create a safer environment for children by preventing harm, abuse, and neglect. These policies ensure that children's rights and well-being are prioritized, fostering healthy growth and development. </a:t>
            </a:r>
          </a:p>
          <a:p>
            <a:pPr marL="0" indent="0">
              <a:buNone/>
            </a:pPr>
            <a:r>
              <a:rPr lang="en-IN" sz="2000" u="sng" dirty="0"/>
              <a:t>Safeguarding:</a:t>
            </a:r>
          </a:p>
          <a:p>
            <a:pPr lvl="0"/>
            <a:r>
              <a:rPr lang="en-IN" sz="2000" dirty="0"/>
              <a:t>Protecting children from abuse and maltreatment.</a:t>
            </a:r>
          </a:p>
          <a:p>
            <a:pPr lvl="0"/>
            <a:r>
              <a:rPr lang="en-IN" sz="2000" dirty="0"/>
              <a:t>Preventing harm to children’s health or development.</a:t>
            </a:r>
          </a:p>
          <a:p>
            <a:pPr lvl="0"/>
            <a:r>
              <a:rPr lang="en-IN" sz="2000" dirty="0"/>
              <a:t>Ensuring children grow up with the provision of safe and effective care.</a:t>
            </a:r>
          </a:p>
          <a:p>
            <a:pPr lvl="0"/>
            <a:r>
              <a:rPr lang="en-IN" sz="2000" dirty="0"/>
              <a:t>Taking action to enable all children  to have the best outcomes.</a:t>
            </a:r>
          </a:p>
          <a:p>
            <a:r>
              <a:rPr lang="en-IN" sz="2000" dirty="0"/>
              <a:t>Here's a more detailed breakdown of the importance of child safeguarding policies:</a:t>
            </a:r>
          </a:p>
          <a:p>
            <a:pPr marL="0" indent="0">
              <a:buNone/>
            </a:pPr>
            <a:r>
              <a:rPr lang="en-IN" sz="2000" dirty="0"/>
              <a:t>1. </a:t>
            </a:r>
            <a:r>
              <a:rPr lang="en-IN" sz="2000" u="sng" dirty="0"/>
              <a:t>Protecting Children from Harm:</a:t>
            </a:r>
          </a:p>
          <a:p>
            <a:pPr lvl="0"/>
            <a:r>
              <a:rPr lang="en-IN" sz="2000" dirty="0"/>
              <a:t>Preventing Abuse and Neglect</a:t>
            </a:r>
          </a:p>
          <a:p>
            <a:pPr lvl="0"/>
            <a:r>
              <a:rPr lang="en-IN" sz="2000" dirty="0"/>
              <a:t>Creating Safe Environments </a:t>
            </a:r>
          </a:p>
          <a:p>
            <a:pPr marL="0" indent="0">
              <a:buNone/>
            </a:pPr>
            <a:r>
              <a:rPr lang="en-IN" sz="2000" dirty="0"/>
              <a:t>2. </a:t>
            </a:r>
            <a:r>
              <a:rPr lang="en-IN" sz="2000" u="sng" dirty="0"/>
              <a:t>Promoting Children's Rights and Well-being</a:t>
            </a:r>
          </a:p>
          <a:p>
            <a:pPr marL="0" indent="0">
              <a:buNone/>
            </a:pPr>
            <a:endParaRPr lang="en-IN" dirty="0"/>
          </a:p>
        </p:txBody>
      </p:sp>
    </p:spTree>
    <p:extLst>
      <p:ext uri="{BB962C8B-B14F-4D97-AF65-F5344CB8AC3E}">
        <p14:creationId xmlns:p14="http://schemas.microsoft.com/office/powerpoint/2010/main" val="54466419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AE271A-25EF-2211-4577-DD39E9F08C6A}"/>
              </a:ext>
            </a:extLst>
          </p:cNvPr>
          <p:cNvSpPr>
            <a:spLocks noGrp="1"/>
          </p:cNvSpPr>
          <p:nvPr>
            <p:ph type="title"/>
          </p:nvPr>
        </p:nvSpPr>
        <p:spPr>
          <a:xfrm flipH="1" flipV="1">
            <a:off x="12067231" y="0"/>
            <a:ext cx="45719" cy="70339"/>
          </a:xfrm>
        </p:spPr>
        <p:txBody>
          <a:bodyPr>
            <a:normAutofit fontScale="90000"/>
          </a:bodyPr>
          <a:lstStyle/>
          <a:p>
            <a:r>
              <a:rPr lang="en-US" sz="100" dirty="0"/>
              <a:t>s</a:t>
            </a:r>
            <a:endParaRPr lang="en-IN" sz="100" dirty="0"/>
          </a:p>
        </p:txBody>
      </p:sp>
      <p:sp>
        <p:nvSpPr>
          <p:cNvPr id="3" name="Content Placeholder 2">
            <a:extLst>
              <a:ext uri="{FF2B5EF4-FFF2-40B4-BE49-F238E27FC236}">
                <a16:creationId xmlns:a16="http://schemas.microsoft.com/office/drawing/2014/main" id="{2127B040-EE02-2928-400B-E1F3C8F19FAA}"/>
              </a:ext>
            </a:extLst>
          </p:cNvPr>
          <p:cNvSpPr>
            <a:spLocks noGrp="1"/>
          </p:cNvSpPr>
          <p:nvPr>
            <p:ph idx="1"/>
          </p:nvPr>
        </p:nvSpPr>
        <p:spPr>
          <a:xfrm>
            <a:off x="378487" y="149127"/>
            <a:ext cx="11435025" cy="5898382"/>
          </a:xfrm>
        </p:spPr>
        <p:txBody>
          <a:bodyPr>
            <a:normAutofit fontScale="92500" lnSpcReduction="10000"/>
          </a:bodyPr>
          <a:lstStyle/>
          <a:p>
            <a:pPr marL="0" indent="0">
              <a:buNone/>
            </a:pPr>
            <a:r>
              <a:rPr lang="en-IN" sz="1700" u="sng" dirty="0"/>
              <a:t>Awareness</a:t>
            </a:r>
          </a:p>
          <a:p>
            <a:pPr lvl="0"/>
            <a:r>
              <a:rPr lang="en-IN" sz="1700" dirty="0"/>
              <a:t>Directors / functional heads / program heads will ensure that the  organization representatives are aware of  commitment to the prevention of child abuse and exploitation.</a:t>
            </a:r>
          </a:p>
          <a:p>
            <a:pPr marL="0" indent="0">
              <a:buNone/>
            </a:pPr>
            <a:r>
              <a:rPr lang="en-IN" sz="1700" u="sng" dirty="0"/>
              <a:t>Prevention</a:t>
            </a:r>
          </a:p>
          <a:p>
            <a:pPr lvl="0"/>
            <a:r>
              <a:rPr lang="en-IN" sz="1700" dirty="0"/>
              <a:t>Representatives will use best efforts to ensure that children are not put at risk of abuse or exploitation.</a:t>
            </a:r>
          </a:p>
          <a:p>
            <a:pPr lvl="0"/>
            <a:r>
              <a:rPr lang="en-IN" sz="1700" dirty="0"/>
              <a:t>Ensure informed consent from children (parents or guardian in case of young children), Parents or care givers / guardian before taking images (photo/videos etc.) They’ll also respect  the children’s decision to say ‘No’ to  an  image being taken.</a:t>
            </a:r>
          </a:p>
          <a:p>
            <a:pPr lvl="0"/>
            <a:r>
              <a:rPr lang="en-IN" sz="1700" dirty="0"/>
              <a:t>Representatives will obey the country laws, standard operating procedures and country protection mechanisms.</a:t>
            </a:r>
          </a:p>
          <a:p>
            <a:pPr marL="0" indent="0">
              <a:buNone/>
            </a:pPr>
            <a:r>
              <a:rPr lang="en-IN" sz="1700" u="sng" dirty="0"/>
              <a:t>Reporting</a:t>
            </a:r>
          </a:p>
          <a:p>
            <a:pPr lvl="0"/>
            <a:r>
              <a:rPr lang="en-IN" sz="1700" dirty="0"/>
              <a:t> Employees  and associates will ensure that they are fully aware of the standard reporting</a:t>
            </a:r>
          </a:p>
          <a:p>
            <a:r>
              <a:rPr lang="en-IN" sz="1700" dirty="0"/>
              <a:t>  requirements in the event of suspicion or allegations of child abuse or exploitation, for any internal and external incident of abuse.</a:t>
            </a:r>
          </a:p>
          <a:p>
            <a:pPr lvl="0"/>
            <a:r>
              <a:rPr lang="en-IN" sz="1700" dirty="0"/>
              <a:t> Reporting any abuse is mandatory and the  representatives should report as soon as possible and within 24 hours to the higher authority . </a:t>
            </a:r>
          </a:p>
          <a:p>
            <a:pPr lvl="0"/>
            <a:r>
              <a:rPr lang="en-IN" sz="1700" dirty="0"/>
              <a:t>Confidentiality should be maintained.</a:t>
            </a:r>
          </a:p>
          <a:p>
            <a:pPr lvl="0"/>
            <a:r>
              <a:rPr lang="en-IN" sz="1700" dirty="0"/>
              <a:t>The representatives will cooperate in the investigation process.</a:t>
            </a:r>
          </a:p>
          <a:p>
            <a:pPr marL="0" indent="0">
              <a:buNone/>
            </a:pPr>
            <a:r>
              <a:rPr lang="en-IN" sz="1700" u="sng" dirty="0"/>
              <a:t>Responding</a:t>
            </a:r>
          </a:p>
          <a:p>
            <a:r>
              <a:rPr lang="en-IN" sz="1700" dirty="0"/>
              <a:t>  The first response to address the complaint should come as soon as possible and within 4  hours of reporting of the incident.</a:t>
            </a:r>
          </a:p>
          <a:p>
            <a:pPr lvl="0"/>
            <a:r>
              <a:rPr lang="en-IN" sz="1700" dirty="0"/>
              <a:t> When child abuse or exploitation is reported, an appropriate investigation process will be followed and conducted as approved by higher authority and may consult with legal  operations .</a:t>
            </a:r>
          </a:p>
          <a:p>
            <a:pPr lvl="0"/>
            <a:r>
              <a:rPr lang="en-IN" sz="1700" dirty="0"/>
              <a:t> Internal investigation will undertake a confidential, thorough, impartial and prompt process.</a:t>
            </a:r>
          </a:p>
          <a:p>
            <a:pPr marL="0" indent="0">
              <a:buNone/>
            </a:pPr>
            <a:endParaRPr lang="en-IN" dirty="0"/>
          </a:p>
        </p:txBody>
      </p:sp>
      <p:sp>
        <p:nvSpPr>
          <p:cNvPr id="4" name="TextBox 3">
            <a:extLst>
              <a:ext uri="{FF2B5EF4-FFF2-40B4-BE49-F238E27FC236}">
                <a16:creationId xmlns:a16="http://schemas.microsoft.com/office/drawing/2014/main" id="{A24B34BD-61B5-3B4A-55F7-ADCD2B1B7654}"/>
              </a:ext>
            </a:extLst>
          </p:cNvPr>
          <p:cNvSpPr txBox="1"/>
          <p:nvPr/>
        </p:nvSpPr>
        <p:spPr>
          <a:xfrm>
            <a:off x="1312984" y="6124098"/>
            <a:ext cx="9566030" cy="584775"/>
          </a:xfrm>
          <a:prstGeom prst="rect">
            <a:avLst/>
          </a:prstGeom>
          <a:noFill/>
        </p:spPr>
        <p:txBody>
          <a:bodyPr wrap="square" rtlCol="0">
            <a:spAutoFit/>
          </a:bodyPr>
          <a:lstStyle/>
          <a:p>
            <a:pPr algn="ctr"/>
            <a:r>
              <a:rPr lang="en-US" sz="3200" dirty="0">
                <a:latin typeface="Imprint MT Shadow" panose="04020605060303030202" pitchFamily="82" charset="0"/>
              </a:rPr>
              <a:t>Responsibilities Under the Policy</a:t>
            </a:r>
            <a:endParaRPr lang="en-IN" sz="3200" dirty="0">
              <a:latin typeface="Imprint MT Shadow" panose="04020605060303030202" pitchFamily="82" charset="0"/>
            </a:endParaRPr>
          </a:p>
        </p:txBody>
      </p:sp>
    </p:spTree>
    <p:extLst>
      <p:ext uri="{BB962C8B-B14F-4D97-AF65-F5344CB8AC3E}">
        <p14:creationId xmlns:p14="http://schemas.microsoft.com/office/powerpoint/2010/main" val="218282537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D0CA38-209A-35C6-49FD-5170A4287C62}"/>
              </a:ext>
            </a:extLst>
          </p:cNvPr>
          <p:cNvSpPr>
            <a:spLocks noGrp="1"/>
          </p:cNvSpPr>
          <p:nvPr>
            <p:ph type="title"/>
          </p:nvPr>
        </p:nvSpPr>
        <p:spPr>
          <a:xfrm>
            <a:off x="838200" y="276727"/>
            <a:ext cx="10515600" cy="1150854"/>
          </a:xfrm>
        </p:spPr>
        <p:txBody>
          <a:bodyPr/>
          <a:lstStyle/>
          <a:p>
            <a:r>
              <a:rPr lang="en-US" dirty="0"/>
              <a:t>                                  </a:t>
            </a:r>
            <a:r>
              <a:rPr lang="en-US" dirty="0">
                <a:latin typeface="Imprint MT Shadow" panose="04020605060303030202" pitchFamily="82" charset="0"/>
              </a:rPr>
              <a:t>Media</a:t>
            </a:r>
            <a:endParaRPr lang="en-IN" dirty="0"/>
          </a:p>
        </p:txBody>
      </p:sp>
      <p:sp>
        <p:nvSpPr>
          <p:cNvPr id="3" name="Content Placeholder 2">
            <a:extLst>
              <a:ext uri="{FF2B5EF4-FFF2-40B4-BE49-F238E27FC236}">
                <a16:creationId xmlns:a16="http://schemas.microsoft.com/office/drawing/2014/main" id="{ABCE278D-921F-4007-4280-DC2F8ADD83CD}"/>
              </a:ext>
            </a:extLst>
          </p:cNvPr>
          <p:cNvSpPr>
            <a:spLocks noGrp="1"/>
          </p:cNvSpPr>
          <p:nvPr>
            <p:ph idx="1"/>
          </p:nvPr>
        </p:nvSpPr>
        <p:spPr>
          <a:xfrm>
            <a:off x="218573" y="1552074"/>
            <a:ext cx="11754853" cy="5305926"/>
          </a:xfrm>
        </p:spPr>
        <p:txBody>
          <a:bodyPr>
            <a:normAutofit/>
          </a:bodyPr>
          <a:lstStyle/>
          <a:p>
            <a:pPr marL="0" indent="0">
              <a:buNone/>
            </a:pPr>
            <a:r>
              <a:rPr lang="en-US" sz="2000" u="sng" dirty="0"/>
              <a:t>Protection of Children against Sexual Offences (POCSO) Act, 2012</a:t>
            </a:r>
          </a:p>
          <a:p>
            <a:pPr marL="0" indent="0">
              <a:buNone/>
            </a:pPr>
            <a:r>
              <a:rPr lang="en-US" sz="2000" dirty="0"/>
              <a:t>"The POCSO Act, 2012 is a comprehensive law to provide for the protection of children from the offences of sexual assault, sexual harassment and pornography, while safeguarding the interests of the child at every stage of the judicial process by incorporating child-friendly mechanisms for reporting, recording of evidence, investigation and speedy trial of offences through designated Special Courts.”</a:t>
            </a:r>
          </a:p>
          <a:p>
            <a:pPr marL="0" indent="0">
              <a:buNone/>
            </a:pPr>
            <a:r>
              <a:rPr lang="en-US" sz="2000" u="sng" dirty="0"/>
              <a:t>Press Council of India Act, 1978 </a:t>
            </a:r>
          </a:p>
          <a:p>
            <a:r>
              <a:rPr lang="en-US" sz="2000" dirty="0"/>
              <a:t>Right to Privacy</a:t>
            </a:r>
            <a:endParaRPr lang="en-US" sz="2000" u="sng" dirty="0"/>
          </a:p>
          <a:p>
            <a:r>
              <a:rPr lang="en-US" sz="2000" dirty="0"/>
              <a:t> Caution against Identification.</a:t>
            </a:r>
          </a:p>
          <a:p>
            <a:r>
              <a:rPr lang="en-US" sz="2000" dirty="0"/>
              <a:t>Ensure Sensitivity on Child‐Related Stories.</a:t>
            </a:r>
          </a:p>
          <a:p>
            <a:r>
              <a:rPr lang="en-US" sz="2000" dirty="0"/>
              <a:t>The Cable Television Networks (Regulation) Act, 1995 and its Rules, 1994. </a:t>
            </a:r>
          </a:p>
          <a:p>
            <a:r>
              <a:rPr lang="en-US" sz="2000" dirty="0"/>
              <a:t>The Program Code and Advertising Code as per Rule 6 and 7 provide that no program or advertisement which denigrates children should be carried in cable service. This Act is applicable to all broadcasters and these codes are mandatory to all programs aired by them.</a:t>
            </a:r>
          </a:p>
          <a:p>
            <a:r>
              <a:rPr lang="en-US" sz="2000" dirty="0"/>
              <a:t>Juvenile Justice Act (Care and Protection) Act, 2015</a:t>
            </a:r>
          </a:p>
        </p:txBody>
      </p:sp>
    </p:spTree>
    <p:extLst>
      <p:ext uri="{BB962C8B-B14F-4D97-AF65-F5344CB8AC3E}">
        <p14:creationId xmlns:p14="http://schemas.microsoft.com/office/powerpoint/2010/main" val="81236052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781889-7D83-A698-171C-6CA6156EB878}"/>
              </a:ext>
            </a:extLst>
          </p:cNvPr>
          <p:cNvSpPr>
            <a:spLocks noGrp="1"/>
          </p:cNvSpPr>
          <p:nvPr>
            <p:ph type="title"/>
          </p:nvPr>
        </p:nvSpPr>
        <p:spPr>
          <a:xfrm>
            <a:off x="381088" y="5785151"/>
            <a:ext cx="10515600" cy="874128"/>
          </a:xfrm>
        </p:spPr>
        <p:txBody>
          <a:bodyPr/>
          <a:lstStyle/>
          <a:p>
            <a:r>
              <a:rPr lang="en-US" b="1" i="1" dirty="0"/>
              <a:t>                  </a:t>
            </a:r>
            <a:r>
              <a:rPr lang="en-US" dirty="0">
                <a:latin typeface="Imprint MT Shadow" panose="04020605060303030202" pitchFamily="82" charset="0"/>
              </a:rPr>
              <a:t>Online Safety of Children</a:t>
            </a:r>
            <a:endParaRPr lang="en-IN" i="1" dirty="0">
              <a:latin typeface="Imprint MT Shadow" panose="04020605060303030202" pitchFamily="82" charset="0"/>
            </a:endParaRPr>
          </a:p>
        </p:txBody>
      </p:sp>
      <p:sp>
        <p:nvSpPr>
          <p:cNvPr id="3" name="Content Placeholder 2">
            <a:extLst>
              <a:ext uri="{FF2B5EF4-FFF2-40B4-BE49-F238E27FC236}">
                <a16:creationId xmlns:a16="http://schemas.microsoft.com/office/drawing/2014/main" id="{FFC2CF49-3C26-11C8-B73F-DD555F2A6208}"/>
              </a:ext>
            </a:extLst>
          </p:cNvPr>
          <p:cNvSpPr>
            <a:spLocks noGrp="1"/>
          </p:cNvSpPr>
          <p:nvPr>
            <p:ph idx="1"/>
          </p:nvPr>
        </p:nvSpPr>
        <p:spPr>
          <a:xfrm>
            <a:off x="128249" y="198721"/>
            <a:ext cx="11682663" cy="5666873"/>
          </a:xfrm>
        </p:spPr>
        <p:txBody>
          <a:bodyPr>
            <a:normAutofit fontScale="32500" lnSpcReduction="20000"/>
          </a:bodyPr>
          <a:lstStyle/>
          <a:p>
            <a:pPr fontAlgn="base"/>
            <a:r>
              <a:rPr lang="en-US" sz="4300" u="sng" dirty="0"/>
              <a:t>Objective</a:t>
            </a:r>
            <a:r>
              <a:rPr lang="en-US" sz="4300" dirty="0"/>
              <a:t>: In the current situation where internet usage  has become an integral part in children’s life either for communication,  education or participation in common interests. Under this SOP, children representing the organization on various events, webinars, conferences, interviews and other such online meetings either hosted internally or by other agencies/institutions and children participating in online study classes facilitated by the volunteers would be covered. </a:t>
            </a:r>
          </a:p>
          <a:p>
            <a:pPr fontAlgn="base"/>
            <a:r>
              <a:rPr lang="en-US" sz="4300" u="sng" dirty="0"/>
              <a:t>Children representing the organization or participating in various Online programs /events. </a:t>
            </a:r>
          </a:p>
          <a:p>
            <a:pPr marL="0" indent="0" fontAlgn="base">
              <a:buNone/>
            </a:pPr>
            <a:r>
              <a:rPr lang="en-US" sz="4300" u="sng" dirty="0"/>
              <a:t>Selection of the child/children</a:t>
            </a:r>
            <a:r>
              <a:rPr lang="en-US" sz="4300" dirty="0"/>
              <a:t> </a:t>
            </a:r>
          </a:p>
          <a:p>
            <a:pPr marL="514350" indent="-514350" fontAlgn="base">
              <a:buFont typeface="+mj-lt"/>
              <a:buAutoNum type="arabicPeriod"/>
            </a:pPr>
            <a:r>
              <a:rPr lang="en-US" sz="4300" dirty="0"/>
              <a:t>Children can be invited to be attend various online programs, events, webinars, etc. but their Identities and background information should not be shared. </a:t>
            </a:r>
          </a:p>
          <a:p>
            <a:pPr marL="514350" indent="-514350" fontAlgn="base">
              <a:buFont typeface="+mj-lt"/>
              <a:buAutoNum type="arabicPeriod"/>
            </a:pPr>
            <a:r>
              <a:rPr lang="en-US" sz="4300" dirty="0"/>
              <a:t>Children with backgrounds of Child Labor, Child Marriage, Child Trafficking, Child Sexual Abuse and exploitation including commercial sex exploitation and children in conflict with law should not be interviewed or be representing in a forum as there may be a threat. </a:t>
            </a:r>
          </a:p>
          <a:p>
            <a:pPr fontAlgn="base"/>
            <a:r>
              <a:rPr lang="en-US" sz="4300" u="sng" dirty="0"/>
              <a:t>Documentation</a:t>
            </a:r>
            <a:r>
              <a:rPr lang="en-US" sz="4300" dirty="0"/>
              <a:t> </a:t>
            </a:r>
          </a:p>
          <a:p>
            <a:pPr marL="0" indent="0" fontAlgn="base">
              <a:buNone/>
            </a:pPr>
            <a:r>
              <a:rPr lang="en-US" sz="4300" dirty="0"/>
              <a:t>Ensure that purpose and objective of the event is shared and explained to the Child and its Parents/ guardians and to secure the consent forms from children or their legal guardian by getting their signatures. </a:t>
            </a:r>
          </a:p>
          <a:p>
            <a:pPr fontAlgn="base"/>
            <a:r>
              <a:rPr lang="en-US" sz="4300" u="sng" dirty="0"/>
              <a:t>Orientation and Preparation of the child</a:t>
            </a:r>
            <a:r>
              <a:rPr lang="en-US" sz="4300" dirty="0"/>
              <a:t> </a:t>
            </a:r>
          </a:p>
          <a:p>
            <a:pPr marL="514350" indent="-514350" fontAlgn="base">
              <a:buFont typeface="+mj-lt"/>
              <a:buAutoNum type="arabicPeriod"/>
            </a:pPr>
            <a:r>
              <a:rPr lang="en-US" sz="4300" dirty="0"/>
              <a:t>The child should be explained the expectations of her/him clearly. </a:t>
            </a:r>
          </a:p>
          <a:p>
            <a:pPr marL="514350" indent="-514350" fontAlgn="base">
              <a:buFont typeface="+mj-lt"/>
              <a:buAutoNum type="arabicPeriod"/>
            </a:pPr>
            <a:r>
              <a:rPr lang="en-US" sz="4300" dirty="0"/>
              <a:t>Please do share any Dos and Don’ts the children are expected to follow during the program. </a:t>
            </a:r>
          </a:p>
          <a:p>
            <a:pPr marL="514350" indent="-514350" fontAlgn="base">
              <a:buFont typeface="+mj-lt"/>
              <a:buAutoNum type="arabicPeriod"/>
            </a:pPr>
            <a:r>
              <a:rPr lang="en-US" sz="4300" dirty="0"/>
              <a:t>Ensure that no footprint is left of the child after the program. </a:t>
            </a:r>
          </a:p>
          <a:p>
            <a:pPr marL="514350" indent="-514350" fontAlgn="base">
              <a:buFont typeface="+mj-lt"/>
              <a:buAutoNum type="arabicPeriod"/>
            </a:pPr>
            <a:r>
              <a:rPr lang="en-US" sz="4300" dirty="0"/>
              <a:t>NGO partner should be in the loop and also the conversation. </a:t>
            </a:r>
          </a:p>
          <a:p>
            <a:pPr fontAlgn="base"/>
            <a:r>
              <a:rPr lang="en-US" sz="4300" u="sng" dirty="0"/>
              <a:t>Program/event management</a:t>
            </a:r>
            <a:r>
              <a:rPr lang="en-US" sz="4300" dirty="0"/>
              <a:t> </a:t>
            </a:r>
          </a:p>
          <a:p>
            <a:pPr marL="514350" indent="-514350" fontAlgn="base">
              <a:buFont typeface="+mj-lt"/>
              <a:buAutoNum type="arabicPeriod"/>
            </a:pPr>
            <a:r>
              <a:rPr lang="en-US" sz="4300" dirty="0"/>
              <a:t>All the programs organized on the Online forum should be strictly by invitation or by creating a registration link to mitigate any risk to the child during and post the event and also to the larger audience.  </a:t>
            </a:r>
          </a:p>
          <a:p>
            <a:pPr marL="514350" indent="-514350" fontAlgn="base">
              <a:buFont typeface="+mj-lt"/>
              <a:buAutoNum type="arabicPeriod"/>
            </a:pPr>
            <a:r>
              <a:rPr lang="en-US" sz="4300" dirty="0"/>
              <a:t>Registering for the event will help us know our audience and we would be able to have their database. Invite link should be sent out only to the participants who have registered.  </a:t>
            </a:r>
          </a:p>
          <a:p>
            <a:pPr marL="0" indent="0">
              <a:buNone/>
            </a:pPr>
            <a:endParaRPr lang="en-IN" sz="1200" dirty="0"/>
          </a:p>
        </p:txBody>
      </p:sp>
    </p:spTree>
    <p:extLst>
      <p:ext uri="{BB962C8B-B14F-4D97-AF65-F5344CB8AC3E}">
        <p14:creationId xmlns:p14="http://schemas.microsoft.com/office/powerpoint/2010/main" val="9912003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877</TotalTime>
  <Words>1877</Words>
  <Application>Microsoft Office PowerPoint</Application>
  <PresentationFormat>Widescreen</PresentationFormat>
  <Paragraphs>94</Paragraphs>
  <Slides>9</Slides>
  <Notes>0</Notes>
  <HiddenSlides>0</HiddenSlides>
  <MMClips>0</MMClips>
  <ScaleCrop>false</ScaleCrop>
  <HeadingPairs>
    <vt:vector size="4" baseType="variant">
      <vt:variant>
        <vt:lpstr>Theme</vt:lpstr>
      </vt:variant>
      <vt:variant>
        <vt:i4>1</vt:i4>
      </vt:variant>
      <vt:variant>
        <vt:lpstr>Slide Titles</vt:lpstr>
      </vt:variant>
      <vt:variant>
        <vt:i4>9</vt:i4>
      </vt:variant>
    </vt:vector>
  </HeadingPairs>
  <TitlesOfParts>
    <vt:vector size="10" baseType="lpstr">
      <vt:lpstr>Office Theme</vt:lpstr>
      <vt:lpstr>PowerPoint Presentation</vt:lpstr>
      <vt:lpstr>What is CRY?</vt:lpstr>
      <vt:lpstr>c</vt:lpstr>
      <vt:lpstr>Legal Compliances</vt:lpstr>
      <vt:lpstr>Indirect Compliances</vt:lpstr>
      <vt:lpstr>IMPORTANCE OF CHILD SAFEGUARDING POLICY</vt:lpstr>
      <vt:lpstr>s</vt:lpstr>
      <vt:lpstr>                                  Media</vt:lpstr>
      <vt:lpstr>                  Online Safety of Children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Arifa Islam</dc:creator>
  <cp:lastModifiedBy>Arifa Islam</cp:lastModifiedBy>
  <cp:revision>3</cp:revision>
  <dcterms:created xsi:type="dcterms:W3CDTF">2025-06-25T15:47:38Z</dcterms:created>
  <dcterms:modified xsi:type="dcterms:W3CDTF">2025-06-27T21:32:46Z</dcterms:modified>
</cp:coreProperties>
</file>