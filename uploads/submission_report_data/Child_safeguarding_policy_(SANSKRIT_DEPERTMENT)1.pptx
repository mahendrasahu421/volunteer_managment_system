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9"/>
  </p:notesMasterIdLst>
  <p:handoutMasterIdLst>
    <p:handoutMasterId r:id="rId20"/>
  </p:handoutMasterIdLst>
  <p:sldIdLst>
    <p:sldId id="312" r:id="rId5"/>
    <p:sldId id="313" r:id="rId6"/>
    <p:sldId id="314" r:id="rId7"/>
    <p:sldId id="315" r:id="rId8"/>
    <p:sldId id="316" r:id="rId9"/>
    <p:sldId id="317" r:id="rId10"/>
    <p:sldId id="318" r:id="rId11"/>
    <p:sldId id="319" r:id="rId12"/>
    <p:sldId id="320" r:id="rId13"/>
    <p:sldId id="321" r:id="rId14"/>
    <p:sldId id="322" r:id="rId15"/>
    <p:sldId id="323" r:id="rId16"/>
    <p:sldId id="324" r:id="rId17"/>
    <p:sldId id="297" r:id="rId18"/>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8BF1FEC-5BB0-4A19-89E0-C62531EB5698}">
          <p14:sldIdLst>
            <p14:sldId id="312"/>
            <p14:sldId id="313"/>
            <p14:sldId id="314"/>
            <p14:sldId id="315"/>
            <p14:sldId id="316"/>
            <p14:sldId id="317"/>
            <p14:sldId id="318"/>
            <p14:sldId id="319"/>
            <p14:sldId id="320"/>
            <p14:sldId id="321"/>
            <p14:sldId id="322"/>
            <p14:sldId id="323"/>
            <p14:sldId id="324"/>
          </p14:sldIdLst>
        </p14:section>
        <p14:section name="Untitled Section" id="{A8A6BFAF-1E88-4AB5-98AF-71B690EB32BC}">
          <p14:sldIdLst>
            <p14:sldId id="297"/>
          </p14:sldIdLst>
        </p14:section>
      </p14:sectionLst>
    </p:ex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napToObjects="1">
      <p:cViewPr varScale="1">
        <p:scale>
          <a:sx n="106" d="100"/>
          <a:sy n="106" d="100"/>
        </p:scale>
        <p:origin x="792" y="114"/>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latin typeface="Algerian" panose="04020705040A02060702" pitchFamily="82" charset="0"/>
              </a:rPr>
              <a:t>Child safeguarding policy</a:t>
            </a:r>
            <a:br>
              <a:rPr lang="en-US" dirty="0"/>
            </a:br>
            <a:r>
              <a:rPr lang="en-US" dirty="0">
                <a:solidFill>
                  <a:schemeClr val="accent1">
                    <a:lumMod val="50000"/>
                  </a:schemeClr>
                </a:solidFill>
              </a:rPr>
              <a:t>Sanskrit department</a:t>
            </a:r>
            <a:br>
              <a:rPr lang="en-US" dirty="0"/>
            </a:br>
            <a:endParaRPr lang="en-US" dirty="0"/>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2235F-534D-A7D9-3899-43F9E450D34F}"/>
              </a:ext>
            </a:extLst>
          </p:cNvPr>
          <p:cNvSpPr>
            <a:spLocks noGrp="1"/>
          </p:cNvSpPr>
          <p:nvPr>
            <p:ph type="title"/>
          </p:nvPr>
        </p:nvSpPr>
        <p:spPr>
          <a:xfrm>
            <a:off x="914400" y="482378"/>
            <a:ext cx="6583680" cy="471489"/>
          </a:xfrm>
        </p:spPr>
        <p:txBody>
          <a:bodyPr/>
          <a:lstStyle/>
          <a:p>
            <a:pPr algn="ctr"/>
            <a:r>
              <a:rPr lang="en-US" sz="1800" dirty="0">
                <a:solidFill>
                  <a:schemeClr val="accent1">
                    <a:lumMod val="50000"/>
                  </a:schemeClr>
                </a:solidFill>
              </a:rPr>
              <a:t> Introduction</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F6A6DFC9-DD02-355F-FC88-E7B624939EDB}"/>
              </a:ext>
            </a:extLst>
          </p:cNvPr>
          <p:cNvSpPr>
            <a:spLocks noGrp="1"/>
          </p:cNvSpPr>
          <p:nvPr>
            <p:ph idx="1"/>
          </p:nvPr>
        </p:nvSpPr>
        <p:spPr>
          <a:xfrm>
            <a:off x="914400" y="1129139"/>
            <a:ext cx="6583680" cy="5092574"/>
          </a:xfrm>
        </p:spPr>
        <p:txBody>
          <a:bodyPr>
            <a:noAutofit/>
          </a:bodyPr>
          <a:lstStyle/>
          <a:p>
            <a:r>
              <a:rPr lang="en-US" sz="1100" dirty="0">
                <a:latin typeface="Times New Roman" panose="02020603050405020304" pitchFamily="18" charset="0"/>
                <a:cs typeface="Times New Roman" panose="02020603050405020304" pitchFamily="18" charset="0"/>
              </a:rPr>
              <a:t>Child safeguarding refers to the responsibility of protecting children from all forms of abuse, harm, neglect, and exploitation. A Child Safeguarding Policy sets clear standards and procedures to ensure the safety and dignity of every child. It applies to all individuals working directly or indirectly with children, including staff, volunteers, consultants, and partners. The primary aim is to create an environment where children feel secure, respected, and empowered. Safeguarding is not only about responding to abuse, but also about preventing it through awareness, training, and proactive measures. Every child, regardless of gender, caste, class, religion, ability, or background, has the right to safety and protection. The policy includes guidelines for behavior, child-friendly communication, safe recruitment, and monitoring. It promotes child participation and encourages children to express their concerns freely. A key component is the establishment of accessible, confidential, and safe reporting mechanisms. All concerns must be addressed promptly and sensitively. Staff must be trained to identify risks and act in the best interests of the child. Legal compliance is essential, including adherence to national laws such as the POCSO Act, the Juvenile Justice Act, and the Prohibition of Child Marriage Act. The policy is aligned with international frameworks like the UNCRC. Confidentiality, accountability, and transparency are core principles. Regular reviews, monitoring, and risk assessments strengthen its effectiveness. The organization must take a zero-tolerance approach to abuse or violations. Children’s rights must be central to all programs and decisions. Safeguarding also includes digital safety, emotional well-being, and inclusive practices. All actions taken must be guided by the best interests of the child. Violations of the policy should result in immediate and strict action. Building a culture of child protection requires continuous effort, sensitivity, and collaboration with families and communities. Ultimately, the Child Safeguarding Policy is a tool to ensure that every child is safe, heard, and supported to grow in a protective and enabling environment.</a:t>
            </a:r>
            <a:endParaRPr lang="en-IN" sz="11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57457F9-A17B-9655-8AF4-7F029BDEBF09}"/>
              </a:ext>
            </a:extLst>
          </p:cNvPr>
          <p:cNvSpPr>
            <a:spLocks noGrp="1"/>
          </p:cNvSpPr>
          <p:nvPr>
            <p:ph type="sldNum" sz="quarter" idx="10"/>
          </p:nvPr>
        </p:nvSpPr>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1054300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1DA3D-C675-BD7E-78D2-B45240284990}"/>
              </a:ext>
            </a:extLst>
          </p:cNvPr>
          <p:cNvSpPr>
            <a:spLocks noGrp="1"/>
          </p:cNvSpPr>
          <p:nvPr>
            <p:ph type="title"/>
          </p:nvPr>
        </p:nvSpPr>
        <p:spPr>
          <a:xfrm>
            <a:off x="914400" y="224426"/>
            <a:ext cx="6583680" cy="937034"/>
          </a:xfrm>
        </p:spPr>
        <p:txBody>
          <a:bodyPr/>
          <a:lstStyle/>
          <a:p>
            <a:pPr algn="ctr"/>
            <a:r>
              <a:rPr lang="en-US" sz="1800" dirty="0">
                <a:solidFill>
                  <a:schemeClr val="accent1">
                    <a:lumMod val="50000"/>
                  </a:schemeClr>
                </a:solidFill>
              </a:rPr>
              <a:t>Annexure 1. </a:t>
            </a:r>
            <a:r>
              <a:rPr lang="en-US" sz="1800" dirty="0" err="1">
                <a:solidFill>
                  <a:schemeClr val="accent1">
                    <a:lumMod val="50000"/>
                  </a:schemeClr>
                </a:solidFill>
              </a:rPr>
              <a:t>Referance</a:t>
            </a:r>
            <a:r>
              <a:rPr lang="en-US" sz="1800" dirty="0">
                <a:solidFill>
                  <a:schemeClr val="accent1">
                    <a:lumMod val="50000"/>
                  </a:schemeClr>
                </a:solidFill>
              </a:rPr>
              <a:t> guide for statutory compliances</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168C16AC-D2FE-67CE-FCE4-A05AA7797D57}"/>
              </a:ext>
            </a:extLst>
          </p:cNvPr>
          <p:cNvSpPr>
            <a:spLocks noGrp="1"/>
          </p:cNvSpPr>
          <p:nvPr>
            <p:ph idx="1"/>
          </p:nvPr>
        </p:nvSpPr>
        <p:spPr>
          <a:xfrm>
            <a:off x="914400" y="1339914"/>
            <a:ext cx="6583680" cy="3413156"/>
          </a:xfrm>
        </p:spPr>
        <p:txBody>
          <a:bodyPr>
            <a:normAutofit/>
          </a:bodyPr>
          <a:lstStyle/>
          <a:p>
            <a:pPr marL="228600" indent="-228600">
              <a:buAutoNum type="arabicPeriod"/>
            </a:pPr>
            <a:r>
              <a:rPr lang="en-US" sz="1100" dirty="0">
                <a:latin typeface="Times New Roman" panose="02020603050405020304" pitchFamily="18" charset="0"/>
                <a:cs typeface="Times New Roman" panose="02020603050405020304" pitchFamily="18" charset="0"/>
              </a:rPr>
              <a:t>POCSO Act, 2012 – Mandates reporting of child sexual abuse; non-reporting is punishable.</a:t>
            </a:r>
          </a:p>
          <a:p>
            <a:r>
              <a:rPr lang="en-US" sz="1100" dirty="0">
                <a:latin typeface="Times New Roman" panose="02020603050405020304" pitchFamily="18" charset="0"/>
                <a:cs typeface="Times New Roman" panose="02020603050405020304" pitchFamily="18" charset="0"/>
              </a:rPr>
              <a:t>2 .   Juvenile Justice (Care and Protection of Children) Act, 2015 – Provides for care, protection, rehabilitation of children in need and conflict with law.</a:t>
            </a:r>
          </a:p>
          <a:p>
            <a:pPr marL="228600" indent="-228600">
              <a:buAutoNum type="arabicPeriod" startAt="3"/>
            </a:pPr>
            <a:r>
              <a:rPr lang="en-US" sz="1100" dirty="0">
                <a:latin typeface="Times New Roman" panose="02020603050405020304" pitchFamily="18" charset="0"/>
                <a:cs typeface="Times New Roman" panose="02020603050405020304" pitchFamily="18" charset="0"/>
              </a:rPr>
              <a:t>Child </a:t>
            </a:r>
            <a:r>
              <a:rPr lang="en-US" sz="1100" dirty="0" err="1">
                <a:latin typeface="Times New Roman" panose="02020603050405020304" pitchFamily="18" charset="0"/>
                <a:cs typeface="Times New Roman" panose="02020603050405020304" pitchFamily="18" charset="0"/>
              </a:rPr>
              <a:t>Labour</a:t>
            </a:r>
            <a:r>
              <a:rPr lang="en-US" sz="1100" dirty="0">
                <a:latin typeface="Times New Roman" panose="02020603050405020304" pitchFamily="18" charset="0"/>
                <a:cs typeface="Times New Roman" panose="02020603050405020304" pitchFamily="18" charset="0"/>
              </a:rPr>
              <a:t> (Prohibition and Regulation) Act, 1986 (Amended 2016) – Prohibits employment of children below 14 years and regulates work for adolescents (14–18 years).</a:t>
            </a:r>
          </a:p>
          <a:p>
            <a:pPr marL="228600" indent="-228600">
              <a:buAutoNum type="arabicPeriod" startAt="3"/>
            </a:pPr>
            <a:r>
              <a:rPr lang="en-US" sz="1100" dirty="0">
                <a:latin typeface="Times New Roman" panose="02020603050405020304" pitchFamily="18" charset="0"/>
                <a:cs typeface="Times New Roman" panose="02020603050405020304" pitchFamily="18" charset="0"/>
              </a:rPr>
              <a:t> Prohibition of Child Marriage Act, 2006 – Declares child marriages voidable; mandates reporting of child marriages.</a:t>
            </a:r>
          </a:p>
          <a:p>
            <a:pPr marL="228600" indent="-228600">
              <a:buAutoNum type="arabicPeriod" startAt="3"/>
            </a:pPr>
            <a:r>
              <a:rPr lang="en-US" sz="1100" dirty="0">
                <a:latin typeface="Times New Roman" panose="02020603050405020304" pitchFamily="18" charset="0"/>
                <a:cs typeface="Times New Roman" panose="02020603050405020304" pitchFamily="18" charset="0"/>
              </a:rPr>
              <a:t> Right to Education (RTE) Act, 2009 – Ensures free and compulsory education for children aged 6–14 years.</a:t>
            </a:r>
            <a:endParaRPr lang="en-IN" sz="11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DD7A7CC-7298-8C7F-4C75-457D84CFB981}"/>
              </a:ext>
            </a:extLst>
          </p:cNvPr>
          <p:cNvSpPr>
            <a:spLocks noGrp="1"/>
          </p:cNvSpPr>
          <p:nvPr>
            <p:ph type="sldNum" sz="quarter" idx="10"/>
          </p:nvPr>
        </p:nvSpPr>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1187898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A4383-F3EF-062E-074C-8990C7B70417}"/>
              </a:ext>
            </a:extLst>
          </p:cNvPr>
          <p:cNvSpPr>
            <a:spLocks noGrp="1"/>
          </p:cNvSpPr>
          <p:nvPr>
            <p:ph type="title"/>
          </p:nvPr>
        </p:nvSpPr>
        <p:spPr>
          <a:xfrm>
            <a:off x="914400" y="389301"/>
            <a:ext cx="6583680" cy="539388"/>
          </a:xfrm>
        </p:spPr>
        <p:txBody>
          <a:bodyPr/>
          <a:lstStyle/>
          <a:p>
            <a:pPr algn="ctr"/>
            <a:r>
              <a:rPr lang="en-US" sz="1800" dirty="0">
                <a:solidFill>
                  <a:schemeClr val="accent1">
                    <a:lumMod val="50000"/>
                  </a:schemeClr>
                </a:solidFill>
              </a:rPr>
              <a:t>annexure 3. photography &amp; videography</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62E82E64-9241-7B18-53C1-5A3DF82E08EA}"/>
              </a:ext>
            </a:extLst>
          </p:cNvPr>
          <p:cNvSpPr>
            <a:spLocks noGrp="1"/>
          </p:cNvSpPr>
          <p:nvPr>
            <p:ph idx="1"/>
          </p:nvPr>
        </p:nvSpPr>
        <p:spPr>
          <a:xfrm>
            <a:off x="914400" y="1046382"/>
            <a:ext cx="6583680" cy="2824681"/>
          </a:xfrm>
        </p:spPr>
        <p:txBody>
          <a:bodyPr>
            <a:normAutofit/>
          </a:bodyPr>
          <a:lstStyle/>
          <a:p>
            <a:r>
              <a:rPr lang="en-US" sz="1100" dirty="0">
                <a:latin typeface="Times New Roman" panose="02020603050405020304" pitchFamily="18" charset="0"/>
                <a:cs typeface="Times New Roman" panose="02020603050405020304" pitchFamily="18" charset="0"/>
              </a:rPr>
              <a:t>This policy ensures that photography and videography involving children are conducted safely and respectfully. Consent must be obtained from parents or guardians before capturing images or videos. All media must be used appropriately, avoiding any content that may exploit, embarrass, or endanger a child. Identifying information (e.g., full names, locations) should not accompany images. Only authorized personnel are allowed to capture or use such content. Storage and sharing of media must comply with data protection laws. Children have the right to opt out at any time. This policy promotes dignity, privacy, and protection of all minors involved.</a:t>
            </a:r>
            <a:endParaRPr lang="en-IN" sz="11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BDC2D28-3094-2C70-C3AD-91187192BBD0}"/>
              </a:ext>
            </a:extLst>
          </p:cNvPr>
          <p:cNvSpPr>
            <a:spLocks noGrp="1"/>
          </p:cNvSpPr>
          <p:nvPr>
            <p:ph type="sldNum" sz="quarter" idx="10"/>
          </p:nvPr>
        </p:nvSpPr>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3290877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297AF-EC79-165F-A2BD-BA9D3896FB52}"/>
              </a:ext>
            </a:extLst>
          </p:cNvPr>
          <p:cNvSpPr>
            <a:spLocks noGrp="1"/>
          </p:cNvSpPr>
          <p:nvPr>
            <p:ph type="title"/>
          </p:nvPr>
        </p:nvSpPr>
        <p:spPr>
          <a:xfrm>
            <a:off x="914400" y="457200"/>
            <a:ext cx="6583680" cy="873660"/>
          </a:xfrm>
        </p:spPr>
        <p:txBody>
          <a:bodyPr/>
          <a:lstStyle/>
          <a:p>
            <a:pPr algn="ctr"/>
            <a:br>
              <a:rPr lang="en-US" sz="1800" dirty="0">
                <a:solidFill>
                  <a:schemeClr val="accent1">
                    <a:lumMod val="50000"/>
                  </a:schemeClr>
                </a:solidFill>
              </a:rPr>
            </a:br>
            <a:r>
              <a:rPr lang="en-US" sz="1800" dirty="0">
                <a:solidFill>
                  <a:schemeClr val="accent1">
                    <a:lumMod val="50000"/>
                  </a:schemeClr>
                </a:solidFill>
              </a:rPr>
              <a:t>Annexure 4. ready reckoner / checklist for usage of photographs/films and case stories</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C52D05CF-AA1D-CC6E-003F-46C102F744F3}"/>
              </a:ext>
            </a:extLst>
          </p:cNvPr>
          <p:cNvSpPr>
            <a:spLocks noGrp="1"/>
          </p:cNvSpPr>
          <p:nvPr>
            <p:ph idx="1"/>
          </p:nvPr>
        </p:nvSpPr>
        <p:spPr>
          <a:xfrm>
            <a:off x="986828" y="1493821"/>
            <a:ext cx="6583680" cy="2462543"/>
          </a:xfrm>
        </p:spPr>
        <p:txBody>
          <a:bodyPr>
            <a:normAutofit/>
          </a:bodyPr>
          <a:lstStyle/>
          <a:p>
            <a:pPr marL="342900" indent="-342900">
              <a:buAutoNum type="arabicPeriod"/>
            </a:pPr>
            <a:r>
              <a:rPr lang="en-US" sz="1100" dirty="0">
                <a:latin typeface="Times New Roman" panose="02020603050405020304" pitchFamily="18" charset="0"/>
                <a:cs typeface="Times New Roman" panose="02020603050405020304" pitchFamily="18" charset="0"/>
              </a:rPr>
              <a:t>Informed Consent: Obtain written informed consent from the child and guardian before using any images or stories. </a:t>
            </a:r>
          </a:p>
          <a:p>
            <a:pPr marL="342900" indent="-342900">
              <a:buAutoNum type="arabicPeriod"/>
            </a:pPr>
            <a:r>
              <a:rPr lang="en-US" sz="1100" dirty="0">
                <a:latin typeface="Times New Roman" panose="02020603050405020304" pitchFamily="18" charset="0"/>
                <a:cs typeface="Times New Roman" panose="02020603050405020304" pitchFamily="18" charset="0"/>
              </a:rPr>
              <a:t> Child’s Best Interest: Ensure the child’s dignity, safety, and best interest are central to all representations.</a:t>
            </a:r>
          </a:p>
          <a:p>
            <a:pPr marL="342900" indent="-342900">
              <a:buAutoNum type="arabicPeriod"/>
            </a:pPr>
            <a:r>
              <a:rPr lang="en-US" sz="1100" dirty="0">
                <a:latin typeface="Times New Roman" panose="02020603050405020304" pitchFamily="18" charset="0"/>
                <a:cs typeface="Times New Roman" panose="02020603050405020304" pitchFamily="18" charset="0"/>
              </a:rPr>
              <a:t> Anonymity: Use pseudonyms and avoid disclosing personal details unless explicitly permitted.</a:t>
            </a:r>
          </a:p>
          <a:p>
            <a:pPr marL="342900" indent="-342900">
              <a:buAutoNum type="arabicPeriod"/>
            </a:pPr>
            <a:r>
              <a:rPr lang="en-US" sz="1100" dirty="0">
                <a:latin typeface="Times New Roman" panose="02020603050405020304" pitchFamily="18" charset="0"/>
                <a:cs typeface="Times New Roman" panose="02020603050405020304" pitchFamily="18" charset="0"/>
              </a:rPr>
              <a:t> No Exploitation: Do not portray children in a negative, victimizing, or sensationalized manner.</a:t>
            </a:r>
          </a:p>
          <a:p>
            <a:pPr marL="342900" indent="-342900">
              <a:buAutoNum type="arabicPeriod"/>
            </a:pPr>
            <a:r>
              <a:rPr lang="en-US" sz="1100" dirty="0">
                <a:latin typeface="Times New Roman" panose="02020603050405020304" pitchFamily="18" charset="0"/>
                <a:cs typeface="Times New Roman" panose="02020603050405020304" pitchFamily="18" charset="0"/>
              </a:rPr>
              <a:t>Safe Storage: Securely store all media content to prevent misuse or unauthorized access</a:t>
            </a:r>
            <a:endParaRPr lang="en-IN" sz="11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3B5AA57-1801-2E1E-73F4-F0C39AEA4E02}"/>
              </a:ext>
            </a:extLst>
          </p:cNvPr>
          <p:cNvSpPr>
            <a:spLocks noGrp="1"/>
          </p:cNvSpPr>
          <p:nvPr>
            <p:ph type="sldNum" sz="quarter" idx="10"/>
          </p:nvPr>
        </p:nvSpPr>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1523512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2F36B-E6EC-53D0-38F5-FBBEAB08E1B4}"/>
              </a:ext>
            </a:extLst>
          </p:cNvPr>
          <p:cNvSpPr>
            <a:spLocks noGrp="1"/>
          </p:cNvSpPr>
          <p:nvPr>
            <p:ph type="title"/>
          </p:nvPr>
        </p:nvSpPr>
        <p:spPr>
          <a:xfrm>
            <a:off x="914400" y="534154"/>
            <a:ext cx="6583680" cy="394534"/>
          </a:xfrm>
        </p:spPr>
        <p:txBody>
          <a:bodyPr/>
          <a:lstStyle/>
          <a:p>
            <a:pPr algn="ctr"/>
            <a:br>
              <a:rPr lang="en-US" sz="1800" dirty="0">
                <a:solidFill>
                  <a:schemeClr val="accent1">
                    <a:lumMod val="50000"/>
                  </a:schemeClr>
                </a:solidFill>
              </a:rPr>
            </a:br>
            <a:br>
              <a:rPr lang="en-US" sz="1800" dirty="0">
                <a:solidFill>
                  <a:schemeClr val="accent1">
                    <a:lumMod val="50000"/>
                  </a:schemeClr>
                </a:solidFill>
              </a:rPr>
            </a:br>
            <a:r>
              <a:rPr lang="en-US" sz="1800" dirty="0">
                <a:solidFill>
                  <a:schemeClr val="accent1">
                    <a:lumMod val="50000"/>
                  </a:schemeClr>
                </a:solidFill>
              </a:rPr>
              <a:t>Annexure 5. working with child actors</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E8A41E46-656D-7FBC-6AD8-EE5347DFABAD}"/>
              </a:ext>
            </a:extLst>
          </p:cNvPr>
          <p:cNvSpPr>
            <a:spLocks noGrp="1"/>
          </p:cNvSpPr>
          <p:nvPr>
            <p:ph idx="1"/>
          </p:nvPr>
        </p:nvSpPr>
        <p:spPr>
          <a:xfrm>
            <a:off x="1041148" y="1168802"/>
            <a:ext cx="6583680" cy="2153820"/>
          </a:xfrm>
        </p:spPr>
        <p:txBody>
          <a:bodyPr>
            <a:normAutofit/>
          </a:bodyPr>
          <a:lstStyle/>
          <a:p>
            <a:r>
              <a:rPr lang="en-US" sz="1100" dirty="0">
                <a:latin typeface="Times New Roman" panose="02020603050405020304" pitchFamily="18" charset="0"/>
                <a:cs typeface="Times New Roman" panose="02020603050405020304" pitchFamily="18" charset="0"/>
              </a:rPr>
              <a:t>This policy ensures the safety of child actors during productions. All child actors must comply with child labor laws, including parental consent and work permits. Roles should be age-appropriate, with regulated working hours and adequate rest. Supervision by a responsible adult is mandatory at all times. All staff must undergo background checks. Sensitive scenes require prior consent from the child and guardian. The environment must be free from harassment or exploitation. Emotional support and confidentiality must be ensured. Emergency medical assistance should be available. Regular policy reviews ensure continued protection for child actors.</a:t>
            </a:r>
            <a:endParaRPr lang="en-IN" sz="11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733833D-9B7B-C021-16DD-39BEAA3ADC1B}"/>
              </a:ext>
            </a:extLst>
          </p:cNvPr>
          <p:cNvSpPr>
            <a:spLocks noGrp="1"/>
          </p:cNvSpPr>
          <p:nvPr>
            <p:ph type="sldNum" sz="quarter" idx="10"/>
          </p:nvPr>
        </p:nvSpPr>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3011121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145E8-0624-9D78-1D82-B5631673074B}"/>
              </a:ext>
            </a:extLst>
          </p:cNvPr>
          <p:cNvSpPr>
            <a:spLocks noGrp="1"/>
          </p:cNvSpPr>
          <p:nvPr>
            <p:ph type="title"/>
          </p:nvPr>
        </p:nvSpPr>
        <p:spPr>
          <a:xfrm>
            <a:off x="914400" y="197797"/>
            <a:ext cx="6583680" cy="730892"/>
          </a:xfrm>
        </p:spPr>
        <p:txBody>
          <a:bodyPr/>
          <a:lstStyle/>
          <a:p>
            <a:pPr algn="ctr"/>
            <a:br>
              <a:rPr lang="en-US" sz="1800" dirty="0">
                <a:solidFill>
                  <a:schemeClr val="accent1">
                    <a:lumMod val="50000"/>
                  </a:schemeClr>
                </a:solidFill>
              </a:rPr>
            </a:br>
            <a:r>
              <a:rPr lang="en-US" sz="1800" dirty="0">
                <a:solidFill>
                  <a:schemeClr val="accent1">
                    <a:lumMod val="50000"/>
                  </a:schemeClr>
                </a:solidFill>
              </a:rPr>
              <a:t>Annexure 6. child protection in organizing events</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A04E6822-B4EA-1C01-F4C4-FA391163C475}"/>
              </a:ext>
            </a:extLst>
          </p:cNvPr>
          <p:cNvSpPr>
            <a:spLocks noGrp="1"/>
          </p:cNvSpPr>
          <p:nvPr>
            <p:ph idx="1"/>
          </p:nvPr>
        </p:nvSpPr>
        <p:spPr>
          <a:xfrm>
            <a:off x="995881" y="1176498"/>
            <a:ext cx="6583680" cy="2262461"/>
          </a:xfrm>
        </p:spPr>
        <p:txBody>
          <a:bodyPr>
            <a:normAutofit/>
          </a:bodyPr>
          <a:lstStyle/>
          <a:p>
            <a:r>
              <a:rPr lang="en-US" sz="1100" dirty="0">
                <a:latin typeface="Times New Roman" panose="02020603050405020304" pitchFamily="18" charset="0"/>
                <a:cs typeface="Times New Roman" panose="02020603050405020304" pitchFamily="18" charset="0"/>
              </a:rPr>
              <a:t>This policy ensures that all events involving children are planned with their safety in mind. Event organizers must comply with child protection laws and guidelines. Background checks are mandatory for all staff and volunteers working with children. Adequate supervision should be provided at all times during the event. Emergency procedures and first aid support must be in place. Children’s privacy and dignity must be respected throughout the event. Activities should be age-appropriate, and no child should be coerced into participation. Clear reporting channels for any safeguarding concerns should be established. Event locations should be secure and safe for children. Regular assessments ensure ongoing child protection during event</a:t>
            </a:r>
            <a:endParaRPr lang="en-IN" sz="11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0F1B676-CE40-B5E4-9CAD-52698245E54A}"/>
              </a:ext>
            </a:extLst>
          </p:cNvPr>
          <p:cNvSpPr>
            <a:spLocks noGrp="1"/>
          </p:cNvSpPr>
          <p:nvPr>
            <p:ph type="sldNum" sz="quarter" idx="10"/>
          </p:nvPr>
        </p:nvSpPr>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4245945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6665F-6246-A05D-301F-41CE63FF3321}"/>
              </a:ext>
            </a:extLst>
          </p:cNvPr>
          <p:cNvSpPr>
            <a:spLocks noGrp="1"/>
          </p:cNvSpPr>
          <p:nvPr>
            <p:ph type="title"/>
          </p:nvPr>
        </p:nvSpPr>
        <p:spPr>
          <a:xfrm>
            <a:off x="914400" y="130001"/>
            <a:ext cx="6583680" cy="585223"/>
          </a:xfrm>
        </p:spPr>
        <p:txBody>
          <a:bodyPr/>
          <a:lstStyle/>
          <a:p>
            <a:pPr algn="ctr"/>
            <a:br>
              <a:rPr lang="en-US" sz="1800" dirty="0">
                <a:solidFill>
                  <a:schemeClr val="accent1">
                    <a:lumMod val="50000"/>
                  </a:schemeClr>
                </a:solidFill>
              </a:rPr>
            </a:br>
            <a:r>
              <a:rPr lang="en-US" sz="1800" dirty="0">
                <a:solidFill>
                  <a:schemeClr val="accent1">
                    <a:lumMod val="50000"/>
                  </a:schemeClr>
                </a:solidFill>
              </a:rPr>
              <a:t>Annexure 7. risk assessment framework</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DF024483-73EF-EE10-655B-CFE9652AE3FC}"/>
              </a:ext>
            </a:extLst>
          </p:cNvPr>
          <p:cNvSpPr>
            <a:spLocks noGrp="1"/>
          </p:cNvSpPr>
          <p:nvPr>
            <p:ph idx="1"/>
          </p:nvPr>
        </p:nvSpPr>
        <p:spPr>
          <a:xfrm>
            <a:off x="914400" y="959214"/>
            <a:ext cx="6583680" cy="2488798"/>
          </a:xfrm>
        </p:spPr>
        <p:txBody>
          <a:bodyPr>
            <a:normAutofit/>
          </a:bodyPr>
          <a:lstStyle/>
          <a:p>
            <a:r>
              <a:rPr lang="en-US" sz="1100" dirty="0">
                <a:latin typeface="Times New Roman" panose="02020603050405020304" pitchFamily="18" charset="0"/>
                <a:cs typeface="Times New Roman" panose="02020603050405020304" pitchFamily="18" charset="0"/>
              </a:rPr>
              <a:t>This framework identifies potential risks to child actors and outlines measures to mitigate them. Risks include physical, emotional, and psychological harm, exploitation, and unsafe working conditions. A thorough assessment of the production environment is conducted, ensuring compliance with child labor laws and safe work practices. Age-appropriate roles and regulated working hours are prioritized. Background checks for all staff are mandatory. Emergency medical support and safety protocols are established. Supervision by responsible adults is ensured at all times. Consent from parents or guardians is obtained for sensitive scenes. Confidentiality and privacy are maintained. Regular reviews of risks are carried out to address any emerging issues and ensure continuous safeguarding of child actors.</a:t>
            </a:r>
            <a:endParaRPr lang="en-IN" sz="11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443AA48-A1F5-20D9-B2FC-1BACC7E1FE9B}"/>
              </a:ext>
            </a:extLst>
          </p:cNvPr>
          <p:cNvSpPr>
            <a:spLocks noGrp="1"/>
          </p:cNvSpPr>
          <p:nvPr>
            <p:ph type="sldNum" sz="quarter" idx="10"/>
          </p:nvPr>
        </p:nvSpPr>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198097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89AEB-6FF3-D9CA-48C5-7DEC8819E966}"/>
              </a:ext>
            </a:extLst>
          </p:cNvPr>
          <p:cNvSpPr>
            <a:spLocks noGrp="1"/>
          </p:cNvSpPr>
          <p:nvPr>
            <p:ph type="title"/>
          </p:nvPr>
        </p:nvSpPr>
        <p:spPr>
          <a:xfrm>
            <a:off x="841972" y="0"/>
            <a:ext cx="6583680" cy="826509"/>
          </a:xfrm>
        </p:spPr>
        <p:txBody>
          <a:bodyPr/>
          <a:lstStyle/>
          <a:p>
            <a:pPr algn="ctr"/>
            <a:br>
              <a:rPr lang="en-US" sz="1800" dirty="0">
                <a:solidFill>
                  <a:schemeClr val="accent1">
                    <a:lumMod val="50000"/>
                  </a:schemeClr>
                </a:solidFill>
              </a:rPr>
            </a:br>
            <a:r>
              <a:rPr lang="en-US" sz="1800" dirty="0">
                <a:solidFill>
                  <a:schemeClr val="accent1">
                    <a:lumMod val="50000"/>
                  </a:schemeClr>
                </a:solidFill>
              </a:rPr>
              <a:t>Annexure 8. online safety of children</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B03B8A14-1E77-F5D6-889C-2C48121B9C63}"/>
              </a:ext>
            </a:extLst>
          </p:cNvPr>
          <p:cNvSpPr>
            <a:spLocks noGrp="1"/>
          </p:cNvSpPr>
          <p:nvPr>
            <p:ph idx="1"/>
          </p:nvPr>
        </p:nvSpPr>
        <p:spPr>
          <a:xfrm>
            <a:off x="914400" y="1105428"/>
            <a:ext cx="6583680" cy="3207344"/>
          </a:xfrm>
        </p:spPr>
        <p:txBody>
          <a:bodyPr>
            <a:normAutofit fontScale="55000" lnSpcReduction="20000"/>
          </a:bodyPr>
          <a:lstStyle/>
          <a:p>
            <a:r>
              <a:rPr lang="en-US" dirty="0">
                <a:latin typeface="Times New Roman" panose="02020603050405020304" pitchFamily="18" charset="0"/>
                <a:cs typeface="Times New Roman" panose="02020603050405020304" pitchFamily="18" charset="0"/>
              </a:rPr>
              <a:t>This policy ensures the online safety of child actors during digital interactions. All online communications and content involving children must be monitored and appropriate. Consent from parents or guardians is required for any online activity or social media engagement. Child actors should never share personal information online without supervision. Privacy settings on platforms must be strictly managed. Social media exposure should be limited to age-appropriate activities. Online interactions should be conducted through secure, monitored channels. Staff must undergo training in online safety practices. Any signs of online harassment, exploitation, or inappropriate contact must be reported immediately. A designated person should be available to support children with online concerns. Online safety risks are regularly assessed and mitigated. Confidentiality of personal information must always be respected. The child’s well-being remains the top priority in any online activity. Regular reviews of online safety measures should be conducted.</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4EAAE6D-5226-0E18-2747-07EE62B22E32}"/>
              </a:ext>
            </a:extLst>
          </p:cNvPr>
          <p:cNvSpPr>
            <a:spLocks noGrp="1"/>
          </p:cNvSpPr>
          <p:nvPr>
            <p:ph type="sldNum" sz="quarter" idx="10"/>
          </p:nvPr>
        </p:nvSpPr>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3735246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2ACCD-453C-AAD4-4B40-92418ADE4E9F}"/>
              </a:ext>
            </a:extLst>
          </p:cNvPr>
          <p:cNvSpPr>
            <a:spLocks noGrp="1"/>
          </p:cNvSpPr>
          <p:nvPr>
            <p:ph type="title"/>
          </p:nvPr>
        </p:nvSpPr>
        <p:spPr>
          <a:xfrm>
            <a:off x="914400" y="291596"/>
            <a:ext cx="6583680" cy="471489"/>
          </a:xfrm>
        </p:spPr>
        <p:txBody>
          <a:bodyPr/>
          <a:lstStyle/>
          <a:p>
            <a:pPr algn="ctr"/>
            <a:br>
              <a:rPr lang="en-US" sz="1800" dirty="0">
                <a:solidFill>
                  <a:schemeClr val="accent1">
                    <a:lumMod val="50000"/>
                  </a:schemeClr>
                </a:solidFill>
              </a:rPr>
            </a:br>
            <a:r>
              <a:rPr lang="en-US" sz="1800" dirty="0">
                <a:solidFill>
                  <a:schemeClr val="accent1">
                    <a:lumMod val="50000"/>
                  </a:schemeClr>
                </a:solidFill>
              </a:rPr>
              <a:t>Annexure 9. human resource</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A73D0FDA-258D-A93A-61CD-47CF59F7C46C}"/>
              </a:ext>
            </a:extLst>
          </p:cNvPr>
          <p:cNvSpPr>
            <a:spLocks noGrp="1"/>
          </p:cNvSpPr>
          <p:nvPr>
            <p:ph idx="1"/>
          </p:nvPr>
        </p:nvSpPr>
        <p:spPr>
          <a:xfrm>
            <a:off x="914400" y="1042053"/>
            <a:ext cx="6583680" cy="2832829"/>
          </a:xfrm>
        </p:spPr>
        <p:txBody>
          <a:bodyPr>
            <a:normAutofit fontScale="47500" lnSpcReduction="20000"/>
          </a:bodyPr>
          <a:lstStyle/>
          <a:p>
            <a:r>
              <a:rPr lang="en-US" dirty="0">
                <a:latin typeface="Times New Roman" panose="02020603050405020304" pitchFamily="18" charset="0"/>
                <a:cs typeface="Times New Roman" panose="02020603050405020304" pitchFamily="18" charset="0"/>
              </a:rPr>
              <a:t>This policy ensures that all staff working with child actors are properly trained and vetted. Background checks are mandatory for all personnel, including directors, crew, and cast. Staff should receive training on child protection, recognizing signs of abuse, and responding appropriately. Clear roles and responsibilities are outlined to ensure the child’s safety. A designated safeguarding officer should be appointed to oversee child protection measures. Staff must maintain professional conduct at all times and respect the child’s privacy and dignity. Supervision of child actors must be continuous, with responsible adults present. All personnel should be aware of the reporting procedures for any safeguarding concerns. Recruitment processes must prioritize the safety and well-being of children. Ongoing support and supervision should be provided to staff working with child actors. Policies must be regularly reviewed to ensure they meet current safeguarding standards. Children’s welfare should always be a priority in decision-making. Clear communication channels should be established for reporting any concerns. Emergency protocols must be in place for immediate response.</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AFBAEB5-BEE4-D8F2-3369-293762D5E90F}"/>
              </a:ext>
            </a:extLst>
          </p:cNvPr>
          <p:cNvSpPr>
            <a:spLocks noGrp="1"/>
          </p:cNvSpPr>
          <p:nvPr>
            <p:ph type="sldNum" sz="quarter" idx="10"/>
          </p:nvPr>
        </p:nvSpPr>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2580612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9CB21-5B97-99DE-54A4-B6740834FD76}"/>
              </a:ext>
            </a:extLst>
          </p:cNvPr>
          <p:cNvSpPr>
            <a:spLocks noGrp="1"/>
          </p:cNvSpPr>
          <p:nvPr>
            <p:ph type="title"/>
          </p:nvPr>
        </p:nvSpPr>
        <p:spPr>
          <a:xfrm>
            <a:off x="914400" y="208231"/>
            <a:ext cx="6583680" cy="471489"/>
          </a:xfrm>
        </p:spPr>
        <p:txBody>
          <a:bodyPr/>
          <a:lstStyle/>
          <a:p>
            <a:pPr algn="ctr"/>
            <a:r>
              <a:rPr lang="en-US" sz="1800" dirty="0">
                <a:solidFill>
                  <a:schemeClr val="accent1">
                    <a:lumMod val="50000"/>
                  </a:schemeClr>
                </a:solidFill>
              </a:rPr>
              <a:t>Annexure 10. partnerships and associates</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93B239D4-E6E1-FCB1-239F-777A66B0B72B}"/>
              </a:ext>
            </a:extLst>
          </p:cNvPr>
          <p:cNvSpPr>
            <a:spLocks noGrp="1"/>
          </p:cNvSpPr>
          <p:nvPr>
            <p:ph idx="1"/>
          </p:nvPr>
        </p:nvSpPr>
        <p:spPr>
          <a:xfrm>
            <a:off x="914400" y="928688"/>
            <a:ext cx="6583680" cy="3207344"/>
          </a:xfrm>
        </p:spPr>
        <p:txBody>
          <a:bodyPr>
            <a:normAutofit fontScale="55000" lnSpcReduction="20000"/>
          </a:bodyPr>
          <a:lstStyle/>
          <a:p>
            <a:r>
              <a:rPr lang="en-US" dirty="0">
                <a:latin typeface="Times New Roman" panose="02020603050405020304" pitchFamily="18" charset="0"/>
                <a:cs typeface="Times New Roman" panose="02020603050405020304" pitchFamily="18" charset="0"/>
              </a:rPr>
              <a:t>All partners and associates must comply with child safeguarding standards. Third parties involved with child actors must undergo background checks and ensure adherence to child protection laws. Safeguarding responsibilities should be clearly outlined in contracts. All associates must receive training on child protection procedures. Partners must communicate openly about child welfare and report concerns immediately. Any partner violating safeguarding policies should be removed or reassessed. Ongoing monitoring of partner compliance is essential. All associates must respect the child’s privacy and dignity. Safeguarding practices should be integrated into all partnerships. Regular audits and reviews ensure continuous protection. Any concerns raised must be promptly addressed. Partnerships should prioritize the child’s well-being in every decision. Safeguarding measures should be in place for all external collaborations. Updates to policies should reflect changes in legal or best practice guidelines. The child’s safety remains the top priority in all partnerships.</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E1F128E-7C48-FADC-2792-DC646FD50F35}"/>
              </a:ext>
            </a:extLst>
          </p:cNvPr>
          <p:cNvSpPr>
            <a:spLocks noGrp="1"/>
          </p:cNvSpPr>
          <p:nvPr>
            <p:ph type="sldNum" sz="quarter" idx="10"/>
          </p:nvPr>
        </p:nvSpPr>
        <p:spPr/>
        <p:txBody>
          <a:bodyPr/>
          <a:lstStyle/>
          <a:p>
            <a:fld id="{48F63A3B-78C7-47BE-AE5E-E10140E04643}" type="slidenum">
              <a:rPr lang="en-US" smtClean="0"/>
              <a:pPr/>
              <a:t>11</a:t>
            </a:fld>
            <a:endParaRPr lang="en-US" dirty="0"/>
          </a:p>
        </p:txBody>
      </p:sp>
    </p:spTree>
    <p:extLst>
      <p:ext uri="{BB962C8B-B14F-4D97-AF65-F5344CB8AC3E}">
        <p14:creationId xmlns:p14="http://schemas.microsoft.com/office/powerpoint/2010/main" val="683513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9192F-8665-92A0-4B9D-5D8C7A51448A}"/>
              </a:ext>
            </a:extLst>
          </p:cNvPr>
          <p:cNvSpPr>
            <a:spLocks noGrp="1"/>
          </p:cNvSpPr>
          <p:nvPr>
            <p:ph type="title"/>
          </p:nvPr>
        </p:nvSpPr>
        <p:spPr>
          <a:xfrm>
            <a:off x="914400" y="0"/>
            <a:ext cx="6583680" cy="1068970"/>
          </a:xfrm>
        </p:spPr>
        <p:txBody>
          <a:bodyPr/>
          <a:lstStyle/>
          <a:p>
            <a:pPr algn="ctr"/>
            <a:r>
              <a:rPr lang="en-US" sz="1800" dirty="0">
                <a:solidFill>
                  <a:schemeClr val="accent1">
                    <a:lumMod val="50000"/>
                  </a:schemeClr>
                </a:solidFill>
              </a:rPr>
              <a:t>Annexure 11. standard operating procedure – internal and external reporting process</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D26B8002-CB41-722C-37F6-23BEB06AB39D}"/>
              </a:ext>
            </a:extLst>
          </p:cNvPr>
          <p:cNvSpPr>
            <a:spLocks noGrp="1"/>
          </p:cNvSpPr>
          <p:nvPr>
            <p:ph idx="1"/>
          </p:nvPr>
        </p:nvSpPr>
        <p:spPr>
          <a:xfrm>
            <a:off x="914400" y="1232838"/>
            <a:ext cx="6583680" cy="2706081"/>
          </a:xfrm>
        </p:spPr>
        <p:txBody>
          <a:bodyPr>
            <a:normAutofit/>
          </a:bodyPr>
          <a:lstStyle/>
          <a:p>
            <a:r>
              <a:rPr lang="en-US" sz="1100" dirty="0">
                <a:latin typeface="Times New Roman" panose="02020603050405020304" pitchFamily="18" charset="0"/>
                <a:cs typeface="Times New Roman" panose="02020603050405020304" pitchFamily="18" charset="0"/>
              </a:rPr>
              <a:t>This procedure outlines the process for reporting child safeguarding concerns both internally and externally. Any safeguarding issues must be reported immediately to the designated safeguarding officer. All staff should be trained to recognize signs of abuse and know how to report concerns. Internal reports should be made confidentially and handled promptly by relevant authorities. External reporting includes contacting local child protection agencies or law enforcement if needed. A clear, confidential reporting channel must be available to all staff, partners, and stakeholders. All reports are to be documented and investigated. Retaliation against those reporting concerns is prohibited. Regular audits ensure the effectiveness of the reporting process. The child's safety and well-being remain the primary focus throughout.</a:t>
            </a:r>
            <a:endParaRPr lang="en-IN" sz="11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D9B1ADB-F892-F012-9F3C-CD5CA81CA6A7}"/>
              </a:ext>
            </a:extLst>
          </p:cNvPr>
          <p:cNvSpPr>
            <a:spLocks noGrp="1"/>
          </p:cNvSpPr>
          <p:nvPr>
            <p:ph type="sldNum" sz="quarter" idx="10"/>
          </p:nvPr>
        </p:nvSpPr>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2640603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FB016-423D-BD54-1C55-4C47A84885EF}"/>
              </a:ext>
            </a:extLst>
          </p:cNvPr>
          <p:cNvSpPr>
            <a:spLocks noGrp="1"/>
          </p:cNvSpPr>
          <p:nvPr>
            <p:ph type="title"/>
          </p:nvPr>
        </p:nvSpPr>
        <p:spPr>
          <a:xfrm>
            <a:off x="995881" y="41681"/>
            <a:ext cx="6583680" cy="831035"/>
          </a:xfrm>
        </p:spPr>
        <p:txBody>
          <a:bodyPr/>
          <a:lstStyle/>
          <a:p>
            <a:pPr algn="ctr"/>
            <a:r>
              <a:rPr lang="en-US" sz="1800" dirty="0">
                <a:solidFill>
                  <a:schemeClr val="accent1">
                    <a:lumMod val="50000"/>
                  </a:schemeClr>
                </a:solidFill>
              </a:rPr>
              <a:t>Annexure 12. volunteer and intern onboarding vis a vis </a:t>
            </a:r>
            <a:r>
              <a:rPr lang="en-US" sz="1800" dirty="0" err="1">
                <a:solidFill>
                  <a:schemeClr val="accent1">
                    <a:lumMod val="50000"/>
                  </a:schemeClr>
                </a:solidFill>
              </a:rPr>
              <a:t>csp</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3775ABD9-DE67-678A-B3EC-40A388C3A5A2}"/>
              </a:ext>
            </a:extLst>
          </p:cNvPr>
          <p:cNvSpPr>
            <a:spLocks noGrp="1"/>
          </p:cNvSpPr>
          <p:nvPr>
            <p:ph idx="1"/>
          </p:nvPr>
        </p:nvSpPr>
        <p:spPr>
          <a:xfrm>
            <a:off x="995881" y="1051107"/>
            <a:ext cx="6583680" cy="2525011"/>
          </a:xfrm>
        </p:spPr>
        <p:txBody>
          <a:bodyPr>
            <a:normAutofit/>
          </a:bodyPr>
          <a:lstStyle/>
          <a:p>
            <a:r>
              <a:rPr lang="en-US" sz="1100" dirty="0">
                <a:latin typeface="Times New Roman" panose="02020603050405020304" pitchFamily="18" charset="0"/>
                <a:cs typeface="Times New Roman" panose="02020603050405020304" pitchFamily="18" charset="0"/>
              </a:rPr>
              <a:t>This policy ensures that all volunteers and interns undergo thorough onboarding to understand child safeguarding practices. Background checks are mandatory for all volunteers and interns working with children. They must receive training on child protection policies and recognize signs of abuse. Clear roles and responsibilities regarding child safeguarding should be outlined from the start. Volunteers and interns must be informed of reporting procedures for any concerns. Confidentiality and respect for the child’s privacy must be emphasized. Supervision by responsible adults is required at all times. Any violations of safeguarding practices will result in immediate removal from the program. Regular reviews ensure ongoing compliance with safeguarding standards. The child’s safety remains the priority in all volunteer and intern engagements.</a:t>
            </a:r>
            <a:endParaRPr lang="en-IN" sz="11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2E7A65E-22C3-1AC5-D886-46ABF90071CF}"/>
              </a:ext>
            </a:extLst>
          </p:cNvPr>
          <p:cNvSpPr>
            <a:spLocks noGrp="1"/>
          </p:cNvSpPr>
          <p:nvPr>
            <p:ph type="sldNum" sz="quarter" idx="10"/>
          </p:nvPr>
        </p:nvSpPr>
        <p:spPr/>
        <p:txBody>
          <a:bodyPr/>
          <a:lstStyle/>
          <a:p>
            <a:fld id="{48F63A3B-78C7-47BE-AE5E-E10140E04643}" type="slidenum">
              <a:rPr lang="en-US" smtClean="0"/>
              <a:pPr/>
              <a:t>13</a:t>
            </a:fld>
            <a:endParaRPr lang="en-US" dirty="0"/>
          </a:p>
        </p:txBody>
      </p:sp>
    </p:spTree>
    <p:extLst>
      <p:ext uri="{BB962C8B-B14F-4D97-AF65-F5344CB8AC3E}">
        <p14:creationId xmlns:p14="http://schemas.microsoft.com/office/powerpoint/2010/main" val="2264104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95882" y="701291"/>
            <a:ext cx="5715000" cy="3390875"/>
          </a:xfrm>
        </p:spPr>
        <p:txBody>
          <a:bodyPr/>
          <a:lstStyle/>
          <a:p>
            <a:pPr algn="ctr"/>
            <a:r>
              <a:rPr lang="en-US" sz="4800" dirty="0">
                <a:solidFill>
                  <a:schemeClr val="accent1">
                    <a:lumMod val="50000"/>
                  </a:schemeClr>
                </a:solidFill>
                <a:latin typeface="Cooper Black" panose="0208090404030B020404" pitchFamily="18" charset="0"/>
              </a:rPr>
              <a:t>Thank </a:t>
            </a:r>
            <a:br>
              <a:rPr lang="en-US" sz="4800" dirty="0">
                <a:solidFill>
                  <a:schemeClr val="accent1">
                    <a:lumMod val="50000"/>
                  </a:schemeClr>
                </a:solidFill>
                <a:latin typeface="Cooper Black" panose="0208090404030B020404" pitchFamily="18" charset="0"/>
              </a:rPr>
            </a:br>
            <a:r>
              <a:rPr lang="en-US" sz="4800" dirty="0">
                <a:solidFill>
                  <a:schemeClr val="accent1">
                    <a:lumMod val="50000"/>
                  </a:schemeClr>
                </a:solidFill>
                <a:latin typeface="Cooper Black" panose="0208090404030B020404" pitchFamily="18" charset="0"/>
              </a:rPr>
              <a:t>you</a:t>
            </a:r>
          </a:p>
        </p:txBody>
      </p:sp>
      <p:sp>
        <p:nvSpPr>
          <p:cNvPr id="7" name="TextBox 6">
            <a:extLst>
              <a:ext uri="{FF2B5EF4-FFF2-40B4-BE49-F238E27FC236}">
                <a16:creationId xmlns:a16="http://schemas.microsoft.com/office/drawing/2014/main" id="{643E9957-982B-94FF-F014-032A6A344FF8}"/>
              </a:ext>
            </a:extLst>
          </p:cNvPr>
          <p:cNvSpPr txBox="1"/>
          <p:nvPr/>
        </p:nvSpPr>
        <p:spPr>
          <a:xfrm>
            <a:off x="724277" y="4296799"/>
            <a:ext cx="7842564" cy="1477328"/>
          </a:xfrm>
          <a:prstGeom prst="rect">
            <a:avLst/>
          </a:prstGeom>
          <a:noFill/>
        </p:spPr>
        <p:txBody>
          <a:bodyPr wrap="square">
            <a:spAutoFit/>
          </a:bodyPr>
          <a:lstStyle/>
          <a:p>
            <a:pPr marL="342900" indent="-342900">
              <a:buAutoNum type="arabicPeriod"/>
            </a:pPr>
            <a:r>
              <a:rPr lang="sv-SE" dirty="0"/>
              <a:t>Sananda Sarkar (GL)</a:t>
            </a:r>
          </a:p>
          <a:p>
            <a:pPr marL="342900" indent="-342900">
              <a:buAutoNum type="arabicPeriod"/>
            </a:pPr>
            <a:r>
              <a:rPr lang="sv-SE" dirty="0"/>
              <a:t> Manju Gayen </a:t>
            </a:r>
          </a:p>
          <a:p>
            <a:pPr marL="342900" indent="-342900">
              <a:buAutoNum type="arabicPeriod"/>
            </a:pPr>
            <a:r>
              <a:rPr lang="sv-SE" dirty="0"/>
              <a:t> Sneha Bandyopadhyay</a:t>
            </a:r>
          </a:p>
          <a:p>
            <a:pPr marL="342900" indent="-342900">
              <a:buAutoNum type="arabicPeriod"/>
            </a:pPr>
            <a:r>
              <a:rPr lang="sv-SE" dirty="0"/>
              <a:t>  Neha Mondal</a:t>
            </a:r>
          </a:p>
          <a:p>
            <a:pPr marL="342900" indent="-342900">
              <a:buAutoNum type="arabicPeriod"/>
            </a:pPr>
            <a:r>
              <a:rPr lang="sv-SE" dirty="0"/>
              <a:t> Anchal Singh(HINDI DEP.)</a:t>
            </a:r>
            <a:endParaRPr lang="en-IN" dirty="0"/>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{B337842A-D7D0-4823-9F9F-B7377D3CEE0D}tf78438558_win32</Template>
  <TotalTime>78</TotalTime>
  <Words>1950</Words>
  <Application>Microsoft Office PowerPoint</Application>
  <PresentationFormat>Widescreen</PresentationFormat>
  <Paragraphs>51</Paragraphs>
  <Slides>14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Algerian</vt:lpstr>
      <vt:lpstr>Arial</vt:lpstr>
      <vt:lpstr>Arial Black</vt:lpstr>
      <vt:lpstr>Calibri</vt:lpstr>
      <vt:lpstr>Cooper Black</vt:lpstr>
      <vt:lpstr>Sabon Next LT</vt:lpstr>
      <vt:lpstr>Times New Roman</vt:lpstr>
      <vt:lpstr>Custom</vt:lpstr>
      <vt:lpstr>Child safeguarding policy Sanskrit department </vt:lpstr>
      <vt:lpstr> Introduction</vt:lpstr>
      <vt:lpstr>Annexure 1. Referance guide for statutory compliances</vt:lpstr>
      <vt:lpstr>annexure 3. photography &amp; videography</vt:lpstr>
      <vt:lpstr> Annexure 4. ready reckoner / checklist for usage of photographs/films and case stories</vt:lpstr>
      <vt:lpstr>  Annexure 5. working with child actors</vt:lpstr>
      <vt:lpstr> Annexure 6. child protection in organizing events</vt:lpstr>
      <vt:lpstr> Annexure 7. risk assessment framework</vt:lpstr>
      <vt:lpstr> Annexure 8. online safety of children</vt:lpstr>
      <vt:lpstr> Annexure 9. human resource</vt:lpstr>
      <vt:lpstr>Annexure 10. partnerships and associates</vt:lpstr>
      <vt:lpstr>Annexure 11. standard operating procedure – internal and external reporting process</vt:lpstr>
      <vt:lpstr>Annexure 12. volunteer and intern onboarding vis a vis csp</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PC</dc:creator>
  <cp:lastModifiedBy>PC</cp:lastModifiedBy>
  <cp:revision>3</cp:revision>
  <dcterms:created xsi:type="dcterms:W3CDTF">2025-05-14T16:30:39Z</dcterms:created>
  <dcterms:modified xsi:type="dcterms:W3CDTF">2025-05-14T18:53:29Z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