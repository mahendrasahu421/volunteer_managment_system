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sldIdLst>
    <p:sldId id="256" r:id="rId2"/>
    <p:sldId id="257" r:id="rId3"/>
    <p:sldId id="258" r:id="rId4"/>
    <p:sldId id="261"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2780D7-A617-421A-A840-EE8E85C244DC}" type="datetimeFigureOut">
              <a:rPr lang="en-IN" smtClean="0"/>
              <a:t>18-05-2025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1462312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780D7-A617-421A-A840-EE8E85C244DC}" type="datetimeFigureOut">
              <a:rPr lang="en-IN" smtClean="0"/>
              <a:t>18-05-2025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226665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780D7-A617-421A-A840-EE8E85C244DC}" type="datetimeFigureOut">
              <a:rPr lang="en-IN" smtClean="0"/>
              <a:t>18-05-2025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755447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1622443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780D7-A617-421A-A840-EE8E85C244DC}" type="datetimeFigureOut">
              <a:rPr lang="en-IN" smtClean="0"/>
              <a:t>18-05-2025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3180385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780D7-A617-421A-A840-EE8E85C244DC}" type="datetimeFigureOut">
              <a:rPr lang="en-IN" smtClean="0"/>
              <a:t>18-05-2025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314138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780D7-A617-421A-A840-EE8E85C244DC}" type="datetimeFigureOut">
              <a:rPr lang="en-IN" smtClean="0"/>
              <a:t>18-05-2025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415455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2609404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44566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338607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3505174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93731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780D7-A617-421A-A840-EE8E85C244DC}" type="datetimeFigureOut">
              <a:rPr lang="en-IN" smtClean="0"/>
              <a:t>18-05-2025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38293703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2780D7-A617-421A-A840-EE8E85C244DC}" type="datetimeFigureOut">
              <a:rPr lang="en-IN" smtClean="0"/>
              <a:t>18-05-2025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2643429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2780D7-A617-421A-A840-EE8E85C244DC}" type="datetimeFigureOut">
              <a:rPr lang="en-IN" smtClean="0"/>
              <a:t>18-05-2025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2308220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780D7-A617-421A-A840-EE8E85C244DC}" type="datetimeFigureOut">
              <a:rPr lang="en-IN" smtClean="0"/>
              <a:t>18-05-2025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734044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780D7-A617-421A-A840-EE8E85C244DC}" type="datetimeFigureOut">
              <a:rPr lang="en-IN" smtClean="0"/>
              <a:t>18-05-2025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CF7FC-E100-4E15-89A4-4EB2ED804982}" type="slidenum">
              <a:rPr lang="en-IN" smtClean="0"/>
              <a:t>‹#›</a:t>
            </a:fld>
            <a:endParaRPr lang="en-IN"/>
          </a:p>
        </p:txBody>
      </p:sp>
    </p:spTree>
    <p:extLst>
      <p:ext uri="{BB962C8B-B14F-4D97-AF65-F5344CB8AC3E}">
        <p14:creationId xmlns:p14="http://schemas.microsoft.com/office/powerpoint/2010/main" val="4157666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92780D7-A617-421A-A840-EE8E85C244DC}" type="datetimeFigureOut">
              <a:rPr lang="en-IN" smtClean="0"/>
              <a:t>18-05-2025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2CF7FC-E100-4E15-89A4-4EB2ED804982}" type="slidenum">
              <a:rPr lang="en-IN" smtClean="0"/>
              <a:t>‹#›</a:t>
            </a:fld>
            <a:endParaRPr lang="en-IN"/>
          </a:p>
        </p:txBody>
      </p:sp>
    </p:spTree>
    <p:extLst>
      <p:ext uri="{BB962C8B-B14F-4D97-AF65-F5344CB8AC3E}">
        <p14:creationId xmlns:p14="http://schemas.microsoft.com/office/powerpoint/2010/main" val="1960474677"/>
      </p:ext>
    </p:extLst>
  </p:cSld>
  <p:clrMap bg1="dk1" tx1="lt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5D64-83E7-4528-F65E-33722247A693}"/>
              </a:ext>
            </a:extLst>
          </p:cNvPr>
          <p:cNvSpPr>
            <a:spLocks noGrp="1"/>
          </p:cNvSpPr>
          <p:nvPr>
            <p:ph type="ctrTitle"/>
          </p:nvPr>
        </p:nvSpPr>
        <p:spPr/>
        <p:txBody>
          <a:bodyPr/>
          <a:lstStyle/>
          <a:p>
            <a:r>
              <a:rPr lang="en-IN" dirty="0"/>
              <a:t>MICRO-VOLUNTEERING REPORT</a:t>
            </a:r>
          </a:p>
        </p:txBody>
      </p:sp>
    </p:spTree>
    <p:extLst>
      <p:ext uri="{BB962C8B-B14F-4D97-AF65-F5344CB8AC3E}">
        <p14:creationId xmlns:p14="http://schemas.microsoft.com/office/powerpoint/2010/main" val="3779682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FA31068-C240-3BED-90D8-2FD8A79767D9}"/>
              </a:ext>
            </a:extLst>
          </p:cNvPr>
          <p:cNvGraphicFramePr>
            <a:graphicFrameLocks noGrp="1"/>
          </p:cNvGraphicFramePr>
          <p:nvPr>
            <p:ph idx="1"/>
            <p:extLst>
              <p:ext uri="{D42A27DB-BD31-4B8C-83A1-F6EECF244321}">
                <p14:modId xmlns:p14="http://schemas.microsoft.com/office/powerpoint/2010/main" val="949499223"/>
              </p:ext>
            </p:extLst>
          </p:nvPr>
        </p:nvGraphicFramePr>
        <p:xfrm>
          <a:off x="318498" y="1184097"/>
          <a:ext cx="11794731" cy="5205395"/>
        </p:xfrm>
        <a:graphic>
          <a:graphicData uri="http://schemas.openxmlformats.org/drawingml/2006/table">
            <a:tbl>
              <a:tblPr/>
              <a:tblGrid>
                <a:gridCol w="3624450">
                  <a:extLst>
                    <a:ext uri="{9D8B030D-6E8A-4147-A177-3AD203B41FA5}">
                      <a16:colId xmlns:a16="http://schemas.microsoft.com/office/drawing/2014/main" val="3031299145"/>
                    </a:ext>
                  </a:extLst>
                </a:gridCol>
                <a:gridCol w="907809">
                  <a:extLst>
                    <a:ext uri="{9D8B030D-6E8A-4147-A177-3AD203B41FA5}">
                      <a16:colId xmlns:a16="http://schemas.microsoft.com/office/drawing/2014/main" val="70847840"/>
                    </a:ext>
                  </a:extLst>
                </a:gridCol>
                <a:gridCol w="907809">
                  <a:extLst>
                    <a:ext uri="{9D8B030D-6E8A-4147-A177-3AD203B41FA5}">
                      <a16:colId xmlns:a16="http://schemas.microsoft.com/office/drawing/2014/main" val="2126969546"/>
                    </a:ext>
                  </a:extLst>
                </a:gridCol>
                <a:gridCol w="907809">
                  <a:extLst>
                    <a:ext uri="{9D8B030D-6E8A-4147-A177-3AD203B41FA5}">
                      <a16:colId xmlns:a16="http://schemas.microsoft.com/office/drawing/2014/main" val="2123302190"/>
                    </a:ext>
                  </a:extLst>
                </a:gridCol>
                <a:gridCol w="907809">
                  <a:extLst>
                    <a:ext uri="{9D8B030D-6E8A-4147-A177-3AD203B41FA5}">
                      <a16:colId xmlns:a16="http://schemas.microsoft.com/office/drawing/2014/main" val="3160926290"/>
                    </a:ext>
                  </a:extLst>
                </a:gridCol>
                <a:gridCol w="907809">
                  <a:extLst>
                    <a:ext uri="{9D8B030D-6E8A-4147-A177-3AD203B41FA5}">
                      <a16:colId xmlns:a16="http://schemas.microsoft.com/office/drawing/2014/main" val="865806796"/>
                    </a:ext>
                  </a:extLst>
                </a:gridCol>
                <a:gridCol w="907809">
                  <a:extLst>
                    <a:ext uri="{9D8B030D-6E8A-4147-A177-3AD203B41FA5}">
                      <a16:colId xmlns:a16="http://schemas.microsoft.com/office/drawing/2014/main" val="1138340855"/>
                    </a:ext>
                  </a:extLst>
                </a:gridCol>
                <a:gridCol w="907809">
                  <a:extLst>
                    <a:ext uri="{9D8B030D-6E8A-4147-A177-3AD203B41FA5}">
                      <a16:colId xmlns:a16="http://schemas.microsoft.com/office/drawing/2014/main" val="3841714310"/>
                    </a:ext>
                  </a:extLst>
                </a:gridCol>
                <a:gridCol w="907809">
                  <a:extLst>
                    <a:ext uri="{9D8B030D-6E8A-4147-A177-3AD203B41FA5}">
                      <a16:colId xmlns:a16="http://schemas.microsoft.com/office/drawing/2014/main" val="1301908045"/>
                    </a:ext>
                  </a:extLst>
                </a:gridCol>
                <a:gridCol w="907809">
                  <a:extLst>
                    <a:ext uri="{9D8B030D-6E8A-4147-A177-3AD203B41FA5}">
                      <a16:colId xmlns:a16="http://schemas.microsoft.com/office/drawing/2014/main" val="246407249"/>
                    </a:ext>
                  </a:extLst>
                </a:gridCol>
              </a:tblGrid>
              <a:tr h="204425">
                <a:tc>
                  <a:txBody>
                    <a:bodyPr/>
                    <a:lstStyle/>
                    <a:p>
                      <a:r>
                        <a:rPr lang="en-IN" sz="1200" dirty="0">
                          <a:latin typeface="Times New Roman" panose="02020603050405020304" pitchFamily="18" charset="0"/>
                          <a:cs typeface="Times New Roman" panose="02020603050405020304" pitchFamily="18" charset="0"/>
                        </a:rPr>
                        <a:t>MV Name</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Objective</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Campaign</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Date</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Reg.</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Joined</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Hours</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Obj. Goal</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FR (₹)</a:t>
                      </a:r>
                    </a:p>
                  </a:txBody>
                  <a:tcPr marL="29204" marR="29204" marT="14602" marB="14602" anchor="ctr">
                    <a:lnL>
                      <a:noFill/>
                    </a:lnL>
                    <a:lnR>
                      <a:noFill/>
                    </a:lnR>
                    <a:lnT>
                      <a:noFill/>
                    </a:lnT>
                    <a:lnB>
                      <a:noFill/>
                    </a:lnB>
                    <a:noFill/>
                  </a:tcPr>
                </a:tc>
                <a:tc>
                  <a:txBody>
                    <a:bodyPr/>
                    <a:lstStyle/>
                    <a:p>
                      <a:r>
                        <a:rPr lang="en-IN" sz="1200">
                          <a:latin typeface="Times New Roman" panose="02020603050405020304" pitchFamily="18" charset="0"/>
                          <a:cs typeface="Times New Roman" panose="02020603050405020304" pitchFamily="18" charset="0"/>
                        </a:rPr>
                        <a:t>Cost (₹)</a:t>
                      </a:r>
                    </a:p>
                  </a:txBody>
                  <a:tcPr marL="29204" marR="29204" marT="14602" marB="14602" anchor="ctr">
                    <a:lnL>
                      <a:noFill/>
                    </a:lnL>
                    <a:lnR>
                      <a:noFill/>
                    </a:lnR>
                    <a:lnT>
                      <a:noFill/>
                    </a:lnT>
                    <a:lnB>
                      <a:noFill/>
                    </a:lnB>
                    <a:noFill/>
                  </a:tcPr>
                </a:tc>
                <a:extLst>
                  <a:ext uri="{0D108BD9-81ED-4DB2-BD59-A6C34878D82A}">
                    <a16:rowId xmlns:a16="http://schemas.microsoft.com/office/drawing/2014/main" val="2310425810"/>
                  </a:ext>
                </a:extLst>
              </a:tr>
              <a:tr h="467258">
                <a:tc>
                  <a:txBody>
                    <a:bodyPr/>
                    <a:lstStyle/>
                    <a:p>
                      <a:r>
                        <a:rPr lang="en-IN" sz="1200">
                          <a:effectLst/>
                          <a:latin typeface="Times New Roman" panose="02020603050405020304" pitchFamily="18" charset="0"/>
                          <a:cs typeface="Times New Roman" panose="02020603050405020304" pitchFamily="18" charset="0"/>
                        </a:rPr>
                        <a:t>Swachhta Hi Sewa (Western)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Cleanliness</a:t>
                      </a:r>
                      <a:endParaRPr lang="en-IN" sz="1200" dirty="0">
                        <a:effectLst/>
                        <a:latin typeface="Times New Roman" panose="02020603050405020304" pitchFamily="18" charset="0"/>
                        <a:cs typeface="Times New Roman" panose="02020603050405020304" pitchFamily="18" charset="0"/>
                      </a:endParaRP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None</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extLst>
                  <a:ext uri="{0D108BD9-81ED-4DB2-BD59-A6C34878D82A}">
                    <a16:rowId xmlns:a16="http://schemas.microsoft.com/office/drawing/2014/main" val="1067157591"/>
                  </a:ext>
                </a:extLst>
              </a:tr>
              <a:tr h="467258">
                <a:tc>
                  <a:txBody>
                    <a:bodyPr/>
                    <a:lstStyle/>
                    <a:p>
                      <a:r>
                        <a:rPr lang="en-IN" sz="1200">
                          <a:effectLst/>
                          <a:latin typeface="Times New Roman" panose="02020603050405020304" pitchFamily="18" charset="0"/>
                          <a:cs typeface="Times New Roman" panose="02020603050405020304" pitchFamily="18" charset="0"/>
                        </a:rPr>
                        <a:t>Mumbai Walkathon 2025 (Western)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Girl child education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Poori Padhai Desh ki Bhalai</a:t>
                      </a:r>
                    </a:p>
                  </a:txBody>
                  <a:tcPr marL="29204" marR="29204" marT="14602" marB="14602" anchor="ctr">
                    <a:lnL>
                      <a:noFill/>
                    </a:lnL>
                    <a:lnR>
                      <a:noFill/>
                    </a:lnR>
                    <a:lnT>
                      <a:noFill/>
                    </a:lnT>
                    <a:lnB>
                      <a:noFill/>
                    </a:lnB>
                    <a:noFill/>
                  </a:tcPr>
                </a:tc>
                <a:tc>
                  <a:txBody>
                    <a:bodyPr/>
                    <a:lstStyle/>
                    <a:p>
                      <a:r>
                        <a:rPr lang="en-IN" sz="1200" dirty="0">
                          <a:effectLst/>
                          <a:latin typeface="Times New Roman" panose="02020603050405020304" pitchFamily="18" charset="0"/>
                          <a:cs typeface="Times New Roman" panose="02020603050405020304" pitchFamily="18" charset="0"/>
                        </a:rPr>
                        <a:t>Jan-25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200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200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120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3527750350"/>
                  </a:ext>
                </a:extLst>
              </a:tr>
              <a:tr h="467258">
                <a:tc>
                  <a:txBody>
                    <a:bodyPr/>
                    <a:lstStyle/>
                    <a:p>
                      <a:r>
                        <a:rPr lang="en-IN" sz="1200">
                          <a:effectLst/>
                          <a:latin typeface="Times New Roman" panose="02020603050405020304" pitchFamily="18" charset="0"/>
                          <a:cs typeface="Times New Roman" panose="02020603050405020304" pitchFamily="18" charset="0"/>
                        </a:rPr>
                        <a:t>Pune Walkathon 2025 (Western)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Girl child education</a:t>
                      </a:r>
                      <a:endParaRPr lang="en-IN" sz="1200" dirty="0">
                        <a:effectLst/>
                        <a:latin typeface="Times New Roman" panose="02020603050405020304" pitchFamily="18" charset="0"/>
                        <a:cs typeface="Times New Roman" panose="02020603050405020304" pitchFamily="18" charset="0"/>
                      </a:endParaRP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Poori Padhai Desh ki Bhalai</a:t>
                      </a:r>
                      <a:endParaRPr lang="en-IN" sz="1200" dirty="0">
                        <a:effectLst/>
                        <a:latin typeface="Times New Roman" panose="02020603050405020304" pitchFamily="18" charset="0"/>
                        <a:cs typeface="Times New Roman" panose="02020603050405020304" pitchFamily="18" charset="0"/>
                      </a:endParaRP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Feb-25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600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350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120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1419472626"/>
                  </a:ext>
                </a:extLst>
              </a:tr>
              <a:tr h="379647">
                <a:tc>
                  <a:txBody>
                    <a:bodyPr/>
                    <a:lstStyle/>
                    <a:p>
                      <a:r>
                        <a:rPr lang="en-IN" sz="1200">
                          <a:effectLst/>
                          <a:latin typeface="Times New Roman" panose="02020603050405020304" pitchFamily="18" charset="0"/>
                          <a:cs typeface="Times New Roman" panose="02020603050405020304" pitchFamily="18" charset="0"/>
                        </a:rPr>
                        <a:t>Art Fest (Southern)</a:t>
                      </a:r>
                      <a:endParaRPr lang="en-IN" sz="1200" dirty="0">
                        <a:effectLst/>
                        <a:latin typeface="Times New Roman" panose="02020603050405020304" pitchFamily="18" charset="0"/>
                        <a:cs typeface="Times New Roman" panose="02020603050405020304" pitchFamily="18" charset="0"/>
                      </a:endParaRP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Girls' education advocacy</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Poori Padhai Desh ki Bhalai</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Aug-24</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178</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178</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30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1649776578"/>
                  </a:ext>
                </a:extLst>
              </a:tr>
              <a:tr h="467258">
                <a:tc>
                  <a:txBody>
                    <a:bodyPr/>
                    <a:lstStyle/>
                    <a:p>
                      <a:r>
                        <a:rPr lang="en-IN" sz="1200">
                          <a:effectLst/>
                          <a:latin typeface="Times New Roman" panose="02020603050405020304" pitchFamily="18" charset="0"/>
                          <a:cs typeface="Times New Roman" panose="02020603050405020304" pitchFamily="18" charset="0"/>
                        </a:rPr>
                        <a:t>Poster Campaign (Southern)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Student advocacy</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Poori Padhai Desh ki Bhalai</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Jul-24</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45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20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20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3934299076"/>
                  </a:ext>
                </a:extLst>
              </a:tr>
              <a:tr h="379647">
                <a:tc>
                  <a:txBody>
                    <a:bodyPr/>
                    <a:lstStyle/>
                    <a:p>
                      <a:r>
                        <a:rPr lang="en-IN" sz="1200">
                          <a:effectLst/>
                          <a:latin typeface="Times New Roman" panose="02020603050405020304" pitchFamily="18" charset="0"/>
                          <a:cs typeface="Times New Roman" panose="02020603050405020304" pitchFamily="18" charset="0"/>
                        </a:rPr>
                        <a:t>PPDKB (Eastern)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Support PPDKB campaign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Poori Padhai Desh ki Bhalai</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Aug-Sep 24</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20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1,000</a:t>
                      </a:r>
                    </a:p>
                  </a:txBody>
                  <a:tcPr marL="29204" marR="29204" marT="14602" marB="14602" anchor="ctr">
                    <a:lnL>
                      <a:noFill/>
                    </a:lnL>
                    <a:lnR>
                      <a:noFill/>
                    </a:lnR>
                    <a:lnT>
                      <a:noFill/>
                    </a:lnT>
                    <a:lnB>
                      <a:noFill/>
                    </a:lnB>
                    <a:noFill/>
                  </a:tcPr>
                </a:tc>
                <a:extLst>
                  <a:ext uri="{0D108BD9-81ED-4DB2-BD59-A6C34878D82A}">
                    <a16:rowId xmlns:a16="http://schemas.microsoft.com/office/drawing/2014/main" val="1956330472"/>
                  </a:ext>
                </a:extLst>
              </a:tr>
              <a:tr h="292036">
                <a:tc>
                  <a:txBody>
                    <a:bodyPr/>
                    <a:lstStyle/>
                    <a:p>
                      <a:r>
                        <a:rPr lang="en-IN" sz="1200">
                          <a:effectLst/>
                          <a:latin typeface="Times New Roman" panose="02020603050405020304" pitchFamily="18" charset="0"/>
                          <a:cs typeface="Times New Roman" panose="02020603050405020304" pitchFamily="18" charset="0"/>
                        </a:rPr>
                        <a:t>Wall of Change (Eastern)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Activity in schools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None</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1,000</a:t>
                      </a:r>
                    </a:p>
                  </a:txBody>
                  <a:tcPr marL="29204" marR="29204" marT="14602" marB="14602" anchor="ctr">
                    <a:lnL>
                      <a:noFill/>
                    </a:lnL>
                    <a:lnR>
                      <a:noFill/>
                    </a:lnR>
                    <a:lnT>
                      <a:noFill/>
                    </a:lnT>
                    <a:lnB>
                      <a:noFill/>
                    </a:lnB>
                    <a:noFill/>
                  </a:tcPr>
                </a:tc>
                <a:extLst>
                  <a:ext uri="{0D108BD9-81ED-4DB2-BD59-A6C34878D82A}">
                    <a16:rowId xmlns:a16="http://schemas.microsoft.com/office/drawing/2014/main" val="768428404"/>
                  </a:ext>
                </a:extLst>
              </a:tr>
              <a:tr h="379647">
                <a:tc>
                  <a:txBody>
                    <a:bodyPr/>
                    <a:lstStyle/>
                    <a:p>
                      <a:r>
                        <a:rPr lang="en-IN" sz="1200">
                          <a:effectLst/>
                          <a:latin typeface="Times New Roman" panose="02020603050405020304" pitchFamily="18" charset="0"/>
                          <a:cs typeface="Times New Roman" panose="02020603050405020304" pitchFamily="18" charset="0"/>
                        </a:rPr>
                        <a:t>World Earth Day (Eastern)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Environmental awareness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None</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endParaRPr lang="en-IN" sz="1200" dirty="0">
                        <a:effectLst/>
                        <a:latin typeface="Times New Roman" panose="02020603050405020304" pitchFamily="18" charset="0"/>
                        <a:cs typeface="Times New Roman" panose="02020603050405020304" pitchFamily="18" charset="0"/>
                      </a:endParaRPr>
                    </a:p>
                  </a:txBody>
                  <a:tcPr marL="29204" marR="29204" marT="14602" marB="14602" anchor="ctr">
                    <a:lnL>
                      <a:noFill/>
                    </a:lnL>
                    <a:lnR>
                      <a:noFill/>
                    </a:lnR>
                    <a:lnT>
                      <a:noFill/>
                    </a:lnT>
                    <a:lnB>
                      <a:noFill/>
                    </a:lnB>
                    <a:noFill/>
                  </a:tcPr>
                </a:tc>
                <a:extLst>
                  <a:ext uri="{0D108BD9-81ED-4DB2-BD59-A6C34878D82A}">
                    <a16:rowId xmlns:a16="http://schemas.microsoft.com/office/drawing/2014/main" val="3493388739"/>
                  </a:ext>
                </a:extLst>
              </a:tr>
              <a:tr h="379647">
                <a:tc>
                  <a:txBody>
                    <a:bodyPr/>
                    <a:lstStyle/>
                    <a:p>
                      <a:r>
                        <a:rPr lang="en-IN" sz="1200">
                          <a:effectLst/>
                          <a:latin typeface="Times New Roman" panose="02020603050405020304" pitchFamily="18" charset="0"/>
                          <a:cs typeface="Times New Roman" panose="02020603050405020304" pitchFamily="18" charset="0"/>
                        </a:rPr>
                        <a:t>Swachhta Hi Sewa (Eastern)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Cleanliness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10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137163883"/>
                  </a:ext>
                </a:extLst>
              </a:tr>
              <a:tr h="467258">
                <a:tc>
                  <a:txBody>
                    <a:bodyPr/>
                    <a:lstStyle/>
                    <a:p>
                      <a:r>
                        <a:rPr lang="en-IN" sz="1200">
                          <a:effectLst/>
                          <a:latin typeface="Times New Roman" panose="02020603050405020304" pitchFamily="18" charset="0"/>
                          <a:cs typeface="Times New Roman" panose="02020603050405020304" pitchFamily="18" charset="0"/>
                        </a:rPr>
                        <a:t>World Environment Day (Eastern)</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Environmental awareness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None</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5</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Yes</a:t>
                      </a:r>
                    </a:p>
                  </a:txBody>
                  <a:tcPr marL="29204" marR="29204" marT="14602" marB="14602" anchor="ctr">
                    <a:lnL>
                      <a:noFill/>
                    </a:lnL>
                    <a:lnR>
                      <a:noFill/>
                    </a:lnR>
                    <a:lnT>
                      <a:noFill/>
                    </a:lnT>
                    <a:lnB>
                      <a:noFill/>
                    </a:lnB>
                    <a:noFill/>
                  </a:tcPr>
                </a:tc>
                <a:tc>
                  <a:txBody>
                    <a:bodyPr/>
                    <a:lstStyle/>
                    <a:p>
                      <a:r>
                        <a:rPr lang="en-IN" sz="120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tc>
                  <a:txBody>
                    <a:bodyPr/>
                    <a:lstStyle/>
                    <a:p>
                      <a:r>
                        <a:rPr lang="en-IN" sz="1200" dirty="0">
                          <a:effectLst/>
                          <a:latin typeface="Times New Roman" panose="02020603050405020304" pitchFamily="18" charset="0"/>
                          <a:cs typeface="Times New Roman" panose="02020603050405020304" pitchFamily="18" charset="0"/>
                        </a:rPr>
                        <a:t>0</a:t>
                      </a:r>
                    </a:p>
                  </a:txBody>
                  <a:tcPr marL="29204" marR="29204" marT="14602" marB="14602" anchor="ctr">
                    <a:lnL>
                      <a:noFill/>
                    </a:lnL>
                    <a:lnR>
                      <a:noFill/>
                    </a:lnR>
                    <a:lnT>
                      <a:noFill/>
                    </a:lnT>
                    <a:lnB>
                      <a:noFill/>
                    </a:lnB>
                    <a:noFill/>
                  </a:tcPr>
                </a:tc>
                <a:extLst>
                  <a:ext uri="{0D108BD9-81ED-4DB2-BD59-A6C34878D82A}">
                    <a16:rowId xmlns:a16="http://schemas.microsoft.com/office/drawing/2014/main" val="3823405794"/>
                  </a:ext>
                </a:extLst>
              </a:tr>
            </a:tbl>
          </a:graphicData>
        </a:graphic>
      </p:graphicFrame>
      <p:sp>
        <p:nvSpPr>
          <p:cNvPr id="5" name="Rectangle 1">
            <a:extLst>
              <a:ext uri="{FF2B5EF4-FFF2-40B4-BE49-F238E27FC236}">
                <a16:creationId xmlns:a16="http://schemas.microsoft.com/office/drawing/2014/main" id="{80BC34EA-BFF4-2DE4-8A6E-0DC512650FC9}"/>
              </a:ext>
            </a:extLst>
          </p:cNvPr>
          <p:cNvSpPr>
            <a:spLocks noChangeArrowheads="1"/>
          </p:cNvSpPr>
          <p:nvPr/>
        </p:nvSpPr>
        <p:spPr bwMode="auto">
          <a:xfrm>
            <a:off x="441788" y="397026"/>
            <a:ext cx="3509422"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Offline Micro Volunteering Initiatives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8821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BCC5D6A-A65E-24E7-6623-08E265DCC6CA}"/>
              </a:ext>
            </a:extLst>
          </p:cNvPr>
          <p:cNvGraphicFramePr>
            <a:graphicFrameLocks noGrp="1"/>
          </p:cNvGraphicFramePr>
          <p:nvPr>
            <p:ph idx="1"/>
            <p:extLst>
              <p:ext uri="{D42A27DB-BD31-4B8C-83A1-F6EECF244321}">
                <p14:modId xmlns:p14="http://schemas.microsoft.com/office/powerpoint/2010/main" val="686026069"/>
              </p:ext>
            </p:extLst>
          </p:nvPr>
        </p:nvGraphicFramePr>
        <p:xfrm>
          <a:off x="465760" y="866869"/>
          <a:ext cx="11534460" cy="5605849"/>
        </p:xfrm>
        <a:graphic>
          <a:graphicData uri="http://schemas.openxmlformats.org/drawingml/2006/table">
            <a:tbl>
              <a:tblPr/>
              <a:tblGrid>
                <a:gridCol w="1153446">
                  <a:extLst>
                    <a:ext uri="{9D8B030D-6E8A-4147-A177-3AD203B41FA5}">
                      <a16:colId xmlns:a16="http://schemas.microsoft.com/office/drawing/2014/main" val="3060700416"/>
                    </a:ext>
                  </a:extLst>
                </a:gridCol>
                <a:gridCol w="1153446">
                  <a:extLst>
                    <a:ext uri="{9D8B030D-6E8A-4147-A177-3AD203B41FA5}">
                      <a16:colId xmlns:a16="http://schemas.microsoft.com/office/drawing/2014/main" val="1998162001"/>
                    </a:ext>
                  </a:extLst>
                </a:gridCol>
                <a:gridCol w="1153446">
                  <a:extLst>
                    <a:ext uri="{9D8B030D-6E8A-4147-A177-3AD203B41FA5}">
                      <a16:colId xmlns:a16="http://schemas.microsoft.com/office/drawing/2014/main" val="2263884648"/>
                    </a:ext>
                  </a:extLst>
                </a:gridCol>
                <a:gridCol w="1153446">
                  <a:extLst>
                    <a:ext uri="{9D8B030D-6E8A-4147-A177-3AD203B41FA5}">
                      <a16:colId xmlns:a16="http://schemas.microsoft.com/office/drawing/2014/main" val="1051961319"/>
                    </a:ext>
                  </a:extLst>
                </a:gridCol>
                <a:gridCol w="1153446">
                  <a:extLst>
                    <a:ext uri="{9D8B030D-6E8A-4147-A177-3AD203B41FA5}">
                      <a16:colId xmlns:a16="http://schemas.microsoft.com/office/drawing/2014/main" val="2448499546"/>
                    </a:ext>
                  </a:extLst>
                </a:gridCol>
                <a:gridCol w="1153446">
                  <a:extLst>
                    <a:ext uri="{9D8B030D-6E8A-4147-A177-3AD203B41FA5}">
                      <a16:colId xmlns:a16="http://schemas.microsoft.com/office/drawing/2014/main" val="1682516254"/>
                    </a:ext>
                  </a:extLst>
                </a:gridCol>
                <a:gridCol w="1153446">
                  <a:extLst>
                    <a:ext uri="{9D8B030D-6E8A-4147-A177-3AD203B41FA5}">
                      <a16:colId xmlns:a16="http://schemas.microsoft.com/office/drawing/2014/main" val="4058114116"/>
                    </a:ext>
                  </a:extLst>
                </a:gridCol>
                <a:gridCol w="1153446">
                  <a:extLst>
                    <a:ext uri="{9D8B030D-6E8A-4147-A177-3AD203B41FA5}">
                      <a16:colId xmlns:a16="http://schemas.microsoft.com/office/drawing/2014/main" val="2255706646"/>
                    </a:ext>
                  </a:extLst>
                </a:gridCol>
                <a:gridCol w="1153446">
                  <a:extLst>
                    <a:ext uri="{9D8B030D-6E8A-4147-A177-3AD203B41FA5}">
                      <a16:colId xmlns:a16="http://schemas.microsoft.com/office/drawing/2014/main" val="1906708978"/>
                    </a:ext>
                  </a:extLst>
                </a:gridCol>
                <a:gridCol w="1153446">
                  <a:extLst>
                    <a:ext uri="{9D8B030D-6E8A-4147-A177-3AD203B41FA5}">
                      <a16:colId xmlns:a16="http://schemas.microsoft.com/office/drawing/2014/main" val="931716236"/>
                    </a:ext>
                  </a:extLst>
                </a:gridCol>
              </a:tblGrid>
              <a:tr h="216643">
                <a:tc>
                  <a:txBody>
                    <a:bodyPr/>
                    <a:lstStyle/>
                    <a:p>
                      <a:r>
                        <a:rPr lang="en-IN" sz="1200" dirty="0"/>
                        <a:t>MV Name</a:t>
                      </a:r>
                    </a:p>
                  </a:txBody>
                  <a:tcPr marL="23329" marR="23329" marT="11664" marB="11664" anchor="ctr">
                    <a:lnL>
                      <a:noFill/>
                    </a:lnL>
                    <a:lnR>
                      <a:noFill/>
                    </a:lnR>
                    <a:lnT>
                      <a:noFill/>
                    </a:lnT>
                    <a:lnB>
                      <a:noFill/>
                    </a:lnB>
                    <a:noFill/>
                  </a:tcPr>
                </a:tc>
                <a:tc>
                  <a:txBody>
                    <a:bodyPr/>
                    <a:lstStyle/>
                    <a:p>
                      <a:r>
                        <a:rPr lang="en-IN" sz="1200"/>
                        <a:t>Objective</a:t>
                      </a:r>
                    </a:p>
                  </a:txBody>
                  <a:tcPr marL="23329" marR="23329" marT="11664" marB="11664" anchor="ctr">
                    <a:lnL>
                      <a:noFill/>
                    </a:lnL>
                    <a:lnR>
                      <a:noFill/>
                    </a:lnR>
                    <a:lnT>
                      <a:noFill/>
                    </a:lnT>
                    <a:lnB>
                      <a:noFill/>
                    </a:lnB>
                    <a:noFill/>
                  </a:tcPr>
                </a:tc>
                <a:tc>
                  <a:txBody>
                    <a:bodyPr/>
                    <a:lstStyle/>
                    <a:p>
                      <a:r>
                        <a:rPr lang="en-IN" sz="1200"/>
                        <a:t>Campaign</a:t>
                      </a:r>
                    </a:p>
                  </a:txBody>
                  <a:tcPr marL="23329" marR="23329" marT="11664" marB="11664" anchor="ctr">
                    <a:lnL>
                      <a:noFill/>
                    </a:lnL>
                    <a:lnR>
                      <a:noFill/>
                    </a:lnR>
                    <a:lnT>
                      <a:noFill/>
                    </a:lnT>
                    <a:lnB>
                      <a:noFill/>
                    </a:lnB>
                    <a:noFill/>
                  </a:tcPr>
                </a:tc>
                <a:tc>
                  <a:txBody>
                    <a:bodyPr/>
                    <a:lstStyle/>
                    <a:p>
                      <a:r>
                        <a:rPr lang="en-IN" sz="1200"/>
                        <a:t>Date</a:t>
                      </a:r>
                    </a:p>
                  </a:txBody>
                  <a:tcPr marL="23329" marR="23329" marT="11664" marB="11664" anchor="ctr">
                    <a:lnL>
                      <a:noFill/>
                    </a:lnL>
                    <a:lnR>
                      <a:noFill/>
                    </a:lnR>
                    <a:lnT>
                      <a:noFill/>
                    </a:lnT>
                    <a:lnB>
                      <a:noFill/>
                    </a:lnB>
                    <a:noFill/>
                  </a:tcPr>
                </a:tc>
                <a:tc>
                  <a:txBody>
                    <a:bodyPr/>
                    <a:lstStyle/>
                    <a:p>
                      <a:r>
                        <a:rPr lang="en-IN" sz="1200"/>
                        <a:t>Reg.</a:t>
                      </a:r>
                    </a:p>
                  </a:txBody>
                  <a:tcPr marL="23329" marR="23329" marT="11664" marB="11664" anchor="ctr">
                    <a:lnL>
                      <a:noFill/>
                    </a:lnL>
                    <a:lnR>
                      <a:noFill/>
                    </a:lnR>
                    <a:lnT>
                      <a:noFill/>
                    </a:lnT>
                    <a:lnB>
                      <a:noFill/>
                    </a:lnB>
                    <a:noFill/>
                  </a:tcPr>
                </a:tc>
                <a:tc>
                  <a:txBody>
                    <a:bodyPr/>
                    <a:lstStyle/>
                    <a:p>
                      <a:r>
                        <a:rPr lang="en-IN" sz="1200"/>
                        <a:t>Joined</a:t>
                      </a:r>
                    </a:p>
                  </a:txBody>
                  <a:tcPr marL="23329" marR="23329" marT="11664" marB="11664" anchor="ctr">
                    <a:lnL>
                      <a:noFill/>
                    </a:lnL>
                    <a:lnR>
                      <a:noFill/>
                    </a:lnR>
                    <a:lnT>
                      <a:noFill/>
                    </a:lnT>
                    <a:lnB>
                      <a:noFill/>
                    </a:lnB>
                    <a:noFill/>
                  </a:tcPr>
                </a:tc>
                <a:tc>
                  <a:txBody>
                    <a:bodyPr/>
                    <a:lstStyle/>
                    <a:p>
                      <a:r>
                        <a:rPr lang="en-IN" sz="1200"/>
                        <a:t>Hours</a:t>
                      </a:r>
                    </a:p>
                  </a:txBody>
                  <a:tcPr marL="23329" marR="23329" marT="11664" marB="11664" anchor="ctr">
                    <a:lnL>
                      <a:noFill/>
                    </a:lnL>
                    <a:lnR>
                      <a:noFill/>
                    </a:lnR>
                    <a:lnT>
                      <a:noFill/>
                    </a:lnT>
                    <a:lnB>
                      <a:noFill/>
                    </a:lnB>
                    <a:noFill/>
                  </a:tcPr>
                </a:tc>
                <a:tc>
                  <a:txBody>
                    <a:bodyPr/>
                    <a:lstStyle/>
                    <a:p>
                      <a:r>
                        <a:rPr lang="en-IN" sz="1200"/>
                        <a:t>Obj. Goal</a:t>
                      </a:r>
                    </a:p>
                  </a:txBody>
                  <a:tcPr marL="23329" marR="23329" marT="11664" marB="11664" anchor="ctr">
                    <a:lnL>
                      <a:noFill/>
                    </a:lnL>
                    <a:lnR>
                      <a:noFill/>
                    </a:lnR>
                    <a:lnT>
                      <a:noFill/>
                    </a:lnT>
                    <a:lnB>
                      <a:noFill/>
                    </a:lnB>
                    <a:noFill/>
                  </a:tcPr>
                </a:tc>
                <a:tc>
                  <a:txBody>
                    <a:bodyPr/>
                    <a:lstStyle/>
                    <a:p>
                      <a:r>
                        <a:rPr lang="en-IN" sz="1200"/>
                        <a:t>FR (₹)</a:t>
                      </a:r>
                    </a:p>
                  </a:txBody>
                  <a:tcPr marL="23329" marR="23329" marT="11664" marB="11664" anchor="ctr">
                    <a:lnL>
                      <a:noFill/>
                    </a:lnL>
                    <a:lnR>
                      <a:noFill/>
                    </a:lnR>
                    <a:lnT>
                      <a:noFill/>
                    </a:lnT>
                    <a:lnB>
                      <a:noFill/>
                    </a:lnB>
                    <a:noFill/>
                  </a:tcPr>
                </a:tc>
                <a:tc>
                  <a:txBody>
                    <a:bodyPr/>
                    <a:lstStyle/>
                    <a:p>
                      <a:r>
                        <a:rPr lang="en-IN" sz="1200"/>
                        <a:t>Cost (₹)</a:t>
                      </a:r>
                    </a:p>
                  </a:txBody>
                  <a:tcPr marL="23329" marR="23329" marT="11664" marB="11664" anchor="ctr">
                    <a:lnL>
                      <a:noFill/>
                    </a:lnL>
                    <a:lnR>
                      <a:noFill/>
                    </a:lnR>
                    <a:lnT>
                      <a:noFill/>
                    </a:lnT>
                    <a:lnB>
                      <a:noFill/>
                    </a:lnB>
                    <a:noFill/>
                  </a:tcPr>
                </a:tc>
                <a:extLst>
                  <a:ext uri="{0D108BD9-81ED-4DB2-BD59-A6C34878D82A}">
                    <a16:rowId xmlns:a16="http://schemas.microsoft.com/office/drawing/2014/main" val="1141356631"/>
                  </a:ext>
                </a:extLst>
              </a:tr>
              <a:tr h="592410">
                <a:tc>
                  <a:txBody>
                    <a:bodyPr/>
                    <a:lstStyle/>
                    <a:p>
                      <a:r>
                        <a:rPr lang="en-IN" sz="1200" dirty="0">
                          <a:effectLst/>
                        </a:rPr>
                        <a:t>World Environment Day (HO)</a:t>
                      </a:r>
                    </a:p>
                  </a:txBody>
                  <a:tcPr marL="23329" marR="23329" marT="11664" marB="11664" anchor="ctr">
                    <a:lnL>
                      <a:noFill/>
                    </a:lnL>
                    <a:lnR>
                      <a:noFill/>
                    </a:lnR>
                    <a:lnT>
                      <a:noFill/>
                    </a:lnT>
                    <a:lnB>
                      <a:noFill/>
                    </a:lnB>
                    <a:noFill/>
                  </a:tcPr>
                </a:tc>
                <a:tc>
                  <a:txBody>
                    <a:bodyPr/>
                    <a:lstStyle/>
                    <a:p>
                      <a:r>
                        <a:rPr lang="en-IN" sz="1200" dirty="0">
                          <a:effectLst/>
                        </a:rPr>
                        <a:t>Engage YCC students</a:t>
                      </a:r>
                    </a:p>
                  </a:txBody>
                  <a:tcPr marL="23329" marR="23329" marT="11664" marB="11664" anchor="ctr">
                    <a:lnL>
                      <a:noFill/>
                    </a:lnL>
                    <a:lnR>
                      <a:noFill/>
                    </a:lnR>
                    <a:lnT>
                      <a:noFill/>
                    </a:lnT>
                    <a:lnB>
                      <a:noFill/>
                    </a:lnB>
                    <a:noFill/>
                  </a:tcPr>
                </a:tc>
                <a:tc>
                  <a:txBody>
                    <a:bodyPr/>
                    <a:lstStyle/>
                    <a:p>
                      <a:r>
                        <a:rPr lang="en-IN" sz="1200">
                          <a:effectLst/>
                        </a:rPr>
                        <a:t>None</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extLst>
                  <a:ext uri="{0D108BD9-81ED-4DB2-BD59-A6C34878D82A}">
                    <a16:rowId xmlns:a16="http://schemas.microsoft.com/office/drawing/2014/main" val="4250491843"/>
                  </a:ext>
                </a:extLst>
              </a:tr>
              <a:tr h="404526">
                <a:tc>
                  <a:txBody>
                    <a:bodyPr/>
                    <a:lstStyle/>
                    <a:p>
                      <a:r>
                        <a:rPr lang="en-IN" sz="1200">
                          <a:effectLst/>
                        </a:rPr>
                        <a:t>WDACL (HO)</a:t>
                      </a:r>
                    </a:p>
                  </a:txBody>
                  <a:tcPr marL="23329" marR="23329" marT="11664" marB="11664" anchor="ctr">
                    <a:lnL>
                      <a:noFill/>
                    </a:lnL>
                    <a:lnR>
                      <a:noFill/>
                    </a:lnR>
                    <a:lnT>
                      <a:noFill/>
                    </a:lnT>
                    <a:lnB>
                      <a:noFill/>
                    </a:lnB>
                    <a:noFill/>
                  </a:tcPr>
                </a:tc>
                <a:tc>
                  <a:txBody>
                    <a:bodyPr/>
                    <a:lstStyle/>
                    <a:p>
                      <a:r>
                        <a:rPr lang="en-IN" sz="1200" dirty="0">
                          <a:effectLst/>
                        </a:rPr>
                        <a:t>Engage general public</a:t>
                      </a:r>
                    </a:p>
                  </a:txBody>
                  <a:tcPr marL="23329" marR="23329" marT="11664" marB="11664" anchor="ctr">
                    <a:lnL>
                      <a:noFill/>
                    </a:lnL>
                    <a:lnR>
                      <a:noFill/>
                    </a:lnR>
                    <a:lnT>
                      <a:noFill/>
                    </a:lnT>
                    <a:lnB>
                      <a:noFill/>
                    </a:lnB>
                    <a:noFill/>
                  </a:tcPr>
                </a:tc>
                <a:tc>
                  <a:txBody>
                    <a:bodyPr/>
                    <a:lstStyle/>
                    <a:p>
                      <a:r>
                        <a:rPr lang="en-IN" sz="1200" dirty="0">
                          <a:effectLst/>
                        </a:rPr>
                        <a:t>WDACL</a:t>
                      </a:r>
                    </a:p>
                  </a:txBody>
                  <a:tcPr marL="23329" marR="23329" marT="11664" marB="11664" anchor="ctr">
                    <a:lnL>
                      <a:noFill/>
                    </a:lnL>
                    <a:lnR>
                      <a:noFill/>
                    </a:lnR>
                    <a:lnT>
                      <a:noFill/>
                    </a:lnT>
                    <a:lnB>
                      <a:noFill/>
                    </a:lnB>
                    <a:noFill/>
                  </a:tcPr>
                </a:tc>
                <a:tc>
                  <a:txBody>
                    <a:bodyPr/>
                    <a:lstStyle/>
                    <a:p>
                      <a:r>
                        <a:rPr lang="en-IN" sz="1200">
                          <a:effectLst/>
                        </a:rPr>
                        <a:t>Jun-24</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55</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No</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4054180325"/>
                  </a:ext>
                </a:extLst>
              </a:tr>
              <a:tr h="404526">
                <a:tc>
                  <a:txBody>
                    <a:bodyPr/>
                    <a:lstStyle/>
                    <a:p>
                      <a:r>
                        <a:rPr lang="en-IN" sz="1200">
                          <a:effectLst/>
                        </a:rPr>
                        <a:t>Daan Utsav MV (HO)</a:t>
                      </a:r>
                    </a:p>
                  </a:txBody>
                  <a:tcPr marL="23329" marR="23329" marT="11664" marB="11664" anchor="ctr">
                    <a:lnL>
                      <a:noFill/>
                    </a:lnL>
                    <a:lnR>
                      <a:noFill/>
                    </a:lnR>
                    <a:lnT>
                      <a:noFill/>
                    </a:lnT>
                    <a:lnB>
                      <a:noFill/>
                    </a:lnB>
                    <a:noFill/>
                  </a:tcPr>
                </a:tc>
                <a:tc>
                  <a:txBody>
                    <a:bodyPr/>
                    <a:lstStyle/>
                    <a:p>
                      <a:r>
                        <a:rPr lang="en-IN" sz="1200" dirty="0">
                          <a:effectLst/>
                        </a:rPr>
                        <a:t>Engage new audience</a:t>
                      </a:r>
                    </a:p>
                  </a:txBody>
                  <a:tcPr marL="23329" marR="23329" marT="11664" marB="11664" anchor="ctr">
                    <a:lnL>
                      <a:noFill/>
                    </a:lnL>
                    <a:lnR>
                      <a:noFill/>
                    </a:lnR>
                    <a:lnT>
                      <a:noFill/>
                    </a:lnT>
                    <a:lnB>
                      <a:noFill/>
                    </a:lnB>
                    <a:noFill/>
                  </a:tcPr>
                </a:tc>
                <a:tc>
                  <a:txBody>
                    <a:bodyPr/>
                    <a:lstStyle/>
                    <a:p>
                      <a:r>
                        <a:rPr lang="en-IN" sz="1200" dirty="0">
                          <a:effectLst/>
                        </a:rPr>
                        <a:t>None</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No</a:t>
                      </a:r>
                    </a:p>
                  </a:txBody>
                  <a:tcPr marL="23329" marR="23329" marT="11664" marB="11664" anchor="ctr">
                    <a:lnL>
                      <a:noFill/>
                    </a:lnL>
                    <a:lnR>
                      <a:noFill/>
                    </a:lnR>
                    <a:lnT>
                      <a:noFill/>
                    </a:lnT>
                    <a:lnB>
                      <a:noFill/>
                    </a:lnB>
                    <a:noFill/>
                  </a:tcPr>
                </a:tc>
                <a:tc>
                  <a:txBody>
                    <a:bodyPr/>
                    <a:lstStyle/>
                    <a:p>
                      <a:r>
                        <a:rPr lang="en-IN" sz="1200">
                          <a:effectLst/>
                        </a:rPr>
                        <a:t>4,000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4085192506"/>
                  </a:ext>
                </a:extLst>
              </a:tr>
              <a:tr h="404526">
                <a:tc>
                  <a:txBody>
                    <a:bodyPr/>
                    <a:lstStyle/>
                    <a:p>
                      <a:r>
                        <a:rPr lang="en-US" sz="1200">
                          <a:effectLst/>
                        </a:rPr>
                        <a:t>It Takes a Word (HO)</a:t>
                      </a:r>
                    </a:p>
                  </a:txBody>
                  <a:tcPr marL="23329" marR="23329" marT="11664" marB="11664" anchor="ctr">
                    <a:lnL>
                      <a:noFill/>
                    </a:lnL>
                    <a:lnR>
                      <a:noFill/>
                    </a:lnR>
                    <a:lnT>
                      <a:noFill/>
                    </a:lnT>
                    <a:lnB>
                      <a:noFill/>
                    </a:lnB>
                    <a:noFill/>
                  </a:tcPr>
                </a:tc>
                <a:tc>
                  <a:txBody>
                    <a:bodyPr/>
                    <a:lstStyle/>
                    <a:p>
                      <a:r>
                        <a:rPr lang="en-IN" sz="1200">
                          <a:effectLst/>
                        </a:rPr>
                        <a:t>Engage youth creatively</a:t>
                      </a:r>
                    </a:p>
                  </a:txBody>
                  <a:tcPr marL="23329" marR="23329" marT="11664" marB="11664" anchor="ctr">
                    <a:lnL>
                      <a:noFill/>
                    </a:lnL>
                    <a:lnR>
                      <a:noFill/>
                    </a:lnR>
                    <a:lnT>
                      <a:noFill/>
                    </a:lnT>
                    <a:lnB>
                      <a:noFill/>
                    </a:lnB>
                    <a:noFill/>
                  </a:tcPr>
                </a:tc>
                <a:tc>
                  <a:txBody>
                    <a:bodyPr/>
                    <a:lstStyle/>
                    <a:p>
                      <a:r>
                        <a:rPr lang="en-IN" sz="1200" dirty="0">
                          <a:effectLst/>
                        </a:rPr>
                        <a:t>None</a:t>
                      </a:r>
                    </a:p>
                  </a:txBody>
                  <a:tcPr marL="23329" marR="23329" marT="11664" marB="11664" anchor="ctr">
                    <a:lnL>
                      <a:noFill/>
                    </a:lnL>
                    <a:lnR>
                      <a:noFill/>
                    </a:lnR>
                    <a:lnT>
                      <a:noFill/>
                    </a:lnT>
                    <a:lnB>
                      <a:noFill/>
                    </a:lnB>
                    <a:noFill/>
                  </a:tcPr>
                </a:tc>
                <a:tc>
                  <a:txBody>
                    <a:bodyPr/>
                    <a:lstStyle/>
                    <a:p>
                      <a:r>
                        <a:rPr lang="en-IN" sz="1200" dirty="0">
                          <a:effectLst/>
                        </a:rPr>
                        <a:t>Dec-24 to Jan-25</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55</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No</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1026423163"/>
                  </a:ext>
                </a:extLst>
              </a:tr>
              <a:tr h="592410">
                <a:tc>
                  <a:txBody>
                    <a:bodyPr/>
                    <a:lstStyle/>
                    <a:p>
                      <a:r>
                        <a:rPr lang="en-IN" sz="1200">
                          <a:effectLst/>
                        </a:rPr>
                        <a:t>World Environment Day (Northern)</a:t>
                      </a:r>
                    </a:p>
                  </a:txBody>
                  <a:tcPr marL="23329" marR="23329" marT="11664" marB="11664" anchor="ctr">
                    <a:lnL>
                      <a:noFill/>
                    </a:lnL>
                    <a:lnR>
                      <a:noFill/>
                    </a:lnR>
                    <a:lnT>
                      <a:noFill/>
                    </a:lnT>
                    <a:lnB>
                      <a:noFill/>
                    </a:lnB>
                    <a:noFill/>
                  </a:tcPr>
                </a:tc>
                <a:tc>
                  <a:txBody>
                    <a:bodyPr/>
                    <a:lstStyle/>
                    <a:p>
                      <a:r>
                        <a:rPr lang="en-IN" sz="1200">
                          <a:effectLst/>
                        </a:rPr>
                        <a:t>Engage YCC students</a:t>
                      </a:r>
                    </a:p>
                  </a:txBody>
                  <a:tcPr marL="23329" marR="23329" marT="11664" marB="11664" anchor="ctr">
                    <a:lnL>
                      <a:noFill/>
                    </a:lnL>
                    <a:lnR>
                      <a:noFill/>
                    </a:lnR>
                    <a:lnT>
                      <a:noFill/>
                    </a:lnT>
                    <a:lnB>
                      <a:noFill/>
                    </a:lnB>
                    <a:noFill/>
                  </a:tcPr>
                </a:tc>
                <a:tc>
                  <a:txBody>
                    <a:bodyPr/>
                    <a:lstStyle/>
                    <a:p>
                      <a:r>
                        <a:rPr lang="en-IN" sz="1200">
                          <a:effectLst/>
                        </a:rPr>
                        <a:t>None</a:t>
                      </a:r>
                    </a:p>
                  </a:txBody>
                  <a:tcPr marL="23329" marR="23329" marT="11664" marB="11664" anchor="ctr">
                    <a:lnL>
                      <a:noFill/>
                    </a:lnL>
                    <a:lnR>
                      <a:noFill/>
                    </a:lnR>
                    <a:lnT>
                      <a:noFill/>
                    </a:lnT>
                    <a:lnB>
                      <a:noFill/>
                    </a:lnB>
                    <a:noFill/>
                  </a:tcPr>
                </a:tc>
                <a:tc>
                  <a:txBody>
                    <a:bodyPr/>
                    <a:lstStyle/>
                    <a:p>
                      <a:r>
                        <a:rPr lang="en-IN" sz="1200" dirty="0">
                          <a:effectLst/>
                        </a:rPr>
                        <a:t>-</a:t>
                      </a:r>
                    </a:p>
                  </a:txBody>
                  <a:tcPr marL="23329" marR="23329" marT="11664" marB="11664" anchor="ctr">
                    <a:lnL>
                      <a:noFill/>
                    </a:lnL>
                    <a:lnR>
                      <a:noFill/>
                    </a:lnR>
                    <a:lnT>
                      <a:noFill/>
                    </a:lnT>
                    <a:lnB>
                      <a:noFill/>
                    </a:lnB>
                    <a:noFill/>
                  </a:tcPr>
                </a:tc>
                <a:tc>
                  <a:txBody>
                    <a:bodyPr/>
                    <a:lstStyle/>
                    <a:p>
                      <a:r>
                        <a:rPr lang="en-IN" sz="1200" dirty="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extLst>
                  <a:ext uri="{0D108BD9-81ED-4DB2-BD59-A6C34878D82A}">
                    <a16:rowId xmlns:a16="http://schemas.microsoft.com/office/drawing/2014/main" val="1433492350"/>
                  </a:ext>
                </a:extLst>
              </a:tr>
              <a:tr h="592410">
                <a:tc>
                  <a:txBody>
                    <a:bodyPr/>
                    <a:lstStyle/>
                    <a:p>
                      <a:r>
                        <a:rPr lang="en-IN" sz="1200">
                          <a:effectLst/>
                        </a:rPr>
                        <a:t>World Environment Day (Western)</a:t>
                      </a:r>
                    </a:p>
                  </a:txBody>
                  <a:tcPr marL="23329" marR="23329" marT="11664" marB="11664" anchor="ctr">
                    <a:lnL>
                      <a:noFill/>
                    </a:lnL>
                    <a:lnR>
                      <a:noFill/>
                    </a:lnR>
                    <a:lnT>
                      <a:noFill/>
                    </a:lnT>
                    <a:lnB>
                      <a:noFill/>
                    </a:lnB>
                    <a:noFill/>
                  </a:tcPr>
                </a:tc>
                <a:tc>
                  <a:txBody>
                    <a:bodyPr/>
                    <a:lstStyle/>
                    <a:p>
                      <a:r>
                        <a:rPr lang="en-IN" sz="1200">
                          <a:effectLst/>
                        </a:rPr>
                        <a:t>Climate change impact</a:t>
                      </a:r>
                    </a:p>
                  </a:txBody>
                  <a:tcPr marL="23329" marR="23329" marT="11664" marB="11664" anchor="ctr">
                    <a:lnL>
                      <a:noFill/>
                    </a:lnL>
                    <a:lnR>
                      <a:noFill/>
                    </a:lnR>
                    <a:lnT>
                      <a:noFill/>
                    </a:lnT>
                    <a:lnB>
                      <a:noFill/>
                    </a:lnB>
                    <a:noFill/>
                  </a:tcPr>
                </a:tc>
                <a:tc>
                  <a:txBody>
                    <a:bodyPr/>
                    <a:lstStyle/>
                    <a:p>
                      <a:r>
                        <a:rPr lang="en-IN" sz="1200">
                          <a:effectLst/>
                        </a:rPr>
                        <a:t>None</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300,000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1505566761"/>
                  </a:ext>
                </a:extLst>
              </a:tr>
              <a:tr h="592410">
                <a:tc>
                  <a:txBody>
                    <a:bodyPr/>
                    <a:lstStyle/>
                    <a:p>
                      <a:r>
                        <a:rPr lang="en-IN" sz="1200">
                          <a:effectLst/>
                        </a:rPr>
                        <a:t>Red Knot Campaign (Western)</a:t>
                      </a:r>
                    </a:p>
                  </a:txBody>
                  <a:tcPr marL="23329" marR="23329" marT="11664" marB="11664" anchor="ctr">
                    <a:lnL>
                      <a:noFill/>
                    </a:lnL>
                    <a:lnR>
                      <a:noFill/>
                    </a:lnR>
                    <a:lnT>
                      <a:noFill/>
                    </a:lnT>
                    <a:lnB>
                      <a:noFill/>
                    </a:lnB>
                    <a:noFill/>
                  </a:tcPr>
                </a:tc>
                <a:tc>
                  <a:txBody>
                    <a:bodyPr/>
                    <a:lstStyle/>
                    <a:p>
                      <a:r>
                        <a:rPr lang="en-IN" sz="1200">
                          <a:effectLst/>
                        </a:rPr>
                        <a:t>Girl child education</a:t>
                      </a:r>
                    </a:p>
                  </a:txBody>
                  <a:tcPr marL="23329" marR="23329" marT="11664" marB="11664" anchor="ctr">
                    <a:lnL>
                      <a:noFill/>
                    </a:lnL>
                    <a:lnR>
                      <a:noFill/>
                    </a:lnR>
                    <a:lnT>
                      <a:noFill/>
                    </a:lnT>
                    <a:lnB>
                      <a:noFill/>
                    </a:lnB>
                    <a:noFill/>
                  </a:tcPr>
                </a:tc>
                <a:tc>
                  <a:txBody>
                    <a:bodyPr/>
                    <a:lstStyle/>
                    <a:p>
                      <a:r>
                        <a:rPr lang="en-IN" sz="1200">
                          <a:effectLst/>
                        </a:rPr>
                        <a:t>Poori Padhai Desh ki Bhalai</a:t>
                      </a:r>
                    </a:p>
                  </a:txBody>
                  <a:tcPr marL="23329" marR="23329" marT="11664" marB="11664" anchor="ctr">
                    <a:lnL>
                      <a:noFill/>
                    </a:lnL>
                    <a:lnR>
                      <a:noFill/>
                    </a:lnR>
                    <a:lnT>
                      <a:noFill/>
                    </a:lnT>
                    <a:lnB>
                      <a:noFill/>
                    </a:lnB>
                    <a:noFill/>
                  </a:tcPr>
                </a:tc>
                <a:tc>
                  <a:txBody>
                    <a:bodyPr/>
                    <a:lstStyle/>
                    <a:p>
                      <a:r>
                        <a:rPr lang="en-IN" sz="1200">
                          <a:effectLst/>
                        </a:rPr>
                        <a:t>Apr-24 to Mar-25</a:t>
                      </a:r>
                    </a:p>
                  </a:txBody>
                  <a:tcPr marL="23329" marR="23329" marT="11664" marB="11664" anchor="ctr">
                    <a:lnL>
                      <a:noFill/>
                    </a:lnL>
                    <a:lnR>
                      <a:noFill/>
                    </a:lnR>
                    <a:lnT>
                      <a:noFill/>
                    </a:lnT>
                    <a:lnB>
                      <a:noFill/>
                    </a:lnB>
                    <a:noFill/>
                  </a:tcPr>
                </a:tc>
                <a:tc>
                  <a:txBody>
                    <a:bodyPr/>
                    <a:lstStyle/>
                    <a:p>
                      <a:r>
                        <a:rPr lang="en-IN" sz="1200">
                          <a:effectLst/>
                        </a:rPr>
                        <a:t>300</a:t>
                      </a:r>
                    </a:p>
                  </a:txBody>
                  <a:tcPr marL="23329" marR="23329" marT="11664" marB="11664" anchor="ctr">
                    <a:lnL>
                      <a:noFill/>
                    </a:lnL>
                    <a:lnR>
                      <a:noFill/>
                    </a:lnR>
                    <a:lnT>
                      <a:noFill/>
                    </a:lnT>
                    <a:lnB>
                      <a:noFill/>
                    </a:lnB>
                    <a:noFill/>
                  </a:tcPr>
                </a:tc>
                <a:tc>
                  <a:txBody>
                    <a:bodyPr/>
                    <a:lstStyle/>
                    <a:p>
                      <a:r>
                        <a:rPr lang="en-IN" sz="1200">
                          <a:effectLst/>
                        </a:rPr>
                        <a:t>300</a:t>
                      </a:r>
                    </a:p>
                  </a:txBody>
                  <a:tcPr marL="23329" marR="23329" marT="11664" marB="11664" anchor="ctr">
                    <a:lnL>
                      <a:noFill/>
                    </a:lnL>
                    <a:lnR>
                      <a:noFill/>
                    </a:lnR>
                    <a:lnT>
                      <a:noFill/>
                    </a:lnT>
                    <a:lnB>
                      <a:noFill/>
                    </a:lnB>
                    <a:noFill/>
                  </a:tcPr>
                </a:tc>
                <a:tc>
                  <a:txBody>
                    <a:bodyPr/>
                    <a:lstStyle/>
                    <a:p>
                      <a:r>
                        <a:rPr lang="en-IN" sz="1200" dirty="0">
                          <a:effectLst/>
                        </a:rPr>
                        <a:t>-</a:t>
                      </a:r>
                    </a:p>
                  </a:txBody>
                  <a:tcPr marL="23329" marR="23329" marT="11664" marB="11664" anchor="ctr">
                    <a:lnL>
                      <a:noFill/>
                    </a:lnL>
                    <a:lnR>
                      <a:noFill/>
                    </a:lnR>
                    <a:lnT>
                      <a:noFill/>
                    </a:lnT>
                    <a:lnB>
                      <a:noFill/>
                    </a:lnB>
                    <a:noFill/>
                  </a:tcPr>
                </a:tc>
                <a:tc>
                  <a:txBody>
                    <a:bodyPr/>
                    <a:lstStyle/>
                    <a:p>
                      <a:r>
                        <a:rPr lang="en-IN" sz="1200" dirty="0">
                          <a:effectLst/>
                        </a:rPr>
                        <a:t>Yes</a:t>
                      </a:r>
                    </a:p>
                  </a:txBody>
                  <a:tcPr marL="23329" marR="23329" marT="11664" marB="11664" anchor="ctr">
                    <a:lnL>
                      <a:noFill/>
                    </a:lnL>
                    <a:lnR>
                      <a:noFill/>
                    </a:lnR>
                    <a:lnT>
                      <a:noFill/>
                    </a:lnT>
                    <a:lnB>
                      <a:noFill/>
                    </a:lnB>
                    <a:noFill/>
                  </a:tcPr>
                </a:tc>
                <a:tc>
                  <a:txBody>
                    <a:bodyPr/>
                    <a:lstStyle/>
                    <a:p>
                      <a:r>
                        <a:rPr lang="en-IN" sz="1200">
                          <a:effectLst/>
                        </a:rPr>
                        <a:t>47,000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1081972454"/>
                  </a:ext>
                </a:extLst>
              </a:tr>
              <a:tr h="404526">
                <a:tc>
                  <a:txBody>
                    <a:bodyPr/>
                    <a:lstStyle/>
                    <a:p>
                      <a:r>
                        <a:rPr lang="en-US" sz="1200">
                          <a:effectLst/>
                        </a:rPr>
                        <a:t>It Takes a Word (Western)</a:t>
                      </a:r>
                    </a:p>
                  </a:txBody>
                  <a:tcPr marL="23329" marR="23329" marT="11664" marB="11664" anchor="ctr">
                    <a:lnL>
                      <a:noFill/>
                    </a:lnL>
                    <a:lnR>
                      <a:noFill/>
                    </a:lnR>
                    <a:lnT>
                      <a:noFill/>
                    </a:lnT>
                    <a:lnB>
                      <a:noFill/>
                    </a:lnB>
                    <a:noFill/>
                  </a:tcPr>
                </a:tc>
                <a:tc>
                  <a:txBody>
                    <a:bodyPr/>
                    <a:lstStyle/>
                    <a:p>
                      <a:r>
                        <a:rPr lang="en-IN" sz="1200">
                          <a:effectLst/>
                        </a:rPr>
                        <a:t>Youth thought sharing</a:t>
                      </a:r>
                    </a:p>
                  </a:txBody>
                  <a:tcPr marL="23329" marR="23329" marT="11664" marB="11664" anchor="ctr">
                    <a:lnL>
                      <a:noFill/>
                    </a:lnL>
                    <a:lnR>
                      <a:noFill/>
                    </a:lnR>
                    <a:lnT>
                      <a:noFill/>
                    </a:lnT>
                    <a:lnB>
                      <a:noFill/>
                    </a:lnB>
                    <a:noFill/>
                  </a:tcPr>
                </a:tc>
                <a:tc>
                  <a:txBody>
                    <a:bodyPr/>
                    <a:lstStyle/>
                    <a:p>
                      <a:r>
                        <a:rPr lang="en-IN" sz="1200">
                          <a:effectLst/>
                        </a:rPr>
                        <a:t>Poori Padhai Desh ki Bhalai</a:t>
                      </a:r>
                    </a:p>
                  </a:txBody>
                  <a:tcPr marL="23329" marR="23329" marT="11664" marB="11664" anchor="ctr">
                    <a:lnL>
                      <a:noFill/>
                    </a:lnL>
                    <a:lnR>
                      <a:noFill/>
                    </a:lnR>
                    <a:lnT>
                      <a:noFill/>
                    </a:lnT>
                    <a:lnB>
                      <a:noFill/>
                    </a:lnB>
                    <a:noFill/>
                  </a:tcPr>
                </a:tc>
                <a:tc>
                  <a:txBody>
                    <a:bodyPr/>
                    <a:lstStyle/>
                    <a:p>
                      <a:r>
                        <a:rPr lang="en-IN" sz="1200">
                          <a:effectLst/>
                        </a:rPr>
                        <a:t>Dec-24 to Jan-25</a:t>
                      </a:r>
                    </a:p>
                  </a:txBody>
                  <a:tcPr marL="23329" marR="23329" marT="11664" marB="11664" anchor="ctr">
                    <a:lnL>
                      <a:noFill/>
                    </a:lnL>
                    <a:lnR>
                      <a:noFill/>
                    </a:lnR>
                    <a:lnT>
                      <a:noFill/>
                    </a:lnT>
                    <a:lnB>
                      <a:noFill/>
                    </a:lnB>
                    <a:noFill/>
                  </a:tcPr>
                </a:tc>
                <a:tc>
                  <a:txBody>
                    <a:bodyPr/>
                    <a:lstStyle/>
                    <a:p>
                      <a:r>
                        <a:rPr lang="en-IN" sz="1200">
                          <a:effectLst/>
                        </a:rPr>
                        <a:t>100</a:t>
                      </a:r>
                    </a:p>
                  </a:txBody>
                  <a:tcPr marL="23329" marR="23329" marT="11664" marB="11664" anchor="ctr">
                    <a:lnL>
                      <a:noFill/>
                    </a:lnL>
                    <a:lnR>
                      <a:noFill/>
                    </a:lnR>
                    <a:lnT>
                      <a:noFill/>
                    </a:lnT>
                    <a:lnB>
                      <a:noFill/>
                    </a:lnB>
                    <a:noFill/>
                  </a:tcPr>
                </a:tc>
                <a:tc>
                  <a:txBody>
                    <a:bodyPr/>
                    <a:lstStyle/>
                    <a:p>
                      <a:r>
                        <a:rPr lang="en-IN" sz="1200">
                          <a:effectLst/>
                        </a:rPr>
                        <a:t>30</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Yes</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772021799"/>
                  </a:ext>
                </a:extLst>
              </a:tr>
              <a:tr h="592410">
                <a:tc>
                  <a:txBody>
                    <a:bodyPr/>
                    <a:lstStyle/>
                    <a:p>
                      <a:r>
                        <a:rPr lang="en-IN" sz="1200">
                          <a:effectLst/>
                        </a:rPr>
                        <a:t>Case Study Competition (Southern)</a:t>
                      </a:r>
                    </a:p>
                  </a:txBody>
                  <a:tcPr marL="23329" marR="23329" marT="11664" marB="11664" anchor="ctr">
                    <a:lnL>
                      <a:noFill/>
                    </a:lnL>
                    <a:lnR>
                      <a:noFill/>
                    </a:lnR>
                    <a:lnT>
                      <a:noFill/>
                    </a:lnT>
                    <a:lnB>
                      <a:noFill/>
                    </a:lnB>
                    <a:noFill/>
                  </a:tcPr>
                </a:tc>
                <a:tc>
                  <a:txBody>
                    <a:bodyPr/>
                    <a:lstStyle/>
                    <a:p>
                      <a:r>
                        <a:rPr lang="en-IN" sz="1200">
                          <a:effectLst/>
                        </a:rPr>
                        <a:t>Girl child education challenges</a:t>
                      </a:r>
                    </a:p>
                  </a:txBody>
                  <a:tcPr marL="23329" marR="23329" marT="11664" marB="11664" anchor="ctr">
                    <a:lnL>
                      <a:noFill/>
                    </a:lnL>
                    <a:lnR>
                      <a:noFill/>
                    </a:lnR>
                    <a:lnT>
                      <a:noFill/>
                    </a:lnT>
                    <a:lnB>
                      <a:noFill/>
                    </a:lnB>
                    <a:noFill/>
                  </a:tcPr>
                </a:tc>
                <a:tc>
                  <a:txBody>
                    <a:bodyPr/>
                    <a:lstStyle/>
                    <a:p>
                      <a:r>
                        <a:rPr lang="en-IN" sz="1200">
                          <a:effectLst/>
                        </a:rPr>
                        <a:t>Poori Padhai Desh ki Bhalai</a:t>
                      </a:r>
                    </a:p>
                  </a:txBody>
                  <a:tcPr marL="23329" marR="23329" marT="11664" marB="11664" anchor="ctr">
                    <a:lnL>
                      <a:noFill/>
                    </a:lnL>
                    <a:lnR>
                      <a:noFill/>
                    </a:lnR>
                    <a:lnT>
                      <a:noFill/>
                    </a:lnT>
                    <a:lnB>
                      <a:noFill/>
                    </a:lnB>
                    <a:noFill/>
                  </a:tcPr>
                </a:tc>
                <a:tc>
                  <a:txBody>
                    <a:bodyPr/>
                    <a:lstStyle/>
                    <a:p>
                      <a:r>
                        <a:rPr lang="en-IN" sz="1200">
                          <a:effectLst/>
                        </a:rPr>
                        <a:t>Oct-24</a:t>
                      </a:r>
                    </a:p>
                  </a:txBody>
                  <a:tcPr marL="23329" marR="23329" marT="11664" marB="11664" anchor="ctr">
                    <a:lnL>
                      <a:noFill/>
                    </a:lnL>
                    <a:lnR>
                      <a:noFill/>
                    </a:lnR>
                    <a:lnT>
                      <a:noFill/>
                    </a:lnT>
                    <a:lnB>
                      <a:noFill/>
                    </a:lnB>
                    <a:noFill/>
                  </a:tcPr>
                </a:tc>
                <a:tc>
                  <a:txBody>
                    <a:bodyPr/>
                    <a:lstStyle/>
                    <a:p>
                      <a:r>
                        <a:rPr lang="en-IN" sz="1200">
                          <a:effectLst/>
                        </a:rPr>
                        <a:t>300</a:t>
                      </a:r>
                    </a:p>
                  </a:txBody>
                  <a:tcPr marL="23329" marR="23329" marT="11664" marB="11664" anchor="ctr">
                    <a:lnL>
                      <a:noFill/>
                    </a:lnL>
                    <a:lnR>
                      <a:noFill/>
                    </a:lnR>
                    <a:lnT>
                      <a:noFill/>
                    </a:lnT>
                    <a:lnB>
                      <a:noFill/>
                    </a:lnB>
                    <a:noFill/>
                  </a:tcPr>
                </a:tc>
                <a:tc>
                  <a:txBody>
                    <a:bodyPr/>
                    <a:lstStyle/>
                    <a:p>
                      <a:r>
                        <a:rPr lang="en-IN" sz="1200">
                          <a:effectLst/>
                        </a:rPr>
                        <a:t>150</a:t>
                      </a:r>
                    </a:p>
                  </a:txBody>
                  <a:tcPr marL="23329" marR="23329" marT="11664" marB="11664" anchor="ctr">
                    <a:lnL>
                      <a:noFill/>
                    </a:lnL>
                    <a:lnR>
                      <a:noFill/>
                    </a:lnR>
                    <a:lnT>
                      <a:noFill/>
                    </a:lnT>
                    <a:lnB>
                      <a:noFill/>
                    </a:lnB>
                    <a:noFill/>
                  </a:tcPr>
                </a:tc>
                <a:tc>
                  <a:txBody>
                    <a:bodyPr/>
                    <a:lstStyle/>
                    <a:p>
                      <a:r>
                        <a:rPr lang="en-IN" sz="1200">
                          <a:effectLst/>
                        </a:rPr>
                        <a:t>80</a:t>
                      </a:r>
                    </a:p>
                  </a:txBody>
                  <a:tcPr marL="23329" marR="23329" marT="11664" marB="11664" anchor="ctr">
                    <a:lnL>
                      <a:noFill/>
                    </a:lnL>
                    <a:lnR>
                      <a:noFill/>
                    </a:lnR>
                    <a:lnT>
                      <a:noFill/>
                    </a:lnT>
                    <a:lnB>
                      <a:noFill/>
                    </a:lnB>
                    <a:noFill/>
                  </a:tcPr>
                </a:tc>
                <a:tc>
                  <a:txBody>
                    <a:bodyPr/>
                    <a:lstStyle/>
                    <a:p>
                      <a:r>
                        <a:rPr lang="en-IN" sz="1200">
                          <a:effectLst/>
                        </a:rPr>
                        <a:t>Yes</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1831457694"/>
                  </a:ext>
                </a:extLst>
              </a:tr>
              <a:tr h="404526">
                <a:tc>
                  <a:txBody>
                    <a:bodyPr/>
                    <a:lstStyle/>
                    <a:p>
                      <a:r>
                        <a:rPr lang="en-US" sz="1200">
                          <a:effectLst/>
                        </a:rPr>
                        <a:t>It Takes a Word (Eastern)</a:t>
                      </a:r>
                    </a:p>
                  </a:txBody>
                  <a:tcPr marL="23329" marR="23329" marT="11664" marB="11664" anchor="ctr">
                    <a:lnL>
                      <a:noFill/>
                    </a:lnL>
                    <a:lnR>
                      <a:noFill/>
                    </a:lnR>
                    <a:lnT>
                      <a:noFill/>
                    </a:lnT>
                    <a:lnB>
                      <a:noFill/>
                    </a:lnB>
                    <a:noFill/>
                  </a:tcPr>
                </a:tc>
                <a:tc>
                  <a:txBody>
                    <a:bodyPr/>
                    <a:lstStyle/>
                    <a:p>
                      <a:r>
                        <a:rPr lang="en-IN" sz="1200">
                          <a:effectLst/>
                        </a:rPr>
                        <a:t>Per HO guidelines</a:t>
                      </a:r>
                    </a:p>
                  </a:txBody>
                  <a:tcPr marL="23329" marR="23329" marT="11664" marB="11664" anchor="ctr">
                    <a:lnL>
                      <a:noFill/>
                    </a:lnL>
                    <a:lnR>
                      <a:noFill/>
                    </a:lnR>
                    <a:lnT>
                      <a:noFill/>
                    </a:lnT>
                    <a:lnB>
                      <a:noFill/>
                    </a:lnB>
                    <a:noFill/>
                  </a:tcPr>
                </a:tc>
                <a:tc>
                  <a:txBody>
                    <a:bodyPr/>
                    <a:lstStyle/>
                    <a:p>
                      <a:r>
                        <a:rPr lang="en-IN" sz="1200">
                          <a:effectLst/>
                        </a:rPr>
                        <a:t>Yes</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No</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103785054"/>
                  </a:ext>
                </a:extLst>
              </a:tr>
              <a:tr h="404526">
                <a:tc>
                  <a:txBody>
                    <a:bodyPr/>
                    <a:lstStyle/>
                    <a:p>
                      <a:r>
                        <a:rPr lang="en-IN" sz="1200">
                          <a:effectLst/>
                        </a:rPr>
                        <a:t>Hero in You (Eastern)</a:t>
                      </a:r>
                    </a:p>
                  </a:txBody>
                  <a:tcPr marL="23329" marR="23329" marT="11664" marB="11664" anchor="ctr">
                    <a:lnL>
                      <a:noFill/>
                    </a:lnL>
                    <a:lnR>
                      <a:noFill/>
                    </a:lnR>
                    <a:lnT>
                      <a:noFill/>
                    </a:lnT>
                    <a:lnB>
                      <a:noFill/>
                    </a:lnB>
                    <a:noFill/>
                  </a:tcPr>
                </a:tc>
                <a:tc>
                  <a:txBody>
                    <a:bodyPr/>
                    <a:lstStyle/>
                    <a:p>
                      <a:r>
                        <a:rPr lang="en-IN" sz="1200">
                          <a:effectLst/>
                        </a:rPr>
                        <a:t>Fundraising</a:t>
                      </a:r>
                    </a:p>
                  </a:txBody>
                  <a:tcPr marL="23329" marR="23329" marT="11664" marB="11664" anchor="ctr">
                    <a:lnL>
                      <a:noFill/>
                    </a:lnL>
                    <a:lnR>
                      <a:noFill/>
                    </a:lnR>
                    <a:lnT>
                      <a:noFill/>
                    </a:lnT>
                    <a:lnB>
                      <a:noFill/>
                    </a:lnB>
                    <a:noFill/>
                  </a:tcPr>
                </a:tc>
                <a:tc>
                  <a:txBody>
                    <a:bodyPr/>
                    <a:lstStyle/>
                    <a:p>
                      <a:r>
                        <a:rPr lang="en-IN" sz="1200">
                          <a:effectLst/>
                        </a:rPr>
                        <a:t>Yes</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dirty="0">
                          <a:effectLst/>
                        </a:rPr>
                        <a:t>-</a:t>
                      </a:r>
                    </a:p>
                  </a:txBody>
                  <a:tcPr marL="23329" marR="23329" marT="11664" marB="11664" anchor="ctr">
                    <a:lnL>
                      <a:noFill/>
                    </a:lnL>
                    <a:lnR>
                      <a:noFill/>
                    </a:lnR>
                    <a:lnT>
                      <a:noFill/>
                    </a:lnT>
                    <a:lnB>
                      <a:noFill/>
                    </a:lnB>
                    <a:noFill/>
                  </a:tcPr>
                </a:tc>
                <a:tc>
                  <a:txBody>
                    <a:bodyPr/>
                    <a:lstStyle/>
                    <a:p>
                      <a:r>
                        <a:rPr lang="en-IN" sz="1200">
                          <a:effectLst/>
                        </a:rPr>
                        <a:t>-</a:t>
                      </a:r>
                    </a:p>
                  </a:txBody>
                  <a:tcPr marL="23329" marR="23329" marT="11664" marB="11664" anchor="ctr">
                    <a:lnL>
                      <a:noFill/>
                    </a:lnL>
                    <a:lnR>
                      <a:noFill/>
                    </a:lnR>
                    <a:lnT>
                      <a:noFill/>
                    </a:lnT>
                    <a:lnB>
                      <a:noFill/>
                    </a:lnB>
                    <a:noFill/>
                  </a:tcPr>
                </a:tc>
                <a:tc>
                  <a:txBody>
                    <a:bodyPr/>
                    <a:lstStyle/>
                    <a:p>
                      <a:r>
                        <a:rPr lang="en-IN" sz="1200">
                          <a:effectLst/>
                        </a:rPr>
                        <a:t>Yes</a:t>
                      </a:r>
                    </a:p>
                  </a:txBody>
                  <a:tcPr marL="23329" marR="23329" marT="11664" marB="11664" anchor="ctr">
                    <a:lnL>
                      <a:noFill/>
                    </a:lnL>
                    <a:lnR>
                      <a:noFill/>
                    </a:lnR>
                    <a:lnT>
                      <a:noFill/>
                    </a:lnT>
                    <a:lnB>
                      <a:noFill/>
                    </a:lnB>
                    <a:noFill/>
                  </a:tcPr>
                </a:tc>
                <a:tc>
                  <a:txBody>
                    <a:bodyPr/>
                    <a:lstStyle/>
                    <a:p>
                      <a:r>
                        <a:rPr lang="en-IN" sz="1200">
                          <a:effectLst/>
                        </a:rPr>
                        <a:t>0</a:t>
                      </a:r>
                    </a:p>
                  </a:txBody>
                  <a:tcPr marL="23329" marR="23329" marT="11664" marB="11664" anchor="ctr">
                    <a:lnL>
                      <a:noFill/>
                    </a:lnL>
                    <a:lnR>
                      <a:noFill/>
                    </a:lnR>
                    <a:lnT>
                      <a:noFill/>
                    </a:lnT>
                    <a:lnB>
                      <a:noFill/>
                    </a:lnB>
                    <a:noFill/>
                  </a:tcPr>
                </a:tc>
                <a:tc>
                  <a:txBody>
                    <a:bodyPr/>
                    <a:lstStyle/>
                    <a:p>
                      <a:r>
                        <a:rPr lang="en-IN" sz="1200" dirty="0">
                          <a:effectLst/>
                        </a:rPr>
                        <a:t>0</a:t>
                      </a:r>
                    </a:p>
                  </a:txBody>
                  <a:tcPr marL="23329" marR="23329" marT="11664" marB="11664" anchor="ctr">
                    <a:lnL>
                      <a:noFill/>
                    </a:lnL>
                    <a:lnR>
                      <a:noFill/>
                    </a:lnR>
                    <a:lnT>
                      <a:noFill/>
                    </a:lnT>
                    <a:lnB>
                      <a:noFill/>
                    </a:lnB>
                    <a:noFill/>
                  </a:tcPr>
                </a:tc>
                <a:extLst>
                  <a:ext uri="{0D108BD9-81ED-4DB2-BD59-A6C34878D82A}">
                    <a16:rowId xmlns:a16="http://schemas.microsoft.com/office/drawing/2014/main" val="88229640"/>
                  </a:ext>
                </a:extLst>
              </a:tr>
            </a:tbl>
          </a:graphicData>
        </a:graphic>
      </p:graphicFrame>
      <p:sp>
        <p:nvSpPr>
          <p:cNvPr id="5" name="Rectangle 1">
            <a:extLst>
              <a:ext uri="{FF2B5EF4-FFF2-40B4-BE49-F238E27FC236}">
                <a16:creationId xmlns:a16="http://schemas.microsoft.com/office/drawing/2014/main" id="{DFCD363C-730F-9D65-D051-94598435F26A}"/>
              </a:ext>
            </a:extLst>
          </p:cNvPr>
          <p:cNvSpPr>
            <a:spLocks noChangeArrowheads="1"/>
          </p:cNvSpPr>
          <p:nvPr/>
        </p:nvSpPr>
        <p:spPr bwMode="auto">
          <a:xfrm>
            <a:off x="133564" y="184075"/>
            <a:ext cx="3498202"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Online Micro Volunteering Initiatives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5198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1DE9-2CA6-F4CE-0115-4BD93DF31F8C}"/>
              </a:ext>
            </a:extLst>
          </p:cNvPr>
          <p:cNvSpPr>
            <a:spLocks noGrp="1"/>
          </p:cNvSpPr>
          <p:nvPr>
            <p:ph type="title"/>
          </p:nvPr>
        </p:nvSpPr>
        <p:spPr/>
        <p:txBody>
          <a:bodyPr>
            <a:normAutofit/>
          </a:bodyPr>
          <a:lstStyle/>
          <a:p>
            <a:pPr algn="l"/>
            <a:r>
              <a:rPr lang="en-IN" sz="2000" dirty="0">
                <a:latin typeface="Times New Roman" panose="02020603050405020304" pitchFamily="18" charset="0"/>
                <a:cs typeface="Times New Roman" panose="02020603050405020304" pitchFamily="18" charset="0"/>
              </a:rPr>
              <a:t>Analysis</a:t>
            </a:r>
          </a:p>
        </p:txBody>
      </p:sp>
      <p:sp>
        <p:nvSpPr>
          <p:cNvPr id="3" name="Content Placeholder 2">
            <a:extLst>
              <a:ext uri="{FF2B5EF4-FFF2-40B4-BE49-F238E27FC236}">
                <a16:creationId xmlns:a16="http://schemas.microsoft.com/office/drawing/2014/main" id="{03554FDA-DD3C-C413-1859-91B71831DE32}"/>
              </a:ext>
            </a:extLst>
          </p:cNvPr>
          <p:cNvSpPr>
            <a:spLocks noGrp="1"/>
          </p:cNvSpPr>
          <p:nvPr>
            <p:ph idx="1"/>
          </p:nvPr>
        </p:nvSpPr>
        <p:spPr/>
        <p:txBody>
          <a:bodyPr>
            <a:normAutofit fontScale="92500" lnSpcReduction="20000"/>
          </a:bodyPr>
          <a:lstStyle/>
          <a:p>
            <a:pPr marL="14605" marR="372745" algn="just">
              <a:lnSpc>
                <a:spcPct val="105000"/>
              </a:lnSpc>
              <a:spcBef>
                <a:spcPts val="1440"/>
              </a:spcBef>
              <a:buNone/>
            </a:pPr>
            <a:r>
              <a:rPr lang="en-US" sz="1800" dirty="0">
                <a:effectLst/>
                <a:latin typeface="Georgia" panose="02040502050405020303" pitchFamily="18" charset="0"/>
                <a:ea typeface="Georgia" panose="02040502050405020303" pitchFamily="18" charset="0"/>
                <a:cs typeface="Georgia" panose="02040502050405020303" pitchFamily="18" charset="0"/>
              </a:rPr>
              <a:t>The 24 initiatives engaged 6,746 volunteers, with 4,698 registered and 2,048 via direct participation, achieving an average conversion rate of</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60% for initiatives with registration data. Offline initiatives (13) significantly outperformed online ones (11), with events like Wall of Change (700 volunteers) and Walkathon 2024 (790 volunteers) showing robust community engagement, driven by college partnerships and campaign alignment.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Online initiatives, such as It Takes a Word and Hero in You, faced lower engagement (e.g., 12–55 volunteers), highlighting challenges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in</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sustaining</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participation</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without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interactive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elements.</a:t>
            </a:r>
            <a:endParaRPr lang="en-IN" sz="1800" dirty="0">
              <a:effectLst/>
              <a:latin typeface="Georgia" panose="02040502050405020303" pitchFamily="18" charset="0"/>
              <a:ea typeface="Georgia" panose="02040502050405020303" pitchFamily="18" charset="0"/>
              <a:cs typeface="Georgia" panose="02040502050405020303" pitchFamily="18" charset="0"/>
            </a:endParaRPr>
          </a:p>
          <a:p>
            <a:pPr marL="14605" marR="373380" algn="just">
              <a:lnSpc>
                <a:spcPct val="105000"/>
              </a:lnSpc>
              <a:spcBef>
                <a:spcPts val="715"/>
              </a:spcBef>
              <a:buNone/>
            </a:pPr>
            <a:r>
              <a:rPr lang="en-US" sz="1800" dirty="0">
                <a:effectLst/>
                <a:latin typeface="Georgia" panose="02040502050405020303" pitchFamily="18" charset="0"/>
                <a:ea typeface="Georgia" panose="02040502050405020303" pitchFamily="18" charset="0"/>
                <a:cs typeface="Georgia" panose="02040502050405020303" pitchFamily="18" charset="0"/>
              </a:rPr>
              <a:t>All but three initiatives (WDACL, Daan Utsav MV, It Takes a Word [Eastern]) met their</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objectives,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with</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offline</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events</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excelling</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in</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advocacy</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for</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girl</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child</a:t>
            </a:r>
            <a:r>
              <a:rPr lang="en-US" sz="1800" spc="17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education and environmental causes.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Fundraising efforts raised ₹351,000 across World Environment Day (Western, ₹300,000), Red Knot Campaign (₹47,000), and Daan Ut- sav MV (₹4,000), but many initiatives lacked financial goals, indicating untapped potential.</a:t>
            </a:r>
            <a:r>
              <a:rPr lang="en-US" sz="1800" spc="4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Resource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efficiency</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was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notable,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with</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1,003</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team</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hours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and</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₹170,500 in costs across select events, underscoring scalability. Promotion was most effective via diverse channels (Noticebard, </a:t>
            </a:r>
            <a:r>
              <a:rPr lang="en-US" sz="1800" dirty="0" err="1">
                <a:effectLst/>
                <a:latin typeface="Georgia" panose="02040502050405020303" pitchFamily="18" charset="0"/>
                <a:ea typeface="Georgia" panose="02040502050405020303" pitchFamily="18" charset="0"/>
                <a:cs typeface="Georgia" panose="02040502050405020303" pitchFamily="18" charset="0"/>
              </a:rPr>
              <a:t>Lawctopus</a:t>
            </a:r>
            <a:r>
              <a:rPr lang="en-US" sz="1800" dirty="0">
                <a:effectLst/>
                <a:latin typeface="Georgia" panose="02040502050405020303" pitchFamily="18" charset="0"/>
                <a:ea typeface="Georgia" panose="02040502050405020303" pitchFamily="18" charset="0"/>
                <a:cs typeface="Georgia" panose="02040502050405020303" pitchFamily="18" charset="0"/>
              </a:rPr>
              <a:t>, social media, emails, visits), while reliance on WhatsApp limited reach for smaller campaigns.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dirty="0">
                <a:effectLst/>
                <a:latin typeface="Georgia" panose="02040502050405020303" pitchFamily="18" charset="0"/>
                <a:ea typeface="Georgia" panose="02040502050405020303" pitchFamily="18" charset="0"/>
                <a:cs typeface="Georgia" panose="02040502050405020303" pitchFamily="18" charset="0"/>
              </a:rPr>
              <a:t>CRY Communications supported 18 initiatives, but inconsistent prioritization occasionally hindered impact.</a:t>
            </a:r>
            <a:endParaRPr lang="en-IN" sz="1800" dirty="0">
              <a:effectLst/>
              <a:latin typeface="Georgia" panose="02040502050405020303" pitchFamily="18" charset="0"/>
              <a:ea typeface="Georgia" panose="02040502050405020303" pitchFamily="18" charset="0"/>
              <a:cs typeface="Georgia" panose="02040502050405020303" pitchFamily="18" charset="0"/>
            </a:endParaRPr>
          </a:p>
          <a:p>
            <a:endParaRPr lang="en-IN" dirty="0"/>
          </a:p>
        </p:txBody>
      </p:sp>
    </p:spTree>
    <p:extLst>
      <p:ext uri="{BB962C8B-B14F-4D97-AF65-F5344CB8AC3E}">
        <p14:creationId xmlns:p14="http://schemas.microsoft.com/office/powerpoint/2010/main" val="3161188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3A38C-1531-E9F0-9F9A-27A456A6AC7E}"/>
              </a:ext>
            </a:extLst>
          </p:cNvPr>
          <p:cNvSpPr>
            <a:spLocks noGrp="1"/>
          </p:cNvSpPr>
          <p:nvPr>
            <p:ph type="title"/>
          </p:nvPr>
        </p:nvSpPr>
        <p:spPr/>
        <p:txBody>
          <a:bodyPr>
            <a:normAutofit/>
          </a:bodyPr>
          <a:lstStyle/>
          <a:p>
            <a:pPr algn="l"/>
            <a:r>
              <a:rPr lang="en-IN" sz="2000" dirty="0">
                <a:latin typeface="Times New Roman" panose="02020603050405020304" pitchFamily="18" charset="0"/>
                <a:cs typeface="Times New Roman" panose="02020603050405020304" pitchFamily="18" charset="0"/>
              </a:rPr>
              <a:t>Trends</a:t>
            </a:r>
          </a:p>
        </p:txBody>
      </p:sp>
      <p:sp>
        <p:nvSpPr>
          <p:cNvPr id="3" name="Content Placeholder 2">
            <a:extLst>
              <a:ext uri="{FF2B5EF4-FFF2-40B4-BE49-F238E27FC236}">
                <a16:creationId xmlns:a16="http://schemas.microsoft.com/office/drawing/2014/main" id="{041063CD-7E18-8A10-C1B5-EE37B6897E29}"/>
              </a:ext>
            </a:extLst>
          </p:cNvPr>
          <p:cNvSpPr>
            <a:spLocks noGrp="1"/>
          </p:cNvSpPr>
          <p:nvPr>
            <p:ph idx="1"/>
          </p:nvPr>
        </p:nvSpPr>
        <p:spPr/>
        <p:txBody>
          <a:bodyPr>
            <a:normAutofit fontScale="92500" lnSpcReduction="20000"/>
          </a:bodyPr>
          <a:lstStyle/>
          <a:p>
            <a:pPr marL="0" lvl="0" indent="0">
              <a:spcBef>
                <a:spcPts val="5"/>
              </a:spcBef>
              <a:buSzPts val="1700"/>
              <a:buNone/>
              <a:tabLst>
                <a:tab pos="354965" algn="l"/>
              </a:tabLst>
            </a:pPr>
            <a:endParaRPr lang="en-IN" sz="1800" b="1" kern="0" spc="0" dirty="0">
              <a:effectLst/>
              <a:latin typeface="Cambria" panose="02040503050406030204" pitchFamily="18" charset="0"/>
              <a:ea typeface="Cambria" panose="02040503050406030204" pitchFamily="18" charset="0"/>
              <a:cs typeface="Cambria" panose="02040503050406030204" pitchFamily="18" charset="0"/>
            </a:endParaRPr>
          </a:p>
          <a:p>
            <a:pPr marL="342900" marR="373380" lvl="0" indent="-342900" algn="just">
              <a:lnSpc>
                <a:spcPct val="105000"/>
              </a:lnSpc>
              <a:spcBef>
                <a:spcPts val="1400"/>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Offline Superiority</a:t>
            </a:r>
            <a:r>
              <a:rPr lang="en-US" sz="1800" spc="0" dirty="0">
                <a:effectLst/>
                <a:latin typeface="Georgia" panose="02040502050405020303" pitchFamily="18" charset="0"/>
                <a:ea typeface="Georgia" panose="02040502050405020303" pitchFamily="18" charset="0"/>
                <a:cs typeface="Georgia" panose="02040502050405020303" pitchFamily="18" charset="0"/>
              </a:rPr>
              <a: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Offline initiatives consistently achieved higher engagement due to tangible, community-driven activities and college part</a:t>
            </a:r>
            <a:r>
              <a:rPr lang="en-US" sz="1800" spc="-10" dirty="0">
                <a:effectLst/>
                <a:latin typeface="Georgia" panose="02040502050405020303" pitchFamily="18" charset="0"/>
                <a:ea typeface="Georgia" panose="02040502050405020303" pitchFamily="18" charset="0"/>
                <a:cs typeface="Georgia" panose="02040502050405020303" pitchFamily="18" charset="0"/>
              </a:rPr>
              <a:t>nerships.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gn="just">
              <a:lnSpc>
                <a:spcPct val="105000"/>
              </a:lnSpc>
              <a:spcBef>
                <a:spcPts val="675"/>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Campaign</a:t>
            </a:r>
            <a:r>
              <a:rPr lang="en-US" sz="1800" b="1" spc="200" dirty="0">
                <a:effectLst/>
                <a:latin typeface="Cambria" panose="02040503050406030204" pitchFamily="18" charset="0"/>
                <a:ea typeface="Georgia" panose="02040502050405020303" pitchFamily="18" charset="0"/>
                <a:cs typeface="Georgia" panose="02040502050405020303" pitchFamily="18" charset="0"/>
              </a:rPr>
              <a:t> </a:t>
            </a:r>
            <a:r>
              <a:rPr lang="en-US" sz="1800" b="1" spc="0" dirty="0">
                <a:effectLst/>
                <a:latin typeface="Cambria" panose="02040503050406030204" pitchFamily="18" charset="0"/>
                <a:ea typeface="Georgia" panose="02040502050405020303" pitchFamily="18" charset="0"/>
                <a:cs typeface="Georgia" panose="02040502050405020303" pitchFamily="18" charset="0"/>
              </a:rPr>
              <a:t>Alignment</a:t>
            </a:r>
            <a:r>
              <a:rPr lang="en-US" sz="1800" spc="0" dirty="0">
                <a:effectLst/>
                <a:latin typeface="Georgia" panose="02040502050405020303" pitchFamily="18" charset="0"/>
                <a:ea typeface="Georgia" panose="02040502050405020303" pitchFamily="18" charset="0"/>
                <a:cs typeface="Georgia" panose="02040502050405020303" pitchFamily="18" charset="0"/>
              </a:rPr>
              <a:t>:</a:t>
            </a:r>
            <a:r>
              <a:rPr lang="en-US" sz="1800" spc="4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Alignment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with</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campaigns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like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“Poori</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err="1">
                <a:effectLst/>
                <a:latin typeface="Georgia" panose="02040502050405020303" pitchFamily="18" charset="0"/>
                <a:ea typeface="Georgia" panose="02040502050405020303" pitchFamily="18" charset="0"/>
                <a:cs typeface="Georgia" panose="02040502050405020303" pitchFamily="18" charset="0"/>
              </a:rPr>
              <a:t>Padhai</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Desh</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ki </a:t>
            </a:r>
            <a:r>
              <a:rPr lang="en-US" sz="1800" spc="0" dirty="0" err="1">
                <a:effectLst/>
                <a:latin typeface="Georgia" panose="02040502050405020303" pitchFamily="18" charset="0"/>
                <a:ea typeface="Georgia" panose="02040502050405020303" pitchFamily="18" charset="0"/>
                <a:cs typeface="Georgia" panose="02040502050405020303" pitchFamily="18" charset="0"/>
              </a:rPr>
              <a:t>Bhalai</a:t>
            </a:r>
            <a:r>
              <a:rPr lang="en-US" sz="1800" spc="0" dirty="0">
                <a:effectLst/>
                <a:latin typeface="Georgia" panose="02040502050405020303" pitchFamily="18" charset="0"/>
                <a:ea typeface="Georgia" panose="02040502050405020303" pitchFamily="18" charset="0"/>
                <a:cs typeface="Georgia" panose="02040502050405020303" pitchFamily="18" charset="0"/>
              </a:rPr>
              <a:t>” enhanced visibility and participation.</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gn="just">
              <a:lnSpc>
                <a:spcPct val="105000"/>
              </a:lnSpc>
              <a:spcBef>
                <a:spcPts val="675"/>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Enthusiastic Demographics</a:t>
            </a:r>
            <a:r>
              <a:rPr lang="en-US" sz="1800" spc="0" dirty="0">
                <a:effectLst/>
                <a:latin typeface="Georgia" panose="02040502050405020303" pitchFamily="18" charset="0"/>
                <a:ea typeface="Georgia" panose="02040502050405020303" pitchFamily="18" charset="0"/>
                <a:cs typeface="Georgia" panose="02040502050405020303" pitchFamily="18" charset="0"/>
              </a:rPr>
              <a:t>: School and college students were highly responsive to clear, actionable tasks, especially in awareness-focused activi</a:t>
            </a:r>
            <a:r>
              <a:rPr lang="en-US" sz="1800" spc="-20" dirty="0">
                <a:effectLst/>
                <a:latin typeface="Georgia" panose="02040502050405020303" pitchFamily="18" charset="0"/>
                <a:ea typeface="Georgia" panose="02040502050405020303" pitchFamily="18" charset="0"/>
                <a:cs typeface="Georgia" panose="02040502050405020303" pitchFamily="18" charset="0"/>
              </a:rPr>
              <a:t>ties.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295910" lvl="0" indent="-342900" algn="just">
              <a:lnSpc>
                <a:spcPct val="105000"/>
              </a:lnSpc>
              <a:spcBef>
                <a:spcPts val="670"/>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Promotion Channels</a:t>
            </a:r>
            <a:r>
              <a:rPr lang="en-US" sz="1800" spc="0" dirty="0">
                <a:effectLst/>
                <a:latin typeface="Georgia" panose="02040502050405020303" pitchFamily="18" charset="0"/>
                <a:ea typeface="Georgia" panose="02040502050405020303" pitchFamily="18" charset="0"/>
                <a:cs typeface="Georgia" panose="02040502050405020303" pitchFamily="18" charset="0"/>
              </a:rPr>
              <a: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Diverse promotion (Noticebard, social media, emails) outperformed WhatsApp-only strategies.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gn="just">
              <a:lnSpc>
                <a:spcPct val="105000"/>
              </a:lnSpc>
              <a:spcBef>
                <a:spcPts val="675"/>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Fundraising Potential</a:t>
            </a:r>
            <a:r>
              <a:rPr lang="en-US" sz="1800" spc="0" dirty="0">
                <a:effectLst/>
                <a:latin typeface="Georgia" panose="02040502050405020303" pitchFamily="18" charset="0"/>
                <a:ea typeface="Georgia" panose="02040502050405020303" pitchFamily="18" charset="0"/>
                <a:cs typeface="Georgia" panose="02040502050405020303" pitchFamily="18" charset="0"/>
              </a:rPr>
              <a:t>:</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High engagement in offline events suggests un- tapped fundraising opportunities.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2745" lvl="0" indent="-342900" algn="just">
              <a:lnSpc>
                <a:spcPct val="105000"/>
              </a:lnSpc>
              <a:spcBef>
                <a:spcPts val="675"/>
              </a:spcBef>
              <a:buSzPts val="1200"/>
              <a:buFont typeface="Georgia" panose="02040502050405020303" pitchFamily="18" charset="0"/>
              <a:buChar char="•"/>
              <a:tabLst>
                <a:tab pos="392430" algn="l"/>
                <a:tab pos="393700" algn="l"/>
              </a:tabLst>
            </a:pPr>
            <a:r>
              <a:rPr lang="en-US" sz="1800" b="1" spc="0" dirty="0">
                <a:effectLst/>
                <a:latin typeface="Cambria" panose="02040503050406030204" pitchFamily="18" charset="0"/>
                <a:ea typeface="Georgia" panose="02040502050405020303" pitchFamily="18" charset="0"/>
                <a:cs typeface="Georgia" panose="02040502050405020303" pitchFamily="18" charset="0"/>
              </a:rPr>
              <a:t>Online</a:t>
            </a:r>
            <a:r>
              <a:rPr lang="en-US" sz="1800" b="1" spc="-75" dirty="0">
                <a:effectLst/>
                <a:latin typeface="Cambria" panose="02040503050406030204" pitchFamily="18" charset="0"/>
                <a:ea typeface="Georgia" panose="02040502050405020303" pitchFamily="18" charset="0"/>
                <a:cs typeface="Georgia" panose="02040502050405020303" pitchFamily="18" charset="0"/>
              </a:rPr>
              <a:t> </a:t>
            </a:r>
            <a:r>
              <a:rPr lang="en-US" sz="1800" b="1" spc="0" dirty="0">
                <a:effectLst/>
                <a:latin typeface="Cambria" panose="02040503050406030204" pitchFamily="18" charset="0"/>
                <a:ea typeface="Georgia" panose="02040502050405020303" pitchFamily="18" charset="0"/>
                <a:cs typeface="Georgia" panose="02040502050405020303" pitchFamily="18" charset="0"/>
              </a:rPr>
              <a:t>Challenges</a:t>
            </a:r>
            <a:r>
              <a:rPr lang="en-US" sz="1800" spc="0" dirty="0">
                <a:effectLst/>
                <a:latin typeface="Georgia" panose="02040502050405020303" pitchFamily="18" charset="0"/>
                <a:ea typeface="Georgia" panose="02040502050405020303" pitchFamily="18" charset="0"/>
                <a:cs typeface="Georgia" panose="02040502050405020303" pitchFamily="18" charset="0"/>
              </a:rPr>
              <a:t>:</a:t>
            </a:r>
            <a:r>
              <a:rPr lang="en-US" sz="1800" spc="-1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Online</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initiatives</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struggled</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without</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interactive</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or</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hybrid elements.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endParaRPr lang="en-IN" dirty="0"/>
          </a:p>
        </p:txBody>
      </p:sp>
    </p:spTree>
    <p:extLst>
      <p:ext uri="{BB962C8B-B14F-4D97-AF65-F5344CB8AC3E}">
        <p14:creationId xmlns:p14="http://schemas.microsoft.com/office/powerpoint/2010/main" val="637202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4592-547D-2816-A0F1-DAE3F9C83D9C}"/>
              </a:ext>
            </a:extLst>
          </p:cNvPr>
          <p:cNvSpPr>
            <a:spLocks noGrp="1"/>
          </p:cNvSpPr>
          <p:nvPr>
            <p:ph type="title"/>
          </p:nvPr>
        </p:nvSpPr>
        <p:spPr/>
        <p:txBody>
          <a:bodyPr>
            <a:normAutofit/>
          </a:bodyPr>
          <a:lstStyle/>
          <a:p>
            <a:pPr algn="l"/>
            <a:r>
              <a:rPr lang="en-IN" sz="2000" dirty="0"/>
              <a:t>Recommendations</a:t>
            </a:r>
          </a:p>
        </p:txBody>
      </p:sp>
      <p:sp>
        <p:nvSpPr>
          <p:cNvPr id="3" name="Content Placeholder 2">
            <a:extLst>
              <a:ext uri="{FF2B5EF4-FFF2-40B4-BE49-F238E27FC236}">
                <a16:creationId xmlns:a16="http://schemas.microsoft.com/office/drawing/2014/main" id="{CE423AD6-11E6-7362-A200-C15570057D03}"/>
              </a:ext>
            </a:extLst>
          </p:cNvPr>
          <p:cNvSpPr>
            <a:spLocks noGrp="1"/>
          </p:cNvSpPr>
          <p:nvPr>
            <p:ph idx="1"/>
          </p:nvPr>
        </p:nvSpPr>
        <p:spPr/>
        <p:txBody>
          <a:bodyPr/>
          <a:lstStyle/>
          <a:p>
            <a:pPr marL="342900" marR="257810" lvl="0" indent="-342900">
              <a:lnSpc>
                <a:spcPct val="105000"/>
              </a:lnSpc>
              <a:spcBef>
                <a:spcPts val="1440"/>
              </a:spcBef>
              <a:buSzPts val="1200"/>
              <a:buFont typeface="Georgia" panose="02040502050405020303" pitchFamily="18" charset="0"/>
              <a:buChar char="•"/>
              <a:tabLst>
                <a:tab pos="392430" algn="l"/>
                <a:tab pos="393700" algn="l"/>
              </a:tabLst>
            </a:pPr>
            <a:r>
              <a:rPr lang="en-US" sz="1800" spc="0" dirty="0">
                <a:effectLst/>
                <a:latin typeface="Georgia" panose="02040502050405020303" pitchFamily="18" charset="0"/>
                <a:ea typeface="Georgia" panose="02040502050405020303" pitchFamily="18" charset="0"/>
                <a:cs typeface="Georgia" panose="02040502050405020303" pitchFamily="18" charset="0"/>
              </a:rPr>
              <a:t>Incorporate interactive elements (quizzes, live challenges, webinars) to boost online engagement.</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nSpc>
                <a:spcPct val="105000"/>
              </a:lnSpc>
              <a:spcBef>
                <a:spcPts val="720"/>
              </a:spcBef>
              <a:buSzPts val="1200"/>
              <a:buFont typeface="Georgia" panose="02040502050405020303" pitchFamily="18" charset="0"/>
              <a:buChar char="•"/>
              <a:tabLst>
                <a:tab pos="392430" algn="l"/>
                <a:tab pos="393700" algn="l"/>
              </a:tabLst>
            </a:pPr>
            <a:r>
              <a:rPr lang="en-US" sz="1800" spc="0" dirty="0">
                <a:effectLst/>
                <a:latin typeface="Georgia" panose="02040502050405020303" pitchFamily="18" charset="0"/>
                <a:ea typeface="Georgia" panose="02040502050405020303" pitchFamily="18" charset="0"/>
                <a:cs typeface="Georgia" panose="02040502050405020303" pitchFamily="18" charset="0"/>
              </a:rPr>
              <a:t>Align</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initiatives</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with</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national</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campaigns</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to</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leverage</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visibility</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and</a:t>
            </a:r>
            <a:r>
              <a:rPr lang="en-US" sz="1800" spc="-8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expand </a:t>
            </a:r>
            <a:r>
              <a:rPr lang="en-US" sz="1800" spc="-10" dirty="0">
                <a:effectLst/>
                <a:latin typeface="Georgia" panose="02040502050405020303" pitchFamily="18" charset="0"/>
                <a:ea typeface="Georgia" panose="02040502050405020303" pitchFamily="18" charset="0"/>
                <a:cs typeface="Georgia" panose="02040502050405020303" pitchFamily="18" charset="0"/>
              </a:rPr>
              <a:t>partnerships.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lvl="0" indent="-342900">
              <a:spcBef>
                <a:spcPts val="720"/>
              </a:spcBef>
              <a:buSzPts val="1200"/>
              <a:buFont typeface="Georgia" panose="02040502050405020303" pitchFamily="18" charset="0"/>
              <a:buChar char="•"/>
              <a:tabLst>
                <a:tab pos="393065" algn="l"/>
              </a:tabLst>
            </a:pPr>
            <a:r>
              <a:rPr lang="en-US" sz="1800" spc="20" dirty="0">
                <a:effectLst/>
                <a:latin typeface="Georgia" panose="02040502050405020303" pitchFamily="18" charset="0"/>
                <a:ea typeface="Georgia" panose="02040502050405020303" pitchFamily="18" charset="0"/>
                <a:cs typeface="Georgia" panose="02040502050405020303" pitchFamily="18" charset="0"/>
              </a:rPr>
              <a:t>Introduce</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fundraising</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goals</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for</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high-engagement</a:t>
            </a:r>
            <a:r>
              <a:rPr lang="en-US" sz="1800" spc="70"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offline</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events</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20" dirty="0">
                <a:effectLst/>
                <a:latin typeface="Georgia" panose="02040502050405020303" pitchFamily="18" charset="0"/>
                <a:ea typeface="Georgia" panose="02040502050405020303" pitchFamily="18" charset="0"/>
                <a:cs typeface="Georgia" panose="02040502050405020303" pitchFamily="18" charset="0"/>
              </a:rPr>
              <a:t>like</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10" dirty="0">
                <a:effectLst/>
                <a:latin typeface="Georgia" panose="02040502050405020303" pitchFamily="18" charset="0"/>
                <a:ea typeface="Georgia" panose="02040502050405020303" pitchFamily="18" charset="0"/>
                <a:cs typeface="Georgia" panose="02040502050405020303" pitchFamily="18" charset="0"/>
              </a:rPr>
              <a:t>walkathons.</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nSpc>
                <a:spcPct val="105000"/>
              </a:lnSpc>
              <a:spcBef>
                <a:spcPts val="805"/>
              </a:spcBef>
              <a:buSzPts val="1200"/>
              <a:buFont typeface="Georgia" panose="02040502050405020303" pitchFamily="18" charset="0"/>
              <a:buChar char="•"/>
              <a:tabLst>
                <a:tab pos="392430" algn="l"/>
                <a:tab pos="393700" algn="l"/>
              </a:tabLst>
            </a:pPr>
            <a:r>
              <a:rPr lang="en-US" sz="1800" spc="0" dirty="0">
                <a:effectLst/>
                <a:latin typeface="Georgia" panose="02040502050405020303" pitchFamily="18" charset="0"/>
                <a:ea typeface="Georgia" panose="02040502050405020303" pitchFamily="18" charset="0"/>
                <a:cs typeface="Georgia" panose="02040502050405020303" pitchFamily="18" charset="0"/>
              </a:rPr>
              <a:t>Diversify</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promotion</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via</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Instagram,</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school</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newsletters,</a:t>
            </a:r>
            <a:r>
              <a:rPr lang="en-US" sz="1800" spc="-6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and</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external</a:t>
            </a:r>
            <a:r>
              <a:rPr lang="en-US" sz="1800" spc="-75"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plat- forms like Noticebard.</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nSpc>
                <a:spcPct val="105000"/>
              </a:lnSpc>
              <a:spcBef>
                <a:spcPts val="720"/>
              </a:spcBef>
              <a:buSzPts val="1200"/>
              <a:buFont typeface="Georgia" panose="02040502050405020303" pitchFamily="18" charset="0"/>
              <a:buChar char="•"/>
              <a:tabLst>
                <a:tab pos="392430" algn="l"/>
                <a:tab pos="393700" algn="l"/>
              </a:tabLst>
            </a:pPr>
            <a:r>
              <a:rPr lang="en-US" sz="1800" spc="0" dirty="0">
                <a:effectLst/>
                <a:latin typeface="Georgia" panose="02040502050405020303" pitchFamily="18" charset="0"/>
                <a:ea typeface="Georgia" panose="02040502050405020303" pitchFamily="18" charset="0"/>
                <a:cs typeface="Georgia" panose="02040502050405020303" pitchFamily="18" charset="0"/>
              </a:rPr>
              <a:t>Document outcomes (photos, videos, reports) to showcase impact and in-</a:t>
            </a:r>
            <a:r>
              <a:rPr lang="en-US" sz="1800" spc="4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spire participation.</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pPr marL="342900" marR="373380" lvl="0" indent="-342900">
              <a:lnSpc>
                <a:spcPct val="105000"/>
              </a:lnSpc>
              <a:spcBef>
                <a:spcPts val="720"/>
              </a:spcBef>
              <a:buSzPts val="1200"/>
              <a:buFont typeface="Georgia" panose="02040502050405020303" pitchFamily="18" charset="0"/>
              <a:buChar char="•"/>
              <a:tabLst>
                <a:tab pos="392430" algn="l"/>
                <a:tab pos="393700" algn="l"/>
              </a:tabLst>
            </a:pPr>
            <a:r>
              <a:rPr lang="en-US" sz="1800" spc="0" dirty="0">
                <a:effectLst/>
                <a:latin typeface="Georgia" panose="02040502050405020303" pitchFamily="18" charset="0"/>
                <a:ea typeface="Georgia" panose="02040502050405020303" pitchFamily="18" charset="0"/>
                <a:cs typeface="Georgia" panose="02040502050405020303" pitchFamily="18" charset="0"/>
              </a:rPr>
              <a:t>Explore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hybrid</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models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combining</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online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and</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offline</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elements</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to</a:t>
            </a:r>
            <a:r>
              <a:rPr lang="en-US" sz="1800" spc="200" dirty="0">
                <a:effectLst/>
                <a:latin typeface="Georgia" panose="02040502050405020303" pitchFamily="18" charset="0"/>
                <a:ea typeface="Georgia" panose="02040502050405020303" pitchFamily="18" charset="0"/>
                <a:cs typeface="Georgia" panose="02040502050405020303" pitchFamily="18" charset="0"/>
              </a:rPr>
              <a:t> </a:t>
            </a:r>
            <a:r>
              <a:rPr lang="en-US" sz="1800" spc="0" dirty="0">
                <a:effectLst/>
                <a:latin typeface="Georgia" panose="02040502050405020303" pitchFamily="18" charset="0"/>
                <a:ea typeface="Georgia" panose="02040502050405020303" pitchFamily="18" charset="0"/>
                <a:cs typeface="Georgia" panose="02040502050405020303" pitchFamily="18" charset="0"/>
              </a:rPr>
              <a:t>sustain </a:t>
            </a:r>
            <a:r>
              <a:rPr lang="en-US" sz="1800" spc="-10" dirty="0">
                <a:effectLst/>
                <a:latin typeface="Georgia" panose="02040502050405020303" pitchFamily="18" charset="0"/>
                <a:ea typeface="Georgia" panose="02040502050405020303" pitchFamily="18" charset="0"/>
                <a:cs typeface="Georgia" panose="02040502050405020303" pitchFamily="18" charset="0"/>
              </a:rPr>
              <a:t>engagement.</a:t>
            </a:r>
            <a:endParaRPr lang="en-IN" sz="1800" spc="0" dirty="0">
              <a:effectLst/>
              <a:latin typeface="Georgia" panose="02040502050405020303" pitchFamily="18" charset="0"/>
              <a:ea typeface="Georgia" panose="02040502050405020303" pitchFamily="18" charset="0"/>
              <a:cs typeface="Georgia" panose="02040502050405020303" pitchFamily="18" charset="0"/>
            </a:endParaRPr>
          </a:p>
          <a:p>
            <a:endParaRPr lang="en-IN" dirty="0"/>
          </a:p>
        </p:txBody>
      </p:sp>
    </p:spTree>
    <p:extLst>
      <p:ext uri="{BB962C8B-B14F-4D97-AF65-F5344CB8AC3E}">
        <p14:creationId xmlns:p14="http://schemas.microsoft.com/office/powerpoint/2010/main" val="8196335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8</TotalTime>
  <Words>870</Words>
  <Application>Microsoft Office PowerPoint</Application>
  <PresentationFormat>Widescreen</PresentationFormat>
  <Paragraphs>251</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Calisto MT</vt:lpstr>
      <vt:lpstr>Cambria</vt:lpstr>
      <vt:lpstr>Georgia</vt:lpstr>
      <vt:lpstr>Times New Roman</vt:lpstr>
      <vt:lpstr>Wingdings 2</vt:lpstr>
      <vt:lpstr>Slate</vt:lpstr>
      <vt:lpstr>MICRO-VOLUNTEERING REPORT</vt:lpstr>
      <vt:lpstr>PowerPoint Presentation</vt:lpstr>
      <vt:lpstr>PowerPoint Presentation</vt:lpstr>
      <vt:lpstr>Analysis</vt:lpstr>
      <vt:lpstr>Trends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Pia Mehta</dc:creator>
  <cp:lastModifiedBy>Pia Mehta</cp:lastModifiedBy>
  <cp:revision>1</cp:revision>
  <dcterms:created xsi:type="dcterms:W3CDTF">2025-05-17T20:37:59Z</dcterms:created>
  <dcterms:modified xsi:type="dcterms:W3CDTF">2025-05-17T20:46:15Z</dcterms:modified>
</cp:coreProperties>
</file>