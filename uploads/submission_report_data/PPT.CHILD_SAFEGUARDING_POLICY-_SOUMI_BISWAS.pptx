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1"/>
  </p:sldMasterIdLst>
  <p:notesMasterIdLst>
    <p:notesMasterId r:id="rId41"/>
  </p:notesMasterIdLst>
  <p:sldIdLst>
    <p:sldId id="256" r:id="rId2"/>
    <p:sldId id="294"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7" r:id="rId32"/>
    <p:sldId id="286" r:id="rId33"/>
    <p:sldId id="288" r:id="rId34"/>
    <p:sldId id="289" r:id="rId35"/>
    <p:sldId id="290" r:id="rId36"/>
    <p:sldId id="291" r:id="rId37"/>
    <p:sldId id="292" r:id="rId38"/>
    <p:sldId id="295" r:id="rId39"/>
    <p:sldId id="293"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4F6293B-F99D-41CC-89C0-C4559FFB9AAB}">
          <p14:sldIdLst>
            <p14:sldId id="256"/>
            <p14:sldId id="294"/>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7"/>
            <p14:sldId id="286"/>
            <p14:sldId id="288"/>
            <p14:sldId id="289"/>
            <p14:sldId id="290"/>
            <p14:sldId id="291"/>
            <p14:sldId id="292"/>
            <p14:sldId id="295"/>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a:srgbClr val="C86BCF"/>
    <a:srgbClr val="EED32E"/>
    <a:srgbClr val="CCFF33"/>
    <a:srgbClr val="FF0066"/>
    <a:srgbClr val="3399FF"/>
    <a:srgbClr val="FFFF66"/>
    <a:srgbClr val="CC9900"/>
    <a:srgbClr val="33CCFF"/>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90A317-94DC-404F-9E44-BA29F499CA10}" v="4295" dt="2025-05-23T14:51:00.9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36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286312-ED1A-425C-8B2B-4624E5AC1CF2}" type="datetimeFigureOut">
              <a:rPr lang="en-IN" smtClean="0"/>
              <a:t>31-05-2025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C39451-A136-4E77-8072-6691984E38FB}" type="slidenum">
              <a:rPr lang="en-IN" smtClean="0"/>
              <a:t>‹#›</a:t>
            </a:fld>
            <a:endParaRPr lang="en-IN"/>
          </a:p>
        </p:txBody>
      </p:sp>
    </p:spTree>
    <p:extLst>
      <p:ext uri="{BB962C8B-B14F-4D97-AF65-F5344CB8AC3E}">
        <p14:creationId xmlns:p14="http://schemas.microsoft.com/office/powerpoint/2010/main" val="448013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EC39451-A136-4E77-8072-6691984E38FB}" type="slidenum">
              <a:rPr lang="en-IN" smtClean="0"/>
              <a:t>5</a:t>
            </a:fld>
            <a:endParaRPr lang="en-IN"/>
          </a:p>
        </p:txBody>
      </p:sp>
    </p:spTree>
    <p:extLst>
      <p:ext uri="{BB962C8B-B14F-4D97-AF65-F5344CB8AC3E}">
        <p14:creationId xmlns:p14="http://schemas.microsoft.com/office/powerpoint/2010/main" val="4239506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4" y="2514601"/>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4" y="4777381"/>
            <a:ext cx="8915399" cy="1126283"/>
          </a:xfrm>
        </p:spPr>
        <p:txBody>
          <a:bodyPr anchor="t"/>
          <a:lstStyle>
            <a:lvl1pPr marL="0" indent="0" algn="l">
              <a:buNone/>
              <a:defRPr>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t>31-05-2025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1" y="4323812"/>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4" y="4529542"/>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674145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6"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t>31-05-2025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88630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4"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4" y="3530129"/>
            <a:ext cx="8915399" cy="860400"/>
          </a:xfrm>
        </p:spPr>
        <p:txBody>
          <a:bodyPr anchor="t"/>
          <a:lstStyle>
            <a:lvl1pPr marL="0" indent="0" algn="l">
              <a:buNone/>
              <a:defRPr sz="2000">
                <a:solidFill>
                  <a:schemeClr val="tx1">
                    <a:lumMod val="65000"/>
                    <a:lumOff val="3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C7F78B-561E-4B57-A1A1-A2DEF4715C47}" type="datetimeFigureOut">
              <a:rPr lang="en-IN" smtClean="0"/>
              <a:t>31-05-2025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8" y="31781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4" y="3244141"/>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3775928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C7F78B-561E-4B57-A1A1-A2DEF4715C47}" type="datetimeFigureOut">
              <a:rPr lang="en-IN" smtClean="0"/>
              <a:t>31-05-2025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4" y="787784"/>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2283239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4" y="1972703"/>
            <a:ext cx="3992732"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30" y="1969475"/>
            <a:ext cx="3999001"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5"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C7F78B-561E-4B57-A1A1-A2DEF4715C47}" type="datetimeFigureOut">
              <a:rPr lang="en-IN" smtClean="0"/>
              <a:t>31-05-2025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4" y="787784"/>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479273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C7F78B-561E-4B57-A1A1-A2DEF4715C47}" type="datetimeFigureOut">
              <a:rPr lang="en-IN" smtClean="0"/>
              <a:t>31-05-2025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918924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C7F78B-561E-4B57-A1A1-A2DEF4715C47}" type="datetimeFigureOut">
              <a:rPr lang="en-IN" smtClean="0"/>
              <a:t>31-05-2025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2666834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4"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90"/>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4" y="1598613"/>
            <a:ext cx="3505199" cy="4262436"/>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t>31-05-2025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3829096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t>31-05-2025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355426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4"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4" y="4354046"/>
            <a:ext cx="8915399" cy="1555864"/>
          </a:xfrm>
        </p:spPr>
        <p:txBody>
          <a:bodyPr anchor="ctr">
            <a:normAutofit/>
          </a:bodyPr>
          <a:lstStyle>
            <a:lvl1pPr marL="0" indent="0" algn="l">
              <a:buNone/>
              <a:defRPr sz="1800">
                <a:solidFill>
                  <a:schemeClr val="tx1">
                    <a:lumMod val="65000"/>
                    <a:lumOff val="3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C7F78B-561E-4B57-A1A1-A2DEF4715C47}" type="datetimeFigureOut">
              <a:rPr lang="en-IN" smtClean="0"/>
              <a:t>31-05-2025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8" y="31781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4" y="3244141"/>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3112885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50" y="609600"/>
            <a:ext cx="839392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5" cy="381000"/>
          </a:xfrm>
        </p:spPr>
        <p:txBody>
          <a:bodyPr anchor="ctr">
            <a:noAutofit/>
          </a:bodyPr>
          <a:lstStyle>
            <a:lvl1pPr marL="0" indent="0">
              <a:buFontTx/>
              <a:buNone/>
              <a:defRPr sz="1600">
                <a:solidFill>
                  <a:schemeClr val="tx1">
                    <a:lumMod val="50000"/>
                    <a:lumOff val="50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4" y="4354046"/>
            <a:ext cx="8915399" cy="1555864"/>
          </a:xfrm>
        </p:spPr>
        <p:txBody>
          <a:bodyPr anchor="ctr">
            <a:normAutofit/>
          </a:bodyPr>
          <a:lstStyle>
            <a:lvl1pPr marL="0" indent="0" algn="l">
              <a:buNone/>
              <a:defRPr sz="1800">
                <a:solidFill>
                  <a:schemeClr val="tx1">
                    <a:lumMod val="65000"/>
                    <a:lumOff val="3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C7F78B-561E-4B57-A1A1-A2DEF4715C47}" type="datetimeFigureOut">
              <a:rPr lang="en-IN" smtClean="0"/>
              <a:t>31-05-2025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8" y="31781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4" y="3244141"/>
            <a:ext cx="779767" cy="365125"/>
          </a:xfrm>
        </p:spPr>
        <p:txBody>
          <a:bodyPr/>
          <a:lstStyle/>
          <a:p>
            <a:fld id="{BDE90784-5C46-4350-87C5-6E526783E26F}"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455871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2"/>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t>31-05-2025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29840320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50" y="609600"/>
            <a:ext cx="839392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t>31-05-2025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BDE90784-5C46-4350-87C5-6E526783E26F}"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865293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4"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t>31-05-2025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15185215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t>31-05-2025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1349737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3" y="627407"/>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7"/>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t>31-05-2025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10955929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3" y="2367094"/>
            <a:ext cx="10363827"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t>31-05-2025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2810758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2"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5"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6"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3"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7C7F78B-561E-4B57-A1A1-A2DEF4715C47}" type="datetimeFigureOut">
              <a:rPr lang="en-IN" smtClean="0"/>
              <a:t>31-05-2025</a:t>
            </a:fld>
            <a:endParaRPr lang="en-IN"/>
          </a:p>
        </p:txBody>
      </p:sp>
      <p:sp>
        <p:nvSpPr>
          <p:cNvPr id="5" name="Footer Placeholder 4"/>
          <p:cNvSpPr>
            <a:spLocks noGrp="1"/>
          </p:cNvSpPr>
          <p:nvPr>
            <p:ph type="ftr" sz="quarter" idx="3"/>
          </p:nvPr>
        </p:nvSpPr>
        <p:spPr>
          <a:xfrm>
            <a:off x="2589214" y="6135810"/>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4" y="787784"/>
            <a:ext cx="779767" cy="365125"/>
          </a:xfrm>
          <a:prstGeom prst="rect">
            <a:avLst/>
          </a:prstGeom>
        </p:spPr>
        <p:txBody>
          <a:bodyPr vert="horz" lIns="91440" tIns="45720" rIns="91440" bIns="45720" rtlCol="0" anchor="ctr"/>
          <a:lstStyle>
            <a:lvl1pPr algn="r">
              <a:defRPr sz="2000">
                <a:solidFill>
                  <a:srgbClr val="FEFFFF"/>
                </a:solidFill>
              </a:defRPr>
            </a:lvl1pPr>
          </a:lstStyle>
          <a:p>
            <a:fld id="{BDE90784-5C46-4350-87C5-6E526783E26F}" type="slidenum">
              <a:rPr lang="en-IN" smtClean="0"/>
              <a:t>‹#›</a:t>
            </a:fld>
            <a:endParaRPr lang="en-IN"/>
          </a:p>
        </p:txBody>
      </p:sp>
    </p:spTree>
    <p:extLst>
      <p:ext uri="{BB962C8B-B14F-4D97-AF65-F5344CB8AC3E}">
        <p14:creationId xmlns:p14="http://schemas.microsoft.com/office/powerpoint/2010/main" val="2368656457"/>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Lst>
  <p:txStyles>
    <p:titleStyle>
      <a:lvl1pPr algn="l" defTabSz="457189"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32" indent="-285744" algn="l" defTabSz="457189"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2971" indent="-228594" algn="l" defTabSz="457189"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160"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349"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537"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726"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8914"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103"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90">
          <a:fgClr>
            <a:srgbClr val="FFC000"/>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59ADB-6312-5B63-4FFB-C3FEF5F24C49}"/>
              </a:ext>
            </a:extLst>
          </p:cNvPr>
          <p:cNvSpPr>
            <a:spLocks noGrp="1"/>
          </p:cNvSpPr>
          <p:nvPr>
            <p:ph type="ctrTitle"/>
          </p:nvPr>
        </p:nvSpPr>
        <p:spPr>
          <a:xfrm>
            <a:off x="1632160" y="0"/>
            <a:ext cx="10717161" cy="6973909"/>
          </a:xfrm>
          <a:noFill/>
          <a:effectLst>
            <a:outerShdw blurRad="50800" dist="38100" dir="5400000" algn="t" rotWithShape="0">
              <a:srgbClr val="FFC000">
                <a:alpha val="40000"/>
              </a:srgbClr>
            </a:outerShdw>
          </a:effectLst>
        </p:spPr>
        <p:txBody>
          <a:bodyPr>
            <a:normAutofit/>
          </a:bodyPr>
          <a:lstStyle/>
          <a:p>
            <a:r>
              <a:rPr lang="en-US" sz="4000" b="1" i="1" dirty="0">
                <a:latin typeface="Times New Roman" panose="02020603050405020304" pitchFamily="18" charset="0"/>
                <a:cs typeface="Times New Roman" panose="02020603050405020304" pitchFamily="18" charset="0"/>
              </a:rPr>
              <a:t>CHILD SAFEGUARDING POLICY- </a:t>
            </a:r>
            <a:r>
              <a:rPr lang="en-US" sz="4000" b="1" i="1" dirty="0" smtClean="0">
                <a:latin typeface="Times New Roman" panose="02020603050405020304" pitchFamily="18" charset="0"/>
                <a:cs typeface="Times New Roman" panose="02020603050405020304" pitchFamily="18" charset="0"/>
              </a:rPr>
              <a:t/>
            </a:r>
            <a:br>
              <a:rPr lang="en-US" sz="4000" b="1" i="1" dirty="0" smtClean="0">
                <a:latin typeface="Times New Roman" panose="02020603050405020304" pitchFamily="18" charset="0"/>
                <a:cs typeface="Times New Roman" panose="02020603050405020304" pitchFamily="18" charset="0"/>
              </a:rPr>
            </a:br>
            <a:r>
              <a:rPr lang="en-US" sz="4000" b="1" i="1" dirty="0" smtClean="0">
                <a:latin typeface="Times New Roman" panose="02020603050405020304" pitchFamily="18" charset="0"/>
                <a:cs typeface="Times New Roman" panose="02020603050405020304" pitchFamily="18" charset="0"/>
              </a:rPr>
              <a:t>CHILD </a:t>
            </a:r>
            <a:r>
              <a:rPr lang="en-US" sz="4000" b="1" i="1" dirty="0">
                <a:latin typeface="Times New Roman" panose="02020603050405020304" pitchFamily="18" charset="0"/>
                <a:cs typeface="Times New Roman" panose="02020603050405020304" pitchFamily="18" charset="0"/>
              </a:rPr>
              <a:t>RIGHTS AND </a:t>
            </a:r>
            <a:r>
              <a:rPr lang="en-US" sz="4000" b="1" i="1" dirty="0" smtClean="0">
                <a:latin typeface="Times New Roman" panose="02020603050405020304" pitchFamily="18" charset="0"/>
                <a:cs typeface="Times New Roman" panose="02020603050405020304" pitchFamily="18" charset="0"/>
              </a:rPr>
              <a:t>YOU (CRY)</a:t>
            </a:r>
            <a:r>
              <a:rPr lang="en-US" sz="4000" b="1" i="1" dirty="0">
                <a:latin typeface="Times New Roman" panose="02020603050405020304" pitchFamily="18" charset="0"/>
                <a:cs typeface="Times New Roman" panose="02020603050405020304" pitchFamily="18" charset="0"/>
              </a:rPr>
              <a:t/>
            </a:r>
            <a:br>
              <a:rPr lang="en-US" sz="4000" b="1" i="1" dirty="0">
                <a:latin typeface="Times New Roman" panose="02020603050405020304" pitchFamily="18" charset="0"/>
                <a:cs typeface="Times New Roman" panose="02020603050405020304" pitchFamily="18" charset="0"/>
              </a:rPr>
            </a:br>
            <a:r>
              <a:rPr lang="en-US" sz="2400" b="1" i="1" dirty="0" smtClean="0">
                <a:latin typeface="Times New Roman" panose="02020603050405020304" pitchFamily="18" charset="0"/>
                <a:cs typeface="Times New Roman" panose="02020603050405020304" pitchFamily="18" charset="0"/>
              </a:rPr>
              <a:t/>
            </a:r>
            <a:br>
              <a:rPr lang="en-US" sz="2400" b="1" i="1" dirty="0" smtClean="0">
                <a:latin typeface="Times New Roman" panose="02020603050405020304" pitchFamily="18" charset="0"/>
                <a:cs typeface="Times New Roman" panose="02020603050405020304" pitchFamily="18" charset="0"/>
              </a:rPr>
            </a:br>
            <a:r>
              <a:rPr lang="en-US" sz="2400" b="1" i="1" dirty="0">
                <a:latin typeface="Times New Roman" panose="02020603050405020304" pitchFamily="18" charset="0"/>
                <a:cs typeface="Times New Roman" panose="02020603050405020304" pitchFamily="18" charset="0"/>
              </a:rPr>
              <a:t/>
            </a:r>
            <a:br>
              <a:rPr lang="en-US" sz="2400" b="1" i="1" dirty="0">
                <a:latin typeface="Times New Roman" panose="02020603050405020304" pitchFamily="18" charset="0"/>
                <a:cs typeface="Times New Roman" panose="02020603050405020304" pitchFamily="18" charset="0"/>
              </a:rPr>
            </a:br>
            <a:r>
              <a:rPr lang="en-US" sz="2400" dirty="0"/>
              <a:t>Name: </a:t>
            </a:r>
            <a:r>
              <a:rPr lang="en-US" sz="2400" b="1" dirty="0"/>
              <a:t>SOUMI BISWAS</a:t>
            </a:r>
            <a:r>
              <a:rPr lang="en-US" sz="2400" dirty="0"/>
              <a:t> </a:t>
            </a:r>
            <a:br>
              <a:rPr lang="en-US" sz="2400" dirty="0"/>
            </a:br>
            <a:r>
              <a:rPr lang="en-US" sz="2400" dirty="0"/>
              <a:t>Name of College: </a:t>
            </a:r>
            <a:r>
              <a:rPr lang="en-US" sz="2400" b="1" dirty="0"/>
              <a:t>LADY BRABOURNE COLLEGE</a:t>
            </a:r>
            <a:r>
              <a:rPr lang="en-US" sz="2400" dirty="0"/>
              <a:t/>
            </a:r>
            <a:br>
              <a:rPr lang="en-US" sz="2400" dirty="0"/>
            </a:br>
            <a:r>
              <a:rPr lang="en-US" sz="2400" dirty="0"/>
              <a:t>College</a:t>
            </a:r>
            <a:r>
              <a:rPr lang="en-US" sz="2400" dirty="0"/>
              <a:t> Roll No: </a:t>
            </a:r>
            <a:r>
              <a:rPr lang="en-US" sz="2400" b="1" dirty="0"/>
              <a:t>23-BA-ENGA-0032</a:t>
            </a:r>
            <a:r>
              <a:rPr lang="en-US" sz="2400" dirty="0"/>
              <a:t/>
            </a:r>
            <a:br>
              <a:rPr lang="en-US" sz="2400" dirty="0"/>
            </a:br>
            <a:r>
              <a:rPr lang="en-US" sz="2400" dirty="0"/>
              <a:t>Department: </a:t>
            </a:r>
            <a:r>
              <a:rPr lang="en-US" sz="2400" b="1" dirty="0"/>
              <a:t>ENGLISH </a:t>
            </a:r>
            <a:r>
              <a:rPr lang="en-US" sz="2400" dirty="0"/>
              <a:t/>
            </a:r>
            <a:br>
              <a:rPr lang="en-US" sz="2400" dirty="0"/>
            </a:br>
            <a:r>
              <a:rPr lang="en-US" sz="2400" dirty="0"/>
              <a:t>CU Roll No.: </a:t>
            </a:r>
            <a:r>
              <a:rPr lang="en-US" sz="2400" b="1" dirty="0"/>
              <a:t>232031-11-0044</a:t>
            </a:r>
            <a:r>
              <a:rPr lang="en-US" sz="2400" dirty="0"/>
              <a:t/>
            </a:r>
            <a:br>
              <a:rPr lang="en-US" sz="2400" dirty="0"/>
            </a:br>
            <a:r>
              <a:rPr lang="en-US" sz="2400" dirty="0"/>
              <a:t>CU Registration No.: </a:t>
            </a:r>
            <a:r>
              <a:rPr lang="en-US" sz="2400" b="1" dirty="0"/>
              <a:t>031-1212-0036-23</a:t>
            </a:r>
            <a:r>
              <a:rPr lang="en-US" sz="2400" dirty="0"/>
              <a:t/>
            </a:r>
            <a:br>
              <a:rPr lang="en-US" sz="2400" dirty="0"/>
            </a:br>
            <a:r>
              <a:rPr lang="en-US" sz="2400" dirty="0"/>
              <a:t>Internship Period: </a:t>
            </a:r>
            <a:r>
              <a:rPr lang="en-US" sz="2400" b="1" dirty="0"/>
              <a:t>3 WEEKS </a:t>
            </a:r>
            <a:r>
              <a:rPr lang="en-US" sz="2400" dirty="0"/>
              <a:t/>
            </a:r>
            <a:br>
              <a:rPr lang="en-US" sz="2400" dirty="0"/>
            </a:br>
            <a:r>
              <a:rPr lang="en-US" sz="2400" dirty="0"/>
              <a:t>Internship Duration: </a:t>
            </a:r>
            <a:r>
              <a:rPr lang="en-US" sz="2400" b="1" dirty="0"/>
              <a:t>15 DAYS (12th MAY - 31st MAY)</a:t>
            </a:r>
            <a:r>
              <a:rPr lang="en-US" sz="2400" dirty="0"/>
              <a:t/>
            </a:r>
            <a:br>
              <a:rPr lang="en-US" sz="2400" dirty="0"/>
            </a:br>
            <a:r>
              <a:rPr lang="en-US" sz="2400" dirty="0"/>
              <a:t>Total Hours Contributed: </a:t>
            </a:r>
            <a:r>
              <a:rPr lang="en-US" sz="2400" b="1" dirty="0"/>
              <a:t>60 HOURS</a:t>
            </a:r>
            <a:r>
              <a:rPr lang="en-US" sz="2400" dirty="0"/>
              <a:t/>
            </a:r>
            <a:br>
              <a:rPr lang="en-US" sz="2400" dirty="0"/>
            </a:br>
            <a:r>
              <a:rPr lang="en-US" sz="2400" dirty="0"/>
              <a:t>Name of the Organization: </a:t>
            </a:r>
            <a:r>
              <a:rPr lang="en-US" sz="2400" b="1" dirty="0"/>
              <a:t>CHILD RIGHTS AND YOU (CRY)</a:t>
            </a:r>
            <a:r>
              <a:rPr lang="en-US" sz="2400" dirty="0"/>
              <a:t/>
            </a:r>
            <a:br>
              <a:rPr lang="en-US" sz="2400" dirty="0"/>
            </a:br>
            <a:r>
              <a:rPr lang="en-US" sz="2400" dirty="0"/>
              <a:t>Address of the Organization: </a:t>
            </a:r>
            <a:r>
              <a:rPr lang="en-US" sz="2400" b="1" dirty="0"/>
              <a:t>152, NEW NO. 8, 2nd ST, GITANJALI PARK, KALIKAPUR, HALTU, KOLKATA, WEST BENGAL 700099</a:t>
            </a:r>
            <a:r>
              <a:rPr lang="en-US" sz="2400" dirty="0"/>
              <a:t/>
            </a:r>
            <a:br>
              <a:rPr lang="en-US" sz="2400" dirty="0"/>
            </a:br>
            <a:endParaRPr lang="en-IN" sz="24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6736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5D6A-566E-5F48-8BA9-DD955809147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E9A559F-6D9E-3EE1-5841-0B43DD8BC4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1143845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4536C4-AD86-EE63-A7C0-23F8E228AAD5}"/>
              </a:ext>
            </a:extLst>
          </p:cNvPr>
          <p:cNvSpPr>
            <a:spLocks noGrp="1"/>
          </p:cNvSpPr>
          <p:nvPr>
            <p:ph sz="quarter" idx="13"/>
          </p:nvPr>
        </p:nvSpPr>
        <p:spPr>
          <a:xfrm>
            <a:off x="137653" y="1"/>
            <a:ext cx="12054348" cy="6857999"/>
          </a:xfr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100000" t="100000"/>
            </a:path>
            <a:tileRect r="-100000" b="-100000"/>
          </a:gradFill>
        </p:spPr>
        <p:txBody>
          <a:bodyPr>
            <a:normAutofit fontScale="92500" lnSpcReduction="20000"/>
          </a:bodyPr>
          <a:lstStyle/>
          <a:p>
            <a:pPr algn="just"/>
            <a:r>
              <a:rPr lang="en-US" sz="1900" b="1" dirty="0">
                <a:latin typeface="Times New Roman" panose="02020603050405020304" pitchFamily="18" charset="0"/>
                <a:cs typeface="Times New Roman" panose="02020603050405020304" pitchFamily="18" charset="0"/>
              </a:rPr>
              <a:t>Policy Statement </a:t>
            </a:r>
            <a:r>
              <a:rPr lang="en-US" sz="1900" dirty="0">
                <a:latin typeface="Times New Roman" panose="02020603050405020304" pitchFamily="18" charset="0"/>
                <a:cs typeface="Times New Roman" panose="02020603050405020304" pitchFamily="18" charset="0"/>
              </a:rPr>
              <a:t>- One firm belief of CRY is that any and every child has the right to lead a happy, healthy and meaningful life. But factors like violence, exploitation, abuse and neglect pose to be threats in every child's life. CRY vows to protect them strictly keeping in mind the rights defined by the United Nations Convention of Child Rights Charter and Constitution of India. Breaching the child safeguarding policy will be frowned upon, and followed by appropriate disciplinary action.</a:t>
            </a:r>
          </a:p>
          <a:p>
            <a:pPr algn="just"/>
            <a:r>
              <a:rPr lang="en-US" sz="1900" b="1" i="1" dirty="0">
                <a:latin typeface="Times New Roman" panose="02020603050405020304" pitchFamily="18" charset="0"/>
                <a:cs typeface="Times New Roman" panose="02020603050405020304" pitchFamily="18" charset="0"/>
              </a:rPr>
              <a:t>Section 1</a:t>
            </a:r>
            <a:r>
              <a:rPr lang="en-US" sz="1900" dirty="0">
                <a:latin typeface="Times New Roman" panose="02020603050405020304" pitchFamily="18" charset="0"/>
                <a:cs typeface="Times New Roman" panose="02020603050405020304" pitchFamily="18" charset="0"/>
              </a:rPr>
              <a:t>: </a:t>
            </a:r>
            <a:r>
              <a:rPr lang="en-US" sz="1900" b="1" u="sng" dirty="0">
                <a:latin typeface="Times New Roman" panose="02020603050405020304" pitchFamily="18" charset="0"/>
                <a:cs typeface="Times New Roman" panose="02020603050405020304" pitchFamily="18" charset="0"/>
              </a:rPr>
              <a:t>Purpose of the policy:</a:t>
            </a:r>
            <a:r>
              <a:rPr lang="en-US" sz="1900" dirty="0">
                <a:latin typeface="Times New Roman" panose="02020603050405020304" pitchFamily="18" charset="0"/>
                <a:cs typeface="Times New Roman" panose="02020603050405020304" pitchFamily="18" charset="0"/>
              </a:rPr>
              <a:t> To staunch the policy of continuous protection of children among the minds of the members of CRY and to provide a mechanism to ensure every member is informed, empowered and well-equipped. </a:t>
            </a:r>
          </a:p>
          <a:p>
            <a:pPr algn="just"/>
            <a:r>
              <a:rPr lang="en-US" sz="1900" b="1" i="1" dirty="0">
                <a:latin typeface="Times New Roman" panose="02020603050405020304" pitchFamily="18" charset="0"/>
                <a:cs typeface="Times New Roman" panose="02020603050405020304" pitchFamily="18" charset="0"/>
              </a:rPr>
              <a:t>Section 2</a:t>
            </a:r>
            <a:r>
              <a:rPr lang="en-US" sz="1900" dirty="0">
                <a:latin typeface="Times New Roman" panose="02020603050405020304" pitchFamily="18" charset="0"/>
                <a:cs typeface="Times New Roman" panose="02020603050405020304" pitchFamily="18" charset="0"/>
              </a:rPr>
              <a:t>: </a:t>
            </a:r>
            <a:r>
              <a:rPr lang="en-US" sz="1900" b="1" u="sng" dirty="0">
                <a:latin typeface="Times New Roman" panose="02020603050405020304" pitchFamily="18" charset="0"/>
                <a:cs typeface="Times New Roman" panose="02020603050405020304" pitchFamily="18" charset="0"/>
              </a:rPr>
              <a:t>Key definitions</a:t>
            </a:r>
            <a:r>
              <a:rPr lang="en-US" sz="1900" dirty="0">
                <a:latin typeface="Times New Roman" panose="02020603050405020304" pitchFamily="18" charset="0"/>
                <a:cs typeface="Times New Roman" panose="02020603050405020304" pitchFamily="18" charset="0"/>
              </a:rPr>
              <a:t>:</a:t>
            </a:r>
          </a:p>
          <a:p>
            <a:pPr marL="0" indent="0" algn="just">
              <a:buNone/>
            </a:pPr>
            <a:r>
              <a:rPr lang="en-US" sz="1900" dirty="0">
                <a:latin typeface="Times New Roman" panose="02020603050405020304" pitchFamily="18" charset="0"/>
                <a:cs typeface="Times New Roman" panose="02020603050405020304" pitchFamily="18" charset="0"/>
              </a:rPr>
              <a:t>1. </a:t>
            </a:r>
            <a:r>
              <a:rPr lang="en-US" sz="1900" b="1" dirty="0">
                <a:latin typeface="Times New Roman" panose="02020603050405020304" pitchFamily="18" charset="0"/>
                <a:cs typeface="Times New Roman" panose="02020603050405020304" pitchFamily="18" charset="0"/>
              </a:rPr>
              <a:t>*Child </a:t>
            </a:r>
            <a:r>
              <a:rPr lang="en-US" sz="1900" dirty="0">
                <a:latin typeface="Times New Roman" panose="02020603050405020304" pitchFamily="18" charset="0"/>
                <a:cs typeface="Times New Roman" panose="02020603050405020304" pitchFamily="18" charset="0"/>
              </a:rPr>
              <a:t>- a person up to the age of 18 years.</a:t>
            </a:r>
          </a:p>
          <a:p>
            <a:pPr marL="0" indent="0" algn="just">
              <a:buNone/>
            </a:pPr>
            <a:r>
              <a:rPr lang="en-US" sz="1900" dirty="0">
                <a:latin typeface="Times New Roman" panose="02020603050405020304" pitchFamily="18" charset="0"/>
                <a:cs typeface="Times New Roman" panose="02020603050405020304" pitchFamily="18" charset="0"/>
              </a:rPr>
              <a:t>2. </a:t>
            </a:r>
            <a:r>
              <a:rPr lang="en-US" sz="1900" b="1" dirty="0">
                <a:latin typeface="Times New Roman" panose="02020603050405020304" pitchFamily="18" charset="0"/>
                <a:cs typeface="Times New Roman" panose="02020603050405020304" pitchFamily="18" charset="0"/>
              </a:rPr>
              <a:t>*Child Abuse</a:t>
            </a:r>
            <a:r>
              <a:rPr lang="en-US" sz="1900" dirty="0">
                <a:latin typeface="Times New Roman" panose="02020603050405020304" pitchFamily="18" charset="0"/>
                <a:cs typeface="Times New Roman" panose="02020603050405020304" pitchFamily="18" charset="0"/>
              </a:rPr>
              <a:t>-any form of ill-treatment, neglect, abuse that harms a child, be it intentional or unintentional.</a:t>
            </a:r>
          </a:p>
          <a:p>
            <a:pPr marL="0" indent="0" algn="just">
              <a:buNone/>
            </a:pPr>
            <a:r>
              <a:rPr lang="en-US" sz="1900" dirty="0">
                <a:latin typeface="Times New Roman" panose="02020603050405020304" pitchFamily="18" charset="0"/>
                <a:cs typeface="Times New Roman" panose="02020603050405020304" pitchFamily="18" charset="0"/>
              </a:rPr>
              <a:t>3. </a:t>
            </a:r>
            <a:r>
              <a:rPr lang="en-US" sz="1900" b="1" dirty="0">
                <a:latin typeface="Times New Roman" panose="02020603050405020304" pitchFamily="18" charset="0"/>
                <a:cs typeface="Times New Roman" panose="02020603050405020304" pitchFamily="18" charset="0"/>
              </a:rPr>
              <a:t>*Child Protection </a:t>
            </a:r>
            <a:r>
              <a:rPr lang="en-US" sz="1900" dirty="0">
                <a:latin typeface="Times New Roman" panose="02020603050405020304" pitchFamily="18" charset="0"/>
                <a:cs typeface="Times New Roman" panose="02020603050405020304" pitchFamily="18" charset="0"/>
              </a:rPr>
              <a:t>- protecting the child from any sort of harmful situation, be it active on passive. </a:t>
            </a:r>
          </a:p>
          <a:p>
            <a:pPr marL="0" indent="0" algn="just">
              <a:buNone/>
            </a:pPr>
            <a:r>
              <a:rPr lang="en-US" sz="1900" b="1" dirty="0">
                <a:latin typeface="Times New Roman" panose="02020603050405020304" pitchFamily="18" charset="0"/>
                <a:cs typeface="Times New Roman" panose="02020603050405020304" pitchFamily="18" charset="0"/>
              </a:rPr>
              <a:t>4.*Staff Member of CRY </a:t>
            </a:r>
            <a:r>
              <a:rPr lang="en-US" sz="1900" dirty="0">
                <a:latin typeface="Times New Roman" panose="02020603050405020304" pitchFamily="18" charset="0"/>
                <a:cs typeface="Times New Roman" panose="02020603050405020304" pitchFamily="18" charset="0"/>
              </a:rPr>
              <a:t>- members actively working for CRY (online, on ground or hybrid).</a:t>
            </a:r>
          </a:p>
          <a:p>
            <a:pPr marL="0" indent="0" algn="just">
              <a:buNone/>
            </a:pPr>
            <a:r>
              <a:rPr lang="en-US" sz="1900" b="1" dirty="0">
                <a:latin typeface="Times New Roman" panose="02020603050405020304" pitchFamily="18" charset="0"/>
                <a:cs typeface="Times New Roman" panose="02020603050405020304" pitchFamily="18" charset="0"/>
              </a:rPr>
              <a:t>5.*Associates of CRY </a:t>
            </a:r>
            <a:r>
              <a:rPr lang="en-US" sz="1900" dirty="0">
                <a:latin typeface="Times New Roman" panose="02020603050405020304" pitchFamily="18" charset="0"/>
                <a:cs typeface="Times New Roman" panose="02020603050405020304" pitchFamily="18" charset="0"/>
              </a:rPr>
              <a:t>- any body connected with the organization. </a:t>
            </a:r>
          </a:p>
          <a:p>
            <a:pPr marL="0" indent="0" algn="just">
              <a:buNone/>
            </a:pPr>
            <a:r>
              <a:rPr lang="en-US" sz="1900" b="1" dirty="0">
                <a:latin typeface="Times New Roman" panose="02020603050405020304" pitchFamily="18" charset="0"/>
                <a:cs typeface="Times New Roman" panose="02020603050405020304" pitchFamily="18" charset="0"/>
              </a:rPr>
              <a:t>6.*CRY Visitor </a:t>
            </a:r>
            <a:r>
              <a:rPr lang="en-US" sz="1900" dirty="0">
                <a:latin typeface="Times New Roman" panose="02020603050405020304" pitchFamily="18" charset="0"/>
                <a:cs typeface="Times New Roman" panose="02020603050405020304" pitchFamily="18" charset="0"/>
              </a:rPr>
              <a:t>- representative of local government, journalists, media, agencies, donors, agencies and visitors.</a:t>
            </a:r>
          </a:p>
          <a:p>
            <a:pPr marL="0" indent="0" algn="just">
              <a:buNone/>
            </a:pPr>
            <a:r>
              <a:rPr lang="en-US" sz="1900" dirty="0">
                <a:latin typeface="Times New Roman" panose="02020603050405020304" pitchFamily="18" charset="0"/>
                <a:cs typeface="Times New Roman" panose="02020603050405020304" pitchFamily="18" charset="0"/>
              </a:rPr>
              <a:t>7. </a:t>
            </a:r>
            <a:r>
              <a:rPr lang="en-US" sz="1900" b="1" dirty="0">
                <a:latin typeface="Times New Roman" panose="02020603050405020304" pitchFamily="18" charset="0"/>
                <a:cs typeface="Times New Roman" panose="02020603050405020304" pitchFamily="18" charset="0"/>
              </a:rPr>
              <a:t>*Board of Trustees</a:t>
            </a:r>
            <a:r>
              <a:rPr lang="en-US" sz="1900" dirty="0">
                <a:latin typeface="Times New Roman" panose="02020603050405020304" pitchFamily="18" charset="0"/>
                <a:cs typeface="Times New Roman" panose="02020603050405020304" pitchFamily="18" charset="0"/>
              </a:rPr>
              <a:t> - members of CRY's board of trustees.</a:t>
            </a:r>
          </a:p>
          <a:p>
            <a:pPr marL="0" indent="0" algn="just">
              <a:buNone/>
            </a:pPr>
            <a:r>
              <a:rPr lang="en-US" sz="1900" dirty="0">
                <a:latin typeface="Times New Roman" panose="02020603050405020304" pitchFamily="18" charset="0"/>
                <a:cs typeface="Times New Roman" panose="02020603050405020304" pitchFamily="18" charset="0"/>
              </a:rPr>
              <a:t>8. </a:t>
            </a:r>
            <a:r>
              <a:rPr lang="en-US" sz="1900" b="1" dirty="0">
                <a:latin typeface="Times New Roman" panose="02020603050405020304" pitchFamily="18" charset="0"/>
                <a:cs typeface="Times New Roman" panose="02020603050405020304" pitchFamily="18" charset="0"/>
              </a:rPr>
              <a:t>*Designate Authority (DA) </a:t>
            </a:r>
            <a:r>
              <a:rPr lang="en-US" sz="1900" dirty="0">
                <a:latin typeface="Times New Roman" panose="02020603050405020304" pitchFamily="18" charset="0"/>
                <a:cs typeface="Times New Roman" panose="02020603050405020304" pitchFamily="18" charset="0"/>
              </a:rPr>
              <a:t>-technical focal points for this policy. </a:t>
            </a:r>
          </a:p>
          <a:p>
            <a:pPr marL="0" indent="0" algn="just">
              <a:buNone/>
            </a:pPr>
            <a:r>
              <a:rPr lang="en-US" sz="1900" b="1" dirty="0">
                <a:latin typeface="Times New Roman" panose="02020603050405020304" pitchFamily="18" charset="0"/>
                <a:cs typeface="Times New Roman" panose="02020603050405020304" pitchFamily="18" charset="0"/>
              </a:rPr>
              <a:t>9.*Informed Consent </a:t>
            </a:r>
            <a:r>
              <a:rPr lang="en-US" sz="1900" dirty="0">
                <a:latin typeface="Times New Roman" panose="02020603050405020304" pitchFamily="18" charset="0"/>
                <a:cs typeface="Times New Roman" panose="02020603050405020304" pitchFamily="18" charset="0"/>
              </a:rPr>
              <a:t>-written, dated &amp; signed decision, taken freely after being adequately informed; oral consent is acceptable for a person unable to write.</a:t>
            </a:r>
          </a:p>
          <a:p>
            <a:pPr algn="just"/>
            <a:r>
              <a:rPr lang="en-US" sz="1900" dirty="0">
                <a:latin typeface="Times New Roman" panose="02020603050405020304" pitchFamily="18" charset="0"/>
                <a:cs typeface="Times New Roman" panose="02020603050405020304" pitchFamily="18" charset="0"/>
              </a:rPr>
              <a:t> </a:t>
            </a:r>
            <a:r>
              <a:rPr lang="en-US" sz="1900" b="1" i="1" dirty="0">
                <a:latin typeface="Times New Roman" panose="02020603050405020304" pitchFamily="18" charset="0"/>
                <a:cs typeface="Times New Roman" panose="02020603050405020304" pitchFamily="18" charset="0"/>
              </a:rPr>
              <a:t>Section 3:</a:t>
            </a:r>
            <a:r>
              <a:rPr lang="en-US" sz="1900" dirty="0">
                <a:latin typeface="Times New Roman" panose="02020603050405020304" pitchFamily="18" charset="0"/>
                <a:cs typeface="Times New Roman" panose="02020603050405020304" pitchFamily="18" charset="0"/>
              </a:rPr>
              <a:t> </a:t>
            </a:r>
            <a:r>
              <a:rPr lang="en-US" sz="1900" b="1" u="sng" dirty="0">
                <a:latin typeface="Times New Roman" panose="02020603050405020304" pitchFamily="18" charset="0"/>
                <a:cs typeface="Times New Roman" panose="02020603050405020304" pitchFamily="18" charset="0"/>
              </a:rPr>
              <a:t>Guiding Principles:</a:t>
            </a:r>
            <a:r>
              <a:rPr lang="en-US" sz="1900" dirty="0">
                <a:latin typeface="Times New Roman" panose="02020603050405020304" pitchFamily="18" charset="0"/>
                <a:cs typeface="Times New Roman" panose="02020603050405020304" pitchFamily="18" charset="0"/>
              </a:rPr>
              <a:t> Treating children humanely in any situation while keeping in mind their best interests; providing them with an environment that will make them feel free to express; ZERO TOLERANCE towards CHILD ABUSE</a:t>
            </a:r>
          </a:p>
          <a:p>
            <a:pPr algn="just"/>
            <a:r>
              <a:rPr lang="en-US" sz="1900" b="1" i="1" dirty="0">
                <a:latin typeface="Times New Roman" panose="02020603050405020304" pitchFamily="18" charset="0"/>
                <a:cs typeface="Times New Roman" panose="02020603050405020304" pitchFamily="18" charset="0"/>
              </a:rPr>
              <a:t>Section 4: </a:t>
            </a:r>
            <a:r>
              <a:rPr lang="en-US" sz="1900" b="1" u="sng" dirty="0">
                <a:latin typeface="Times New Roman" panose="02020603050405020304" pitchFamily="18" charset="0"/>
                <a:cs typeface="Times New Roman" panose="02020603050405020304" pitchFamily="18" charset="0"/>
              </a:rPr>
              <a:t>Applicability of the Policy: </a:t>
            </a:r>
            <a:r>
              <a:rPr lang="en-US" sz="1900" dirty="0">
                <a:latin typeface="Times New Roman" panose="02020603050405020304" pitchFamily="18" charset="0"/>
                <a:cs typeface="Times New Roman" panose="02020603050405020304" pitchFamily="18" charset="0"/>
              </a:rPr>
              <a:t>This policy applies to all staff members, associates, visitors to CRY offices, and board members.</a:t>
            </a:r>
          </a:p>
          <a:p>
            <a:pPr algn="just"/>
            <a:endParaRPr lang="en-US" sz="19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9736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0"/>
                <a:lumOff val="100000"/>
              </a:schemeClr>
            </a:gs>
            <a:gs pos="35000">
              <a:schemeClr val="accent6">
                <a:lumMod val="0"/>
                <a:lumOff val="100000"/>
              </a:schemeClr>
            </a:gs>
            <a:gs pos="100000">
              <a:schemeClr val="accent6">
                <a:lumMod val="100000"/>
              </a:schemeClr>
            </a:gs>
          </a:gsLst>
          <a:lin ang="27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2F3317-B96C-9CE1-3F99-0FEA6937BFC9}"/>
              </a:ext>
            </a:extLst>
          </p:cNvPr>
          <p:cNvSpPr>
            <a:spLocks noGrp="1"/>
          </p:cNvSpPr>
          <p:nvPr>
            <p:ph sz="quarter" idx="13"/>
          </p:nvPr>
        </p:nvSpPr>
        <p:spPr>
          <a:xfrm>
            <a:off x="186813" y="0"/>
            <a:ext cx="12005187" cy="6858000"/>
          </a:xfrm>
        </p:spPr>
        <p:txBody>
          <a:bodyPr>
            <a:normAutofit/>
          </a:bodyPr>
          <a:lstStyle/>
          <a:p>
            <a:pPr algn="just"/>
            <a:r>
              <a:rPr lang="en-US" b="1" i="1" dirty="0">
                <a:latin typeface="Times New Roman" panose="02020603050405020304" pitchFamily="18" charset="0"/>
                <a:cs typeface="Times New Roman" panose="02020603050405020304" pitchFamily="18" charset="0"/>
              </a:rPr>
              <a:t>Section 5: </a:t>
            </a:r>
            <a:r>
              <a:rPr lang="en-US" b="1" u="sng" dirty="0">
                <a:latin typeface="Times New Roman" panose="02020603050405020304" pitchFamily="18" charset="0"/>
                <a:cs typeface="Times New Roman" panose="02020603050405020304" pitchFamily="18" charset="0"/>
              </a:rPr>
              <a:t>Code of Conduct:</a:t>
            </a:r>
            <a:r>
              <a:rPr lang="en-US" b="1"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MUST DO</a:t>
            </a:r>
            <a:r>
              <a:rPr lang="en-US" dirty="0">
                <a:latin typeface="Times New Roman" panose="02020603050405020304" pitchFamily="18" charset="0"/>
                <a:cs typeface="Times New Roman" panose="02020603050405020304" pitchFamily="18" charset="0"/>
              </a:rPr>
              <a:t> - "respond and report if any child is at risk”, “respect the children ensure their safety by identifying and managing risks in all spaces accessed by children”, “be conscious of sensitive words enable and encourage them to discuss their concerns of abuse and rights”, “be sensitive towards children's age, sex, language, ethnicity, background, sexuality, religion, etc.”, “child data and information must be handled with care, caution and confidentiality”, “seek permission before formal interview and recording anything that concerns them”, “ensure that all images and videos are respectful of their dignity”, “ensure children are not exposed to unsuitable material”. </a:t>
            </a:r>
            <a:r>
              <a:rPr lang="en-US" b="1" i="1" dirty="0">
                <a:latin typeface="Times New Roman" panose="02020603050405020304" pitchFamily="18" charset="0"/>
                <a:cs typeface="Times New Roman" panose="02020603050405020304" pitchFamily="18" charset="0"/>
              </a:rPr>
              <a:t>MUST NOT - </a:t>
            </a:r>
            <a:r>
              <a:rPr lang="en-US" dirty="0">
                <a:latin typeface="Times New Roman" panose="02020603050405020304" pitchFamily="18" charset="0"/>
                <a:cs typeface="Times New Roman" panose="02020603050405020304" pitchFamily="18" charset="0"/>
              </a:rPr>
              <a:t>"be abusive or harmful to any children”, “engagement in any behavior that may be offensive, provocative, overt or otherwise”, “hug, kiss or caress children”, “shower or bathe with children”, “disclose identity or personal information without permission”, “be biased”, “take images or videos in secret”, “have social contact with parents and children until unless approved by CRY management”, “refrain from asking children to undertake personal jobs or errands”, “take children anywhere private or share a room with a child alone”.</a:t>
            </a:r>
            <a:endParaRPr lang="en-US" b="1" i="1" dirty="0">
              <a:latin typeface="Times New Roman" panose="02020603050405020304" pitchFamily="18" charset="0"/>
              <a:cs typeface="Times New Roman" panose="02020603050405020304" pitchFamily="18" charset="0"/>
            </a:endParaRPr>
          </a:p>
          <a:p>
            <a:pPr algn="just"/>
            <a:r>
              <a:rPr lang="en-US" b="1" i="1" dirty="0">
                <a:latin typeface="Times New Roman" panose="02020603050405020304" pitchFamily="18" charset="0"/>
                <a:cs typeface="Times New Roman" panose="02020603050405020304" pitchFamily="18" charset="0"/>
              </a:rPr>
              <a:t>Section 6: </a:t>
            </a:r>
            <a:r>
              <a:rPr lang="en-US" b="1" u="sng" dirty="0">
                <a:latin typeface="Times New Roman" panose="02020603050405020304" pitchFamily="18" charset="0"/>
                <a:cs typeface="Times New Roman" panose="02020603050405020304" pitchFamily="18" charset="0"/>
              </a:rPr>
              <a:t>Key Responsibilities under the policy:</a:t>
            </a:r>
            <a:r>
              <a:rPr lang="en-US" dirty="0">
                <a:latin typeface="Times New Roman" panose="02020603050405020304" pitchFamily="18" charset="0"/>
                <a:cs typeface="Times New Roman" panose="02020603050405020304" pitchFamily="18" charset="0"/>
              </a:rPr>
              <a:t> </a:t>
            </a:r>
          </a:p>
          <a:p>
            <a:pPr marL="0" indent="0" algn="just">
              <a:buNone/>
            </a:pPr>
            <a:r>
              <a:rPr lang="en-US" b="1" dirty="0">
                <a:latin typeface="Times New Roman" panose="02020603050405020304" pitchFamily="18" charset="0"/>
                <a:cs typeface="Times New Roman" panose="02020603050405020304" pitchFamily="18" charset="0"/>
              </a:rPr>
              <a:t>1. Awareness:</a:t>
            </a:r>
            <a:r>
              <a:rPr lang="en-US" dirty="0">
                <a:latin typeface="Times New Roman" panose="02020603050405020304" pitchFamily="18" charset="0"/>
                <a:cs typeface="Times New Roman" panose="02020603050405020304" pitchFamily="18" charset="0"/>
              </a:rPr>
              <a:t> Ensuring all representatives understand the policy and code of conduct.</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2. Prevention:</a:t>
            </a:r>
            <a:r>
              <a:rPr lang="en-US" dirty="0">
                <a:latin typeface="Times New Roman" panose="02020603050405020304" pitchFamily="18" charset="0"/>
                <a:cs typeface="Times New Roman" panose="02020603050405020304" pitchFamily="18" charset="0"/>
              </a:rPr>
              <a:t> Implementing measures to minimize risks, ensuring informed consent, and respecting children's dignity.</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3. Reporting:</a:t>
            </a:r>
            <a:r>
              <a:rPr lang="en-US" dirty="0">
                <a:latin typeface="Times New Roman" panose="02020603050405020304" pitchFamily="18" charset="0"/>
                <a:cs typeface="Times New Roman" panose="02020603050405020304" pitchFamily="18" charset="0"/>
              </a:rPr>
              <a:t> Mandatory reporting of suspected abuse or exploitation within 24 hours to designated authorities</a:t>
            </a:r>
            <a:r>
              <a:rPr lang="en-US" b="1" dirty="0">
                <a:latin typeface="Times New Roman" panose="02020603050405020304" pitchFamily="18" charset="0"/>
                <a:cs typeface="Times New Roman" panose="02020603050405020304" pitchFamily="18" charset="0"/>
              </a:rPr>
              <a:t>. </a:t>
            </a:r>
          </a:p>
          <a:p>
            <a:pPr marL="0" indent="0" algn="just">
              <a:buNone/>
            </a:pPr>
            <a:r>
              <a:rPr lang="en-US" b="1" dirty="0">
                <a:latin typeface="Times New Roman" panose="02020603050405020304" pitchFamily="18" charset="0"/>
                <a:cs typeface="Times New Roman" panose="02020603050405020304" pitchFamily="18" charset="0"/>
              </a:rPr>
              <a:t>4. Responding: </a:t>
            </a:r>
            <a:r>
              <a:rPr lang="en-US" dirty="0">
                <a:latin typeface="Times New Roman" panose="02020603050405020304" pitchFamily="18" charset="0"/>
                <a:cs typeface="Times New Roman" panose="02020603050405020304" pitchFamily="18" charset="0"/>
              </a:rPr>
              <a:t>Taking action to support and protect children, conducting investigations, and adhering to disciplinary procedures. </a:t>
            </a:r>
          </a:p>
          <a:p>
            <a:pPr algn="just"/>
            <a:r>
              <a:rPr lang="en-US" b="1" i="1" dirty="0">
                <a:latin typeface="Times New Roman" panose="02020603050405020304" pitchFamily="18" charset="0"/>
                <a:cs typeface="Times New Roman" panose="02020603050405020304" pitchFamily="18" charset="0"/>
              </a:rPr>
              <a:t>Section 7:</a:t>
            </a:r>
            <a:r>
              <a:rPr lang="en-US"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Authorization and Administration:</a:t>
            </a:r>
            <a:r>
              <a:rPr lang="en-US" dirty="0">
                <a:latin typeface="Times New Roman" panose="02020603050405020304" pitchFamily="18" charset="0"/>
                <a:cs typeface="Times New Roman" panose="02020603050405020304" pitchFamily="18" charset="0"/>
              </a:rPr>
              <a:t> CRY's Child Safeguarding Policy is administered by the HR function along with DA/DAs (child focal point), and reviewed every 3 years on as needed. </a:t>
            </a: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2984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0"/>
                <a:lumOff val="100000"/>
              </a:schemeClr>
            </a:gs>
            <a:gs pos="28000">
              <a:schemeClr val="accent2">
                <a:lumMod val="0"/>
                <a:lumOff val="100000"/>
              </a:schemeClr>
            </a:gs>
            <a:gs pos="72000">
              <a:schemeClr val="accent2">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DCDF13-2C99-E51C-86A9-A7DBEEEB592C}"/>
              </a:ext>
            </a:extLst>
          </p:cNvPr>
          <p:cNvSpPr>
            <a:spLocks noGrp="1"/>
          </p:cNvSpPr>
          <p:nvPr>
            <p:ph type="title"/>
          </p:nvPr>
        </p:nvSpPr>
        <p:spPr>
          <a:xfrm>
            <a:off x="1592826" y="216311"/>
            <a:ext cx="9399640" cy="786580"/>
          </a:xfrm>
        </p:spPr>
        <p:txBody>
          <a:bodyPr>
            <a:normAutofit fontScale="90000"/>
          </a:bodyPr>
          <a:lstStyle/>
          <a:p>
            <a:pPr algn="ctr"/>
            <a:r>
              <a:rPr lang="en-US" sz="4000" b="1" u="sng" dirty="0">
                <a:latin typeface="Times New Roman" panose="02020603050405020304" pitchFamily="18" charset="0"/>
                <a:cs typeface="Times New Roman" panose="02020603050405020304" pitchFamily="18" charset="0"/>
              </a:rPr>
              <a:t>Annexure</a:t>
            </a:r>
            <a:r>
              <a:rPr lang="en-US" sz="3200" b="1" u="sng" dirty="0">
                <a:latin typeface="Times New Roman" panose="02020603050405020304" pitchFamily="18" charset="0"/>
                <a:cs typeface="Times New Roman" panose="02020603050405020304" pitchFamily="18" charset="0"/>
              </a:rPr>
              <a:t> 1. Reference Guide for statutory compliances</a:t>
            </a:r>
            <a:endParaRPr lang="en-IN" sz="3200" b="1" u="sng" dirty="0"/>
          </a:p>
        </p:txBody>
      </p:sp>
      <p:sp>
        <p:nvSpPr>
          <p:cNvPr id="5" name="Content Placeholder 4">
            <a:extLst>
              <a:ext uri="{FF2B5EF4-FFF2-40B4-BE49-F238E27FC236}">
                <a16:creationId xmlns:a16="http://schemas.microsoft.com/office/drawing/2014/main" id="{69DA2D7B-C5F6-A909-B4AE-99E8A4AF0093}"/>
              </a:ext>
            </a:extLst>
          </p:cNvPr>
          <p:cNvSpPr>
            <a:spLocks noGrp="1"/>
          </p:cNvSpPr>
          <p:nvPr>
            <p:ph idx="1"/>
          </p:nvPr>
        </p:nvSpPr>
        <p:spPr>
          <a:xfrm>
            <a:off x="167148" y="1238865"/>
            <a:ext cx="12024852" cy="5619136"/>
          </a:xfrm>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The Child Safeguarding Policy (CSP) </a:t>
            </a:r>
            <a:r>
              <a:rPr lang="en-US" dirty="0">
                <a:latin typeface="Times New Roman" panose="02020603050405020304" pitchFamily="18" charset="0"/>
                <a:cs typeface="Times New Roman" panose="02020603050405020304" pitchFamily="18" charset="0"/>
              </a:rPr>
              <a:t>at CRY emphasizes the importance of protecting children from harm, abuse, neglect, and exploitation. Everybody, including families, communities, governments, and non-governmental organizations (NGOs), plays a vital role in realizing children's rights to protection. </a:t>
            </a:r>
          </a:p>
          <a:p>
            <a:pPr algn="just"/>
            <a:r>
              <a:rPr lang="en-US" dirty="0">
                <a:latin typeface="Times New Roman" panose="02020603050405020304" pitchFamily="18" charset="0"/>
                <a:cs typeface="Times New Roman" panose="02020603050405020304" pitchFamily="18" charset="0"/>
              </a:rPr>
              <a:t>Key aspects of the policy include:</a:t>
            </a:r>
          </a:p>
          <a:p>
            <a:pPr algn="just"/>
            <a:r>
              <a:rPr lang="en-US" u="sng"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Legal Framework Protection of Children from Sexual Offences (POCSO) Act, 2012:</a:t>
            </a:r>
            <a:r>
              <a:rPr lang="en-US" dirty="0">
                <a:latin typeface="Times New Roman" panose="02020603050405020304" pitchFamily="18" charset="0"/>
                <a:cs typeface="Times New Roman" panose="02020603050405020304" pitchFamily="18" charset="0"/>
              </a:rPr>
              <a:t> This Act protects children from sexual assault, harassment, and pornography. Mandatory reporting of offences is required, with penalties for failure to report, including imprisonment and fines.</a:t>
            </a:r>
          </a:p>
          <a:p>
            <a:pPr algn="just"/>
            <a:r>
              <a:rPr lang="en-US" u="sng"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Prohibition of Child Marriage Act, 2006:</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Child marriage is an offence punishable with imprisonment and fines. Courts can issue injunctions to prevent child marriages. </a:t>
            </a:r>
          </a:p>
          <a:p>
            <a:pPr algn="just"/>
            <a:r>
              <a:rPr lang="en-US" b="1" u="sng" dirty="0">
                <a:latin typeface="Times New Roman" panose="02020603050405020304" pitchFamily="18" charset="0"/>
                <a:cs typeface="Times New Roman" panose="02020603050405020304" pitchFamily="18" charset="0"/>
              </a:rPr>
              <a:t>Juvenile Justice (Care and Protection of Children) Act, 2015:</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This Act provides for the care and protection of children in need, with strengthened provisions for children in conflict with the law. It includes punishment for cruelty to children, with imprisonment and fines for those found guilty. </a:t>
            </a:r>
          </a:p>
          <a:p>
            <a:pPr algn="just"/>
            <a:r>
              <a:rPr lang="en-US" b="1" dirty="0">
                <a:latin typeface="Times New Roman" panose="02020603050405020304" pitchFamily="18" charset="0"/>
                <a:cs typeface="Times New Roman" panose="02020603050405020304" pitchFamily="18" charset="0"/>
              </a:rPr>
              <a:t>Responsibilities and Procedures Mandatory Reporting: </a:t>
            </a:r>
            <a:r>
              <a:rPr lang="en-US" dirty="0">
                <a:latin typeface="Times New Roman" panose="02020603050405020304" pitchFamily="18" charset="0"/>
                <a:cs typeface="Times New Roman" panose="02020603050405020304" pitchFamily="18" charset="0"/>
              </a:rPr>
              <a:t>Any person, including NG0 members, can report child abuse cases under the POCSO Act. Institutions have a responsibility to prevent child abuse and report cases. Inquiry and Rehabilitation: In cases of cruelty to children, alternative rehabilitation is provided for the child, considering their best interests. Systems for Prevention: Institutions must have systems in place to prevent abuse, neglect, and maltreatment, including staff awareness and response plans. </a:t>
            </a:r>
          </a:p>
          <a:p>
            <a:pPr algn="just"/>
            <a:r>
              <a:rPr lang="en-US" b="1" dirty="0">
                <a:latin typeface="Times New Roman" panose="02020603050405020304" pitchFamily="18" charset="0"/>
                <a:cs typeface="Times New Roman" panose="02020603050405020304" pitchFamily="18" charset="0"/>
              </a:rPr>
              <a:t>Consequences of Non-Compliance:</a:t>
            </a:r>
            <a:r>
              <a:rPr lang="en-US" dirty="0">
                <a:latin typeface="Times New Roman" panose="02020603050405020304" pitchFamily="18" charset="0"/>
                <a:cs typeface="Times New Roman" panose="02020603050405020304" pitchFamily="18" charset="0"/>
              </a:rPr>
              <a:t> Imprisonment and fines can be imposed on those found guilty of cruelty to children. Failure to report child abuse cases can result in imprisonment and fines. </a:t>
            </a: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21175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36A7BD-9DC4-4B17-70F9-BD0BBE9E2EBC}"/>
              </a:ext>
            </a:extLst>
          </p:cNvPr>
          <p:cNvSpPr>
            <a:spLocks noGrp="1"/>
          </p:cNvSpPr>
          <p:nvPr>
            <p:ph sz="quarter" idx="13"/>
          </p:nvPr>
        </p:nvSpPr>
        <p:spPr>
          <a:xfrm>
            <a:off x="167149" y="0"/>
            <a:ext cx="12024852" cy="6858000"/>
          </a:xfrm>
        </p:spPr>
        <p:txBody>
          <a:bodyPr/>
          <a:lstStyle/>
          <a:p>
            <a:pPr algn="just"/>
            <a:r>
              <a:rPr lang="en-US" sz="1800" b="1" dirty="0">
                <a:latin typeface="Times New Roman" panose="02020603050405020304" pitchFamily="18" charset="0"/>
                <a:cs typeface="Times New Roman" panose="02020603050405020304" pitchFamily="18" charset="0"/>
              </a:rPr>
              <a:t>Indirect compliances: </a:t>
            </a:r>
            <a:r>
              <a:rPr lang="en-US" sz="1800" dirty="0">
                <a:latin typeface="Times New Roman" panose="02020603050405020304" pitchFamily="18" charset="0"/>
                <a:cs typeface="Times New Roman" panose="02020603050405020304" pitchFamily="18" charset="0"/>
              </a:rPr>
              <a:t>As a responsible citizen it is our duty to understand the child protection related laws for a safe environment. </a:t>
            </a:r>
          </a:p>
          <a:p>
            <a:pPr algn="just"/>
            <a:r>
              <a:rPr lang="en-US" sz="1800" b="1" u="sng" dirty="0">
                <a:latin typeface="Times New Roman" panose="02020603050405020304" pitchFamily="18" charset="0"/>
                <a:cs typeface="Times New Roman" panose="02020603050405020304" pitchFamily="18" charset="0"/>
              </a:rPr>
              <a:t>The Right of Children to Free and Compulsory Education Act, 2009 </a:t>
            </a:r>
            <a:r>
              <a:rPr lang="en-US" sz="1800" dirty="0">
                <a:latin typeface="Times New Roman" panose="02020603050405020304" pitchFamily="18" charset="0"/>
                <a:cs typeface="Times New Roman" panose="02020603050405020304" pitchFamily="18" charset="0"/>
              </a:rPr>
              <a:t>– Children must be protected in order to fully partake a quality education process. </a:t>
            </a:r>
          </a:p>
          <a:p>
            <a:pPr algn="just"/>
            <a:r>
              <a:rPr lang="en-US" sz="1800" b="1" i="1" dirty="0">
                <a:latin typeface="Times New Roman" panose="02020603050405020304" pitchFamily="18" charset="0"/>
                <a:cs typeface="Times New Roman" panose="02020603050405020304" pitchFamily="18" charset="0"/>
              </a:rPr>
              <a:t>Section 17 </a:t>
            </a:r>
          </a:p>
          <a:p>
            <a:pPr marL="457200" indent="-457200" algn="just">
              <a:buAutoNum type="arabicPeriod"/>
            </a:pPr>
            <a:r>
              <a:rPr lang="en-US" sz="1800" dirty="0">
                <a:latin typeface="Times New Roman" panose="02020603050405020304" pitchFamily="18" charset="0"/>
                <a:cs typeface="Times New Roman" panose="02020603050405020304" pitchFamily="18" charset="0"/>
              </a:rPr>
              <a:t>No child shall be subjected to physical punishment or mental harassment. Whoever contravenes the provisions of sub section shall be liable to disciplinary action under the service rules applicable to such person. For example –</a:t>
            </a:r>
          </a:p>
          <a:p>
            <a:pPr marL="0" indent="0" algn="just">
              <a:buNone/>
            </a:pPr>
            <a:r>
              <a:rPr lang="en-US" sz="1800" b="1" dirty="0">
                <a:latin typeface="Times New Roman" panose="02020603050405020304" pitchFamily="18" charset="0"/>
                <a:cs typeface="Times New Roman" panose="02020603050405020304" pitchFamily="18" charset="0"/>
              </a:rPr>
              <a:t> • Protection of Rights of Children Section 31- (1) </a:t>
            </a:r>
          </a:p>
          <a:p>
            <a:pPr marL="0" indent="0" algn="just">
              <a:buNone/>
            </a:pPr>
            <a:r>
              <a:rPr lang="en-US" sz="1800" b="1" dirty="0">
                <a:latin typeface="Times New Roman" panose="02020603050405020304" pitchFamily="18" charset="0"/>
                <a:cs typeface="Times New Roman" panose="02020603050405020304" pitchFamily="18" charset="0"/>
              </a:rPr>
              <a:t> • The National Commission for Protection of Child Rights Section 3</a:t>
            </a:r>
          </a:p>
          <a:p>
            <a:pPr marL="0" indent="0" algn="just">
              <a:buNone/>
            </a:pPr>
            <a:r>
              <a:rPr lang="en-US" sz="1800" b="1" dirty="0">
                <a:latin typeface="Times New Roman" panose="02020603050405020304" pitchFamily="18" charset="0"/>
                <a:cs typeface="Times New Roman" panose="02020603050405020304" pitchFamily="18" charset="0"/>
              </a:rPr>
              <a:t> • The State Commission for Protection of Child Rights under Section 17 of Protection of Child Right Act, 2005.</a:t>
            </a:r>
          </a:p>
          <a:p>
            <a:pPr marL="0" indent="0" algn="just">
              <a:buNone/>
            </a:pPr>
            <a:r>
              <a:rPr lang="en-US" sz="1800" b="1" dirty="0">
                <a:latin typeface="Times New Roman" panose="02020603050405020304" pitchFamily="18" charset="0"/>
                <a:cs typeface="Times New Roman" panose="02020603050405020304" pitchFamily="18" charset="0"/>
              </a:rPr>
              <a:t> • Central Rules for Elimination of Corporal Punishment </a:t>
            </a:r>
          </a:p>
          <a:p>
            <a:pPr algn="just"/>
            <a:r>
              <a:rPr lang="en-US" sz="1800" b="1" i="1" dirty="0">
                <a:latin typeface="Times New Roman" panose="02020603050405020304" pitchFamily="18" charset="0"/>
                <a:cs typeface="Times New Roman" panose="02020603050405020304" pitchFamily="18" charset="0"/>
              </a:rPr>
              <a:t>Section 6(f) </a:t>
            </a:r>
            <a:r>
              <a:rPr lang="en-US" sz="1800" dirty="0">
                <a:latin typeface="Times New Roman" panose="02020603050405020304" pitchFamily="18" charset="0"/>
                <a:cs typeface="Times New Roman" panose="02020603050405020304" pitchFamily="18" charset="0"/>
              </a:rPr>
              <a:t>– School Management Committee will bring to notice of the Local Authority any deviation from the rights of child and also provide timely provisions of free entitlements as per Section 3(2).</a:t>
            </a:r>
          </a:p>
          <a:p>
            <a:pPr algn="just"/>
            <a:r>
              <a:rPr lang="en-US" sz="1800" b="1" dirty="0">
                <a:latin typeface="Times New Roman" panose="02020603050405020304" pitchFamily="18" charset="0"/>
                <a:cs typeface="Times New Roman" panose="02020603050405020304" pitchFamily="18" charset="0"/>
              </a:rPr>
              <a:t>Part </a:t>
            </a:r>
            <a:r>
              <a:rPr lang="en-US" b="1" dirty="0">
                <a:latin typeface="Times New Roman" panose="02020603050405020304" pitchFamily="18" charset="0"/>
                <a:cs typeface="Times New Roman" panose="02020603050405020304" pitchFamily="18" charset="0"/>
              </a:rPr>
              <a:t>v</a:t>
            </a:r>
            <a:r>
              <a:rPr lang="en-US" sz="1800" b="1" dirty="0">
                <a:latin typeface="Times New Roman" panose="02020603050405020304" pitchFamily="18" charset="0"/>
                <a:cs typeface="Times New Roman" panose="02020603050405020304" pitchFamily="18" charset="0"/>
              </a:rPr>
              <a:t>iii - </a:t>
            </a:r>
            <a:r>
              <a:rPr lang="en-US" sz="1800" dirty="0">
                <a:latin typeface="Times New Roman" panose="02020603050405020304" pitchFamily="18" charset="0"/>
                <a:cs typeface="Times New Roman" panose="02020603050405020304" pitchFamily="18" charset="0"/>
              </a:rPr>
              <a:t>Protection of Right of Children </a:t>
            </a:r>
          </a:p>
          <a:p>
            <a:pPr algn="just"/>
            <a:r>
              <a:rPr lang="en-US" sz="1800" b="1" u="sng" dirty="0">
                <a:latin typeface="Times New Roman" panose="02020603050405020304" pitchFamily="18" charset="0"/>
                <a:cs typeface="Times New Roman" panose="02020603050405020304" pitchFamily="18" charset="0"/>
              </a:rPr>
              <a:t>Guidelines for Eliminating Corporal Punishment in Schools </a:t>
            </a:r>
            <a:r>
              <a:rPr lang="en-US" sz="1800" dirty="0">
                <a:latin typeface="Times New Roman" panose="02020603050405020304" pitchFamily="18" charset="0"/>
                <a:cs typeface="Times New Roman" panose="02020603050405020304" pitchFamily="18" charset="0"/>
              </a:rPr>
              <a:t>- The guidelines deal with the issue of physical abuse and corporal punishment and suggest methods of eliminating such practices from schools. It also provides for mental health professionals to conduct workshops and guidelines for positive engagement with children. It also envisions the creation of a Corporal Punishment Monitoring Cell.</a:t>
            </a:r>
            <a:endParaRPr lang="en-US" sz="18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51566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00"/>
            </a:gs>
            <a:gs pos="100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D9EB4D-B648-C66B-CAA5-4A7678858914}"/>
              </a:ext>
            </a:extLst>
          </p:cNvPr>
          <p:cNvSpPr>
            <a:spLocks noGrp="1"/>
          </p:cNvSpPr>
          <p:nvPr>
            <p:ph sz="quarter" idx="13"/>
          </p:nvPr>
        </p:nvSpPr>
        <p:spPr>
          <a:xfrm>
            <a:off x="176981" y="0"/>
            <a:ext cx="12015019" cy="6858000"/>
          </a:xfrm>
        </p:spPr>
        <p:txBody>
          <a:bodyPr>
            <a:normAutofit fontScale="92500" lnSpcReduction="10000"/>
          </a:bodyPr>
          <a:lstStyle/>
          <a:p>
            <a:pPr algn="just"/>
            <a:r>
              <a:rPr lang="en-US" b="1" u="sng" dirty="0">
                <a:latin typeface="Times New Roman" panose="02020603050405020304" pitchFamily="18" charset="0"/>
                <a:cs typeface="Times New Roman" panose="02020603050405020304" pitchFamily="18" charset="0"/>
              </a:rPr>
              <a:t>The Child and Adolescents Labour (Prohibition and Regulation) Act, 1986 </a:t>
            </a:r>
            <a:r>
              <a:rPr lang="en-US" dirty="0">
                <a:latin typeface="Times New Roman" panose="02020603050405020304" pitchFamily="18" charset="0"/>
                <a:cs typeface="Times New Roman" panose="02020603050405020304" pitchFamily="18" charset="0"/>
              </a:rPr>
              <a:t>– The Act outlines where and how children can work and cannot. The Act defines a child as someone who has not completed his fourteenth year of age.</a:t>
            </a:r>
            <a:r>
              <a:rPr lang="en-US" b="1" dirty="0">
                <a:latin typeface="Times New Roman" panose="02020603050405020304" pitchFamily="18" charset="0"/>
                <a:cs typeface="Times New Roman" panose="02020603050405020304" pitchFamily="18" charset="0"/>
              </a:rPr>
              <a:t> Part II </a:t>
            </a:r>
            <a:r>
              <a:rPr lang="en-US" dirty="0">
                <a:latin typeface="Times New Roman" panose="02020603050405020304" pitchFamily="18" charset="0"/>
                <a:cs typeface="Times New Roman" panose="02020603050405020304" pitchFamily="18" charset="0"/>
              </a:rPr>
              <a:t>of the Act prohibits children from working in any occupation listed in </a:t>
            </a:r>
            <a:r>
              <a:rPr lang="en-US" b="1" dirty="0">
                <a:latin typeface="Times New Roman" panose="02020603050405020304" pitchFamily="18" charset="0"/>
                <a:cs typeface="Times New Roman" panose="02020603050405020304" pitchFamily="18" charset="0"/>
              </a:rPr>
              <a:t>Part A</a:t>
            </a:r>
            <a:r>
              <a:rPr lang="en-US" dirty="0">
                <a:latin typeface="Times New Roman" panose="02020603050405020304" pitchFamily="18" charset="0"/>
                <a:cs typeface="Times New Roman" panose="02020603050405020304" pitchFamily="18" charset="0"/>
              </a:rPr>
              <a:t> of the schedule; for example: catering at railway establishments, construction work on the railway or anywhere nears the tracks, plastic factories, automobile garages, domestic workers or servant, Dhabas (roadside eateries), hotels, tea shops, resorts, or other recreational centres, etc. The Act also prohibits children from working in places where certain processes are being undertaken, as listed in </a:t>
            </a:r>
            <a:r>
              <a:rPr lang="en-US" b="1" dirty="0">
                <a:latin typeface="Times New Roman" panose="02020603050405020304" pitchFamily="18" charset="0"/>
                <a:cs typeface="Times New Roman" panose="02020603050405020304" pitchFamily="18" charset="0"/>
              </a:rPr>
              <a:t>Part B</a:t>
            </a:r>
            <a:r>
              <a:rPr lang="en-US" dirty="0">
                <a:latin typeface="Times New Roman" panose="02020603050405020304" pitchFamily="18" charset="0"/>
                <a:cs typeface="Times New Roman" panose="02020603050405020304" pitchFamily="18" charset="0"/>
              </a:rPr>
              <a:t> of the Schedule; for example: beedi making, soap manufacture, brick kilns and roof tiles units, etc. </a:t>
            </a:r>
            <a:r>
              <a:rPr lang="en-US" b="1" dirty="0">
                <a:latin typeface="Times New Roman" panose="02020603050405020304" pitchFamily="18" charset="0"/>
                <a:cs typeface="Times New Roman" panose="02020603050405020304" pitchFamily="18" charset="0"/>
              </a:rPr>
              <a:t>Part III </a:t>
            </a:r>
            <a:r>
              <a:rPr lang="en-US" dirty="0">
                <a:latin typeface="Times New Roman" panose="02020603050405020304" pitchFamily="18" charset="0"/>
                <a:cs typeface="Times New Roman" panose="02020603050405020304" pitchFamily="18" charset="0"/>
              </a:rPr>
              <a:t>of the Act outlines the conditions in which children may work in occupations/processes not listed in the schedule. The number of hours of a particular kind of establishment or class of establishments is to be set and no child can work for more than those many hours in that particular establishment. The employer of the child is required to send a notification to an inspector about a child working in their establishment and keep a register of all children being employed for inspection. </a:t>
            </a:r>
          </a:p>
          <a:p>
            <a:pPr algn="just"/>
            <a:r>
              <a:rPr lang="en-US" b="1" u="sng" dirty="0">
                <a:latin typeface="Times New Roman" panose="02020603050405020304" pitchFamily="18" charset="0"/>
                <a:cs typeface="Times New Roman" panose="02020603050405020304" pitchFamily="18" charset="0"/>
              </a:rPr>
              <a:t>The Registration of Births and Deaths Act, 1969 (RBD Act)</a:t>
            </a:r>
            <a:r>
              <a:rPr lang="en-US" dirty="0">
                <a:latin typeface="Times New Roman" panose="02020603050405020304" pitchFamily="18" charset="0"/>
                <a:cs typeface="Times New Roman" panose="02020603050405020304" pitchFamily="18" charset="0"/>
              </a:rPr>
              <a:t> made the registration of births, deaths and still births compulsory across the country. This Act provides for: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Uniform law across the county on the registration of birth and deaths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Compulsory reporting and registration of all births and deaths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Implementation of the Act is the responsibility of the State Governments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Rules framed by the state governments are based on a model set of rules provided by the Central Government </a:t>
            </a:r>
            <a:r>
              <a:rPr lang="en-US" b="1" dirty="0">
                <a:latin typeface="Times New Roman" panose="02020603050405020304" pitchFamily="18" charset="0"/>
                <a:cs typeface="Times New Roman" panose="02020603050405020304" pitchFamily="18" charset="0"/>
              </a:rPr>
              <a:t>(Registrar   General, India).</a:t>
            </a:r>
          </a:p>
          <a:p>
            <a:pPr marL="0" indent="0" algn="just">
              <a:buNone/>
            </a:pPr>
            <a:r>
              <a:rPr lang="en-US" dirty="0">
                <a:latin typeface="Times New Roman" panose="02020603050405020304" pitchFamily="18" charset="0"/>
                <a:cs typeface="Times New Roman" panose="02020603050405020304" pitchFamily="18" charset="0"/>
              </a:rPr>
              <a:t> It is important since the impact of being unregistered are strongly felt by those who are on the fringes of the society, such as girls, migrant populations or ethnic minorities. Birth registration is the first step towards legal identity and being able to go to school, getting medical treatment, job and more. When children are registered and there is documentation to show their identity, they are better protected from early marriage or from being trafficked and forced to work in exploitative conditions. Furthermore, a strong civil registration and vital statistics </a:t>
            </a:r>
            <a:r>
              <a:rPr lang="en-US" b="1" dirty="0">
                <a:latin typeface="Times New Roman" panose="02020603050405020304" pitchFamily="18" charset="0"/>
                <a:cs typeface="Times New Roman" panose="02020603050405020304" pitchFamily="18" charset="0"/>
              </a:rPr>
              <a:t>(CRVS) </a:t>
            </a:r>
            <a:r>
              <a:rPr lang="en-US" dirty="0">
                <a:latin typeface="Times New Roman" panose="02020603050405020304" pitchFamily="18" charset="0"/>
                <a:cs typeface="Times New Roman" panose="02020603050405020304" pitchFamily="18" charset="0"/>
              </a:rPr>
              <a:t>system means a government has the most reliable source of data possible on a population at its fingertips. </a:t>
            </a:r>
          </a:p>
          <a:p>
            <a:endParaRPr lang="en-IN" dirty="0"/>
          </a:p>
        </p:txBody>
      </p:sp>
    </p:spTree>
    <p:extLst>
      <p:ext uri="{BB962C8B-B14F-4D97-AF65-F5344CB8AC3E}">
        <p14:creationId xmlns:p14="http://schemas.microsoft.com/office/powerpoint/2010/main" val="3490970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0"/>
                <a:lumOff val="100000"/>
              </a:schemeClr>
            </a:gs>
            <a:gs pos="41000">
              <a:schemeClr val="accent3">
                <a:lumMod val="0"/>
                <a:lumOff val="100000"/>
              </a:schemeClr>
            </a:gs>
            <a:gs pos="83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6E6130-B7C7-AE32-CA65-E55916F80A6D}"/>
              </a:ext>
            </a:extLst>
          </p:cNvPr>
          <p:cNvSpPr>
            <a:spLocks noGrp="1"/>
          </p:cNvSpPr>
          <p:nvPr>
            <p:ph sz="quarter" idx="13"/>
          </p:nvPr>
        </p:nvSpPr>
        <p:spPr>
          <a:xfrm>
            <a:off x="176981" y="0"/>
            <a:ext cx="12015019" cy="6858000"/>
          </a:xfrm>
        </p:spPr>
        <p:txBody>
          <a:bodyPr>
            <a:normAutofit lnSpcReduction="10000"/>
          </a:bodyPr>
          <a:lstStyle/>
          <a:p>
            <a:pPr algn="just"/>
            <a:r>
              <a:rPr lang="en-US" b="1" u="sng" dirty="0">
                <a:latin typeface="Times New Roman" panose="02020603050405020304" pitchFamily="18" charset="0"/>
                <a:cs typeface="Times New Roman" panose="02020603050405020304" pitchFamily="18" charset="0"/>
              </a:rPr>
              <a:t>Media and Representation of Children Press Council of India Act, 1978 </a:t>
            </a:r>
          </a:p>
          <a:p>
            <a:pPr algn="just"/>
            <a:r>
              <a:rPr lang="en-US" b="1" dirty="0">
                <a:latin typeface="Times New Roman" panose="02020603050405020304" pitchFamily="18" charset="0"/>
                <a:cs typeface="Times New Roman" panose="02020603050405020304" pitchFamily="18" charset="0"/>
              </a:rPr>
              <a:t>Right to Privacy: 6 (i) </a:t>
            </a:r>
            <a:r>
              <a:rPr lang="en-US" dirty="0">
                <a:latin typeface="Times New Roman" panose="02020603050405020304" pitchFamily="18" charset="0"/>
                <a:cs typeface="Times New Roman" panose="02020603050405020304" pitchFamily="18" charset="0"/>
              </a:rPr>
              <a:t>The Press shall not intrude or invade the privacy of an individual, unless outweighed by genuine overriding public interest, not being a prurient or morbid curiosity.</a:t>
            </a:r>
          </a:p>
          <a:p>
            <a:pPr algn="just"/>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Caution against Identification: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6 (ii) </a:t>
            </a:r>
            <a:r>
              <a:rPr lang="en-US" dirty="0">
                <a:latin typeface="Times New Roman" panose="02020603050405020304" pitchFamily="18" charset="0"/>
                <a:cs typeface="Times New Roman" panose="02020603050405020304" pitchFamily="18" charset="0"/>
              </a:rPr>
              <a:t>While reporting crime involving rape, abduction or kidnap of women/females or sexual assault on children, or raising doubts and questions touching the chastity, personal character and privacy of women, the names, photographs of the victims or other particulars leading to their identity shall not be published.</a:t>
            </a:r>
            <a:r>
              <a:rPr lang="en-US" b="1" dirty="0">
                <a:latin typeface="Times New Roman" panose="02020603050405020304" pitchFamily="18" charset="0"/>
                <a:cs typeface="Times New Roman" panose="02020603050405020304" pitchFamily="18" charset="0"/>
              </a:rPr>
              <a:t> 6 (iii) </a:t>
            </a:r>
            <a:r>
              <a:rPr lang="en-US" dirty="0">
                <a:latin typeface="Times New Roman" panose="02020603050405020304" pitchFamily="18" charset="0"/>
                <a:cs typeface="Times New Roman" panose="02020603050405020304" pitchFamily="18" charset="0"/>
              </a:rPr>
              <a:t>Minor children and infants who are the offspring of sexual abuse or 'forcible marriage' or illicit sexual union shall not be identified or photographed. </a:t>
            </a:r>
          </a:p>
          <a:p>
            <a:pPr algn="just"/>
            <a:r>
              <a:rPr lang="en-US" b="1" dirty="0">
                <a:latin typeface="Times New Roman" panose="02020603050405020304" pitchFamily="18" charset="0"/>
                <a:cs typeface="Times New Roman" panose="02020603050405020304" pitchFamily="18" charset="0"/>
              </a:rPr>
              <a:t>Ensure Sensitivity of Child-Related Stories:</a:t>
            </a:r>
            <a:r>
              <a:rPr lang="en-US" dirty="0">
                <a:latin typeface="Times New Roman" panose="02020603050405020304" pitchFamily="18" charset="0"/>
                <a:cs typeface="Times New Roman" panose="02020603050405020304" pitchFamily="18" charset="0"/>
              </a:rPr>
              <a:t> The identity of children infected and affected by HIV should not be revealed. Nor should their photographs be shown. This includes orphans and children living in orphanages, juvenile homes etc. </a:t>
            </a:r>
          </a:p>
          <a:p>
            <a:pPr algn="just"/>
            <a:r>
              <a:rPr lang="en-US" b="1" u="sng" dirty="0">
                <a:latin typeface="Times New Roman" panose="02020603050405020304" pitchFamily="18" charset="0"/>
                <a:cs typeface="Times New Roman" panose="02020603050405020304" pitchFamily="18" charset="0"/>
              </a:rPr>
              <a:t>The Guidelines of Media Reporting on Children approved by the Hon’ble High Court of Delhi:</a:t>
            </a:r>
          </a:p>
          <a:p>
            <a:pPr algn="just">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1. Meaning of terms used: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1.1 “Child” or “children” shall mean a person(s) who has/have not completed 18 years of age;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1.2 “Media” shall include, but not be limited to, any newspaper, magazine, newssheet or electronic media.</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2.1 Involvement of children in news/programs/documentaries etc. must evidently be editorially justified including from a child rights’ perspective.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2.2 Media shall ensure that child victims of rape, other sexual offences, trafficking, drug/substance abuse, elopement, organized crimes, and children used in armed conflicts, children in Conflict with Law and child witnesses etc. are automatically guaranteed anonymity for life.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2.3 Media must ensure that due consideration is given to a child’s right to privacy and to prevent the child from being exposed to anxiety, distress, trauma, social stigma, risk to life &amp; safety and further suffering in relation to reporting/broadcasting/publication of news/programs/documentaries etc. on and for children.</a:t>
            </a:r>
          </a:p>
          <a:p>
            <a:endParaRPr lang="en-IN" dirty="0"/>
          </a:p>
        </p:txBody>
      </p:sp>
    </p:spTree>
    <p:extLst>
      <p:ext uri="{BB962C8B-B14F-4D97-AF65-F5344CB8AC3E}">
        <p14:creationId xmlns:p14="http://schemas.microsoft.com/office/powerpoint/2010/main" val="610232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B0F0"/>
            </a:gs>
            <a:gs pos="100000">
              <a:schemeClr val="accent3">
                <a:lumMod val="0"/>
                <a:lumOff val="100000"/>
              </a:schemeClr>
            </a:gs>
            <a:gs pos="100000">
              <a:schemeClr val="accent3">
                <a:lumMod val="10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AE7639-4794-05A0-62C4-52619C7DCEA5}"/>
              </a:ext>
            </a:extLst>
          </p:cNvPr>
          <p:cNvSpPr>
            <a:spLocks noGrp="1"/>
          </p:cNvSpPr>
          <p:nvPr>
            <p:ph sz="quarter" idx="13"/>
          </p:nvPr>
        </p:nvSpPr>
        <p:spPr>
          <a:xfrm>
            <a:off x="167148" y="0"/>
            <a:ext cx="12024851" cy="6858000"/>
          </a:xfrm>
        </p:spPr>
        <p:txBody>
          <a:bodyPr>
            <a:noAutofit/>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2.4 Media shall ensure that a child’s identity is not revealed in any manner, including but not limited to, disclosure of personal information, photograph, school/institution/locality and information of the family including their residential/official address.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2.5 Media shall not sensationalize issues or stories, especially those relating to children, and should be conscious of the pernicious consequences of disclosing/highlighting information in a sensational form.</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2.6 Interviewing a child by the media should be governed by some important principles su</a:t>
            </a:r>
            <a:r>
              <a:rPr lang="en-US" dirty="0">
                <a:ln w="0"/>
                <a:solidFill>
                  <a:schemeClr val="tx1"/>
                </a:solidFill>
                <a:latin typeface="Times New Roman" panose="02020603050405020304" pitchFamily="18" charset="0"/>
                <a:cs typeface="Times New Roman" panose="02020603050405020304" pitchFamily="18" charset="0"/>
              </a:rPr>
              <a:t>ch as the interview is in the child’s best interest, the manner and the content of the interview doesn’t affect/interfere with the child’s right to privacy, frequent interviewing must be avoided, the child or any person having control over the child shall not be coerced or enticed in any manner including financial or other inducement to secure consent for the interview and so on.</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2.7 Me</a:t>
            </a:r>
            <a:r>
              <a:rPr lang="en-US" dirty="0">
                <a:ln w="0"/>
                <a:solidFill>
                  <a:schemeClr val="tx1"/>
                </a:solidFill>
                <a:latin typeface="Times New Roman" panose="02020603050405020304" pitchFamily="18" charset="0"/>
                <a:cs typeface="Times New Roman" panose="02020603050405020304" pitchFamily="18" charset="0"/>
              </a:rPr>
              <a:t>dia must verify the credentials and authority of individuals/organizations whose consent is sought on behalf of the child.</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2.8 Media shall not give any financial or other inducement to the child or parent/guardian or others in relation to reporting/broadcasting/publication of news/programs/documentaries etc. on and for children.</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2.9 Media must balance its responsibility to protect children from unsuitable content with the right to freedom of expression and the right to know.</a:t>
            </a:r>
          </a:p>
          <a:p>
            <a:pPr algn="just">
              <a:buFont typeface="Courier New" panose="02070309020205020404" pitchFamily="49" charset="0"/>
              <a:buChar char="o"/>
            </a:pPr>
            <a:r>
              <a:rPr lang="en-US" dirty="0">
                <a:ln w="0"/>
                <a:solidFill>
                  <a:schemeClr val="tx1"/>
                </a:solidFill>
                <a:latin typeface="Times New Roman" panose="02020603050405020304" pitchFamily="18" charset="0"/>
                <a:cs typeface="Times New Roman" panose="02020603050405020304" pitchFamily="18" charset="0"/>
              </a:rPr>
              <a:t>2.10 To protect the identity of the child media shall ensure that any visual showing the face of the child must be completely blurred in cases where privacy/anonymity is required as illustrated in Principle 2.2 above.</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2.11 Media shall orient/ sensitize its editorial personnel, including editors/ editorial team/ reporters /correspondents /producers /photographers etc. about laws, rules, regulations and guidelines related to reporting  broadcasting/ publication of news/ programs/ documentaries etc. on and for children.</a:t>
            </a:r>
          </a:p>
          <a:p>
            <a:pPr algn="just">
              <a:buFont typeface="Courier New" panose="02070309020205020404" pitchFamily="49" charset="0"/>
              <a:buChar char="o"/>
            </a:pPr>
            <a:r>
              <a:rPr lang="en-US" dirty="0">
                <a:ln w="0"/>
                <a:solidFill>
                  <a:schemeClr val="tx1"/>
                </a:solidFill>
                <a:latin typeface="Times New Roman" panose="02020603050405020304" pitchFamily="18" charset="0"/>
                <a:cs typeface="Times New Roman" panose="02020603050405020304" pitchFamily="18" charset="0"/>
              </a:rPr>
              <a:t>2.12 The media shall proactively promote the children’s right to information and freedom of expression.</a:t>
            </a:r>
            <a:endParaRPr lang="en-US" cap="none" spc="0" dirty="0">
              <a:ln w="0"/>
              <a:solidFill>
                <a:schemeClr val="tx1"/>
              </a:solidFill>
              <a:latin typeface="Times New Roman" panose="02020603050405020304" pitchFamily="18" charset="0"/>
              <a:cs typeface="Times New Roman" panose="02020603050405020304" pitchFamily="18" charset="0"/>
            </a:endParaRPr>
          </a:p>
          <a:p>
            <a:pPr algn="just"/>
            <a:endParaRPr lang="en-US" cap="none" spc="0" dirty="0">
              <a:ln w="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8440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9900"/>
            </a:gs>
            <a:gs pos="100000">
              <a:schemeClr val="bg2">
                <a:shade val="98000"/>
                <a:satMod val="120000"/>
                <a:lumMod val="98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9640B9-A63D-A0FC-FE4B-786D3DB9B28E}"/>
              </a:ext>
            </a:extLst>
          </p:cNvPr>
          <p:cNvSpPr>
            <a:spLocks noGrp="1"/>
          </p:cNvSpPr>
          <p:nvPr>
            <p:ph sz="quarter" idx="13"/>
          </p:nvPr>
        </p:nvSpPr>
        <p:spPr>
          <a:xfrm>
            <a:off x="186813" y="0"/>
            <a:ext cx="12005187" cy="6858000"/>
          </a:xfrm>
          <a:gradFill flip="none" rotWithShape="1">
            <a:gsLst>
              <a:gs pos="0">
                <a:srgbClr val="FF9900"/>
              </a:gs>
              <a:gs pos="100000">
                <a:schemeClr val="bg2">
                  <a:shade val="98000"/>
                  <a:satMod val="120000"/>
                  <a:lumMod val="98000"/>
                </a:schemeClr>
              </a:gs>
            </a:gsLst>
            <a:path path="circle">
              <a:fillToRect t="100000" r="100000"/>
            </a:path>
            <a:tileRect l="-100000" b="-100000"/>
          </a:gradFill>
        </p:spPr>
        <p:txBody>
          <a:bodyPr>
            <a:normAutofit lnSpcReduction="10000"/>
          </a:bodyPr>
          <a:lstStyle/>
          <a:p>
            <a:r>
              <a:rPr lang="en-US" sz="1800" b="1" u="sng" dirty="0">
                <a:latin typeface="Times New Roman" panose="02020603050405020304" pitchFamily="18" charset="0"/>
                <a:cs typeface="Times New Roman" panose="02020603050405020304" pitchFamily="18" charset="0"/>
              </a:rPr>
              <a:t>The Cable Television Networks (Regulation) Act, 1995 and its Rules, 1994 </a:t>
            </a:r>
            <a:r>
              <a:rPr lang="en-US" sz="1800" dirty="0">
                <a:latin typeface="Times New Roman" panose="02020603050405020304" pitchFamily="18" charset="0"/>
                <a:cs typeface="Times New Roman" panose="02020603050405020304" pitchFamily="18" charset="0"/>
              </a:rPr>
              <a:t>- The Programme Code and Advertising Code as per </a:t>
            </a:r>
            <a:r>
              <a:rPr lang="en-US" sz="1800" b="1" dirty="0">
                <a:latin typeface="Times New Roman" panose="02020603050405020304" pitchFamily="18" charset="0"/>
                <a:cs typeface="Times New Roman" panose="02020603050405020304" pitchFamily="18" charset="0"/>
              </a:rPr>
              <a:t>Rule 6</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7</a:t>
            </a:r>
            <a:r>
              <a:rPr lang="en-US" sz="1800" dirty="0">
                <a:latin typeface="Times New Roman" panose="02020603050405020304" pitchFamily="18" charset="0"/>
                <a:cs typeface="Times New Roman" panose="02020603050405020304" pitchFamily="18" charset="0"/>
              </a:rPr>
              <a:t> provide that no program or advertisement which denigrates children should be carried in cable service. This Act is applicable to all broadcasters and these codes are mandatory to all programs aired by them. </a:t>
            </a:r>
            <a:endParaRPr lang="en-US" dirty="0">
              <a:latin typeface="Times New Roman" panose="02020603050405020304" pitchFamily="18" charset="0"/>
              <a:cs typeface="Times New Roman" panose="02020603050405020304" pitchFamily="18" charset="0"/>
            </a:endParaRPr>
          </a:p>
          <a:p>
            <a:r>
              <a:rPr lang="en-US" b="1" u="sng" dirty="0">
                <a:latin typeface="Times New Roman" panose="02020603050405020304" pitchFamily="18" charset="0"/>
                <a:cs typeface="Times New Roman" panose="02020603050405020304" pitchFamily="18" charset="0"/>
              </a:rPr>
              <a:t>Information and Technology Act (ITA), 2000 for Children</a:t>
            </a:r>
            <a:r>
              <a:rPr lang="en-US" dirty="0">
                <a:latin typeface="Times New Roman" panose="02020603050405020304" pitchFamily="18" charset="0"/>
                <a:cs typeface="Times New Roman" panose="02020603050405020304" pitchFamily="18" charset="0"/>
              </a:rPr>
              <a:t> </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Section 67: </a:t>
            </a:r>
            <a:r>
              <a:rPr lang="en-US" dirty="0">
                <a:latin typeface="Times New Roman" panose="02020603050405020304" pitchFamily="18" charset="0"/>
                <a:cs typeface="Times New Roman" panose="02020603050405020304" pitchFamily="18" charset="0"/>
              </a:rPr>
              <a:t>Punishment for publishing or transmitting obscene material in electronic form.</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Section 67A: </a:t>
            </a:r>
            <a:r>
              <a:rPr lang="en-US" dirty="0">
                <a:latin typeface="Times New Roman" panose="02020603050405020304" pitchFamily="18" charset="0"/>
                <a:cs typeface="Times New Roman" panose="02020603050405020304" pitchFamily="18" charset="0"/>
              </a:rPr>
              <a:t>Punishment for publishing or transmitting of material containing sexually explicit any material that contains sexually explicit acts or conduct, published or transmitted in electronic form.</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 Section 67B: </a:t>
            </a:r>
            <a:r>
              <a:rPr lang="en-US" dirty="0">
                <a:latin typeface="Times New Roman" panose="02020603050405020304" pitchFamily="18" charset="0"/>
                <a:cs typeface="Times New Roman" panose="02020603050405020304" pitchFamily="18" charset="0"/>
              </a:rPr>
              <a:t>Punishment for publishing or transmitting of material depicting children in sexually explicit act, etc.</a:t>
            </a:r>
          </a:p>
          <a:p>
            <a:r>
              <a:rPr lang="en-US" b="1" u="sng" dirty="0">
                <a:latin typeface="Times New Roman" panose="02020603050405020304" pitchFamily="18" charset="0"/>
                <a:cs typeface="Times New Roman" panose="02020603050405020304" pitchFamily="18" charset="0"/>
              </a:rPr>
              <a:t>Juvenile Justice Act (Care and Protection) Act, 2015</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Section 74: </a:t>
            </a:r>
            <a:r>
              <a:rPr lang="en-US" dirty="0">
                <a:latin typeface="Times New Roman" panose="02020603050405020304" pitchFamily="18" charset="0"/>
                <a:cs typeface="Times New Roman" panose="02020603050405020304" pitchFamily="18" charset="0"/>
              </a:rPr>
              <a:t>(1) No report in any newspaper, magazine, news‐sheet or audio‐visual media or other forms of communication regarding any inquiry or investigation or judicial procedure, shall disclose the name, address or school or any other particular, which may lead to the identification of a child in conflict with law or a child in need of care and protection or a child victim or witness of a crime, involved in such matter, under any other law for the time being in force, nor shall the picture of any such child be published: Provided that for reasons to be recorded in writing, the Board or Committee, as the case may be, holding the inquiry may permit such disclosure, if in its opinion such disclosure is in the best interest of the child. Any person contravening the provisions of sub‐section (1) shall be punishable with imprisonment for a term which may extend to six months or fine which may extend to two lakh rupees or both.</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Section 75: </a:t>
            </a:r>
            <a:r>
              <a:rPr lang="en-US" dirty="0">
                <a:latin typeface="Times New Roman" panose="02020603050405020304" pitchFamily="18" charset="0"/>
                <a:cs typeface="Times New Roman" panose="02020603050405020304" pitchFamily="18" charset="0"/>
              </a:rPr>
              <a:t>Whoever, having the actual charge of, or control over, a child, assaults, abandons, abuses, exposes or willfully neglects the child or causes or procures the child to be assaulted, abandoned, abused, exposed or neglected in a manner likely to cause such child unnecessary mental or physical suffering, shall be punishable with imprisonment for a term which may extend to three years or with fine of one lakh rupees or with both. Provided further that if such offence is committed by any person employed by or managing an organization, which is entrusted with the care and protection of the child, he shall be punished with rigorous imprisonment which may extend up to five years, and fine which may extend up to five lakh rupees. </a:t>
            </a:r>
          </a:p>
          <a:p>
            <a:pPr marL="0" indent="0">
              <a:buNone/>
            </a:pP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45892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CCFF66"/>
            </a:gs>
            <a:gs pos="100000">
              <a:schemeClr val="bg2">
                <a:shade val="98000"/>
                <a:satMod val="120000"/>
                <a:lumMod val="98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F36E26-85D3-2F6D-63B0-838C925DA3E4}"/>
              </a:ext>
            </a:extLst>
          </p:cNvPr>
          <p:cNvSpPr>
            <a:spLocks noGrp="1"/>
          </p:cNvSpPr>
          <p:nvPr>
            <p:ph sz="quarter" idx="13"/>
          </p:nvPr>
        </p:nvSpPr>
        <p:spPr>
          <a:xfrm>
            <a:off x="176981" y="0"/>
            <a:ext cx="12015019" cy="6858000"/>
          </a:xfrm>
        </p:spPr>
        <p:txBody>
          <a:bodyPr>
            <a:normAutofit fontScale="92500" lnSpcReduction="20000"/>
          </a:bodyPr>
          <a:lstStyle/>
          <a:p>
            <a:pPr algn="just"/>
            <a:r>
              <a:rPr lang="en-US" sz="1900" b="1" u="sng" dirty="0">
                <a:latin typeface="Times New Roman" panose="02020603050405020304" pitchFamily="18" charset="0"/>
                <a:cs typeface="Times New Roman" panose="02020603050405020304" pitchFamily="18" charset="0"/>
              </a:rPr>
              <a:t>Protection of Children against Sexual Offences (POSCO) Act, 2012</a:t>
            </a:r>
          </a:p>
          <a:p>
            <a:pPr algn="just"/>
            <a:r>
              <a:rPr lang="en-US" sz="1900" b="1" i="1" dirty="0">
                <a:latin typeface="Times New Roman" panose="02020603050405020304" pitchFamily="18" charset="0"/>
                <a:cs typeface="Times New Roman" panose="02020603050405020304" pitchFamily="18" charset="0"/>
              </a:rPr>
              <a:t>Chapter V, Section 20: </a:t>
            </a:r>
            <a:r>
              <a:rPr lang="en-US" sz="1900" dirty="0">
                <a:latin typeface="Times New Roman" panose="02020603050405020304" pitchFamily="18" charset="0"/>
                <a:cs typeface="Times New Roman" panose="02020603050405020304" pitchFamily="18" charset="0"/>
              </a:rPr>
              <a:t>Obligation of media, studio and photographic facilities to report cases: Any personnel of the media or hotel or lodge or hospital or club or studio or photographic facilities, by whatever name called, irrespective of the number of persons employed therein, shall, on, coming across any material or object which is sexually exploitative of the child (including pornographic, sexually‐related or making obscene representation of a child or children) through the use of any medium, shall provide such information to the Special Juvenile Police Unit, or to the local police, as the case may be.</a:t>
            </a:r>
          </a:p>
          <a:p>
            <a:pPr algn="just"/>
            <a:r>
              <a:rPr lang="en-US" sz="1900" b="1" i="1" dirty="0">
                <a:latin typeface="Times New Roman" panose="02020603050405020304" pitchFamily="18" charset="0"/>
                <a:cs typeface="Times New Roman" panose="02020603050405020304" pitchFamily="18" charset="0"/>
              </a:rPr>
              <a:t>Chapter V, Section 21: </a:t>
            </a:r>
            <a:r>
              <a:rPr lang="en-US" sz="1900" dirty="0">
                <a:latin typeface="Times New Roman" panose="02020603050405020304" pitchFamily="18" charset="0"/>
                <a:cs typeface="Times New Roman" panose="02020603050405020304" pitchFamily="18" charset="0"/>
              </a:rPr>
              <a:t>Punishment for failure to report or record a case: (1) Any person, who fails to report the commission of an offence under sub‐section (1) of section 19 or section 20 or who fails to record such offence under sub‐section (2) of section 19 shall be punished with imprisonment of either description which may extend to six months or with fine or with both. (2) Any person, being in‐charge of any company or an institution (by whatever name called) who fails to report the commission of an offence under sub‐section (1) of section 19 in respect of a subordinate under his control, shall be punished with imprisonment for a term which may extend to one year and with fine. (3) The provisions of sub‐section (1) shall not apply to a child under this Act. </a:t>
            </a:r>
          </a:p>
          <a:p>
            <a:pPr algn="just"/>
            <a:r>
              <a:rPr lang="en-US" sz="1900" b="1" i="1" dirty="0">
                <a:latin typeface="Times New Roman" panose="02020603050405020304" pitchFamily="18" charset="0"/>
                <a:cs typeface="Times New Roman" panose="02020603050405020304" pitchFamily="18" charset="0"/>
              </a:rPr>
              <a:t>Chapter V, Section 23: </a:t>
            </a:r>
            <a:r>
              <a:rPr lang="en-US" sz="1900" dirty="0">
                <a:latin typeface="Times New Roman" panose="02020603050405020304" pitchFamily="18" charset="0"/>
                <a:cs typeface="Times New Roman" panose="02020603050405020304" pitchFamily="18" charset="0"/>
              </a:rPr>
              <a:t>Procedure for Media:</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1) No person shall make any report or present comments on any child from any form of media or studio or photographic facilities without having complete and authentic information, which may have the effect of lowering his reputation or infringing upon his privacy.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2) No reports in any media shall disclose, the identity of a child including his name, address, photograph, family details, school, neighbourhood or any other particulars which may lead to disclosure of identity of the child. Provided that for reasons to be recorded in writing, the Special Court, competent to try the case under the Act, may permit such disclosure, if in its opinion such disclosure is in the interest of the child.</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3) The publisher or owner of the media or studio or photographic facilities shall be jointly and severally liable for the acts and omissions of his employee.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4) Any person who contravenes the provisions of sub‐section (1) or sub‐section (2) shall be liable to be punished with imprisonment of either description for a period which shall not be less than six months but which may extend to one year or with fine or with both.</a:t>
            </a:r>
          </a:p>
          <a:p>
            <a:endParaRPr lang="en-IN" dirty="0"/>
          </a:p>
        </p:txBody>
      </p:sp>
    </p:spTree>
    <p:extLst>
      <p:ext uri="{BB962C8B-B14F-4D97-AF65-F5344CB8AC3E}">
        <p14:creationId xmlns:p14="http://schemas.microsoft.com/office/powerpoint/2010/main" val="2869088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33CCFF"/>
            </a:gs>
            <a:gs pos="97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F422B1-8B8A-EEB9-643E-ED813685E3A2}"/>
              </a:ext>
            </a:extLst>
          </p:cNvPr>
          <p:cNvSpPr>
            <a:spLocks noGrp="1"/>
          </p:cNvSpPr>
          <p:nvPr>
            <p:ph sz="quarter" idx="13"/>
          </p:nvPr>
        </p:nvSpPr>
        <p:spPr>
          <a:xfrm>
            <a:off x="176981" y="0"/>
            <a:ext cx="12015019" cy="6858000"/>
          </a:xfrm>
        </p:spPr>
        <p:txBody>
          <a:bodyPr>
            <a:normAutofit fontScale="92500" lnSpcReduction="20000"/>
          </a:bodyPr>
          <a:lstStyle/>
          <a:p>
            <a:pPr algn="just"/>
            <a:r>
              <a:rPr lang="en-US" sz="1900" b="1" u="sng" dirty="0">
                <a:latin typeface="Times New Roman" panose="02020603050405020304" pitchFamily="18" charset="0"/>
                <a:cs typeface="Times New Roman" panose="02020603050405020304" pitchFamily="18" charset="0"/>
              </a:rPr>
              <a:t>Indian Penal Code, 1860 and Code of Criminal Procedure, 1973 </a:t>
            </a:r>
          </a:p>
          <a:p>
            <a:pPr algn="just">
              <a:buFont typeface="Courier New" panose="02070309020205020404" pitchFamily="49" charset="0"/>
              <a:buChar char="o"/>
            </a:pPr>
            <a:r>
              <a:rPr lang="en-US" sz="1900" b="1" i="1" dirty="0">
                <a:latin typeface="Times New Roman" panose="02020603050405020304" pitchFamily="18" charset="0"/>
                <a:cs typeface="Times New Roman" panose="02020603050405020304" pitchFamily="18" charset="0"/>
              </a:rPr>
              <a:t>Section 228A: </a:t>
            </a:r>
            <a:r>
              <a:rPr lang="en-US" sz="1900" dirty="0">
                <a:latin typeface="Times New Roman" panose="02020603050405020304" pitchFamily="18" charset="0"/>
                <a:cs typeface="Times New Roman" panose="02020603050405020304" pitchFamily="18" charset="0"/>
              </a:rPr>
              <a:t>Disclosure of identity of the victim of certain offences, etc. Disclosure of identify of any person against whom an offence under section 376, section 376A, section 376B, section 376C or section 376D is prohibited and punishable.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a:t>
            </a:r>
            <a:r>
              <a:rPr lang="en-US" sz="1900" b="1" i="1" dirty="0">
                <a:latin typeface="Times New Roman" panose="02020603050405020304" pitchFamily="18" charset="0"/>
                <a:cs typeface="Times New Roman" panose="02020603050405020304" pitchFamily="18" charset="0"/>
              </a:rPr>
              <a:t>Section 327(3) of Cr.PC: </a:t>
            </a:r>
            <a:r>
              <a:rPr lang="en-US" sz="1900" dirty="0">
                <a:latin typeface="Times New Roman" panose="02020603050405020304" pitchFamily="18" charset="0"/>
                <a:cs typeface="Times New Roman" panose="02020603050405020304" pitchFamily="18" charset="0"/>
              </a:rPr>
              <a:t>This section also bars publishing the name of the victim without the permission of the court where such proceedings are held in camera.</a:t>
            </a:r>
          </a:p>
          <a:p>
            <a:pPr algn="just"/>
            <a:r>
              <a:rPr lang="en-US" sz="1900" b="1" u="sng" dirty="0">
                <a:latin typeface="Times New Roman" panose="02020603050405020304" pitchFamily="18" charset="0"/>
                <a:cs typeface="Times New Roman" panose="02020603050405020304" pitchFamily="18" charset="0"/>
              </a:rPr>
              <a:t>The Code for Self- Regulation in Advertising by the Advertising Council of India(ASCI):</a:t>
            </a:r>
            <a:r>
              <a:rPr lang="en-US" sz="1900" dirty="0">
                <a:latin typeface="Times New Roman" panose="02020603050405020304" pitchFamily="18" charset="0"/>
                <a:cs typeface="Times New Roman" panose="02020603050405020304" pitchFamily="18" charset="0"/>
              </a:rPr>
              <a:t> The purpose of the Code is to control the content of advertisements, not to hamper the sale of products which may be found offensive, for whatever reason, by some people. Provided, therefore, that advertisements for such products are not themselves offensive, there will normally be no ground for objection to them in terms of this Code.</a:t>
            </a:r>
          </a:p>
          <a:p>
            <a:pPr algn="just"/>
            <a:r>
              <a:rPr lang="en-US" sz="1900" b="1" u="sng" dirty="0">
                <a:latin typeface="Times New Roman" panose="02020603050405020304" pitchFamily="18" charset="0"/>
                <a:cs typeface="Times New Roman" panose="02020603050405020304" pitchFamily="18" charset="0"/>
              </a:rPr>
              <a:t> The Code for Self- Regulation in Advertising</a:t>
            </a:r>
          </a:p>
          <a:p>
            <a:pPr algn="just"/>
            <a:r>
              <a:rPr lang="en-US" sz="1900" b="1" i="1" dirty="0">
                <a:latin typeface="Times New Roman" panose="02020603050405020304" pitchFamily="18" charset="0"/>
                <a:cs typeface="Times New Roman" panose="02020603050405020304" pitchFamily="18" charset="0"/>
              </a:rPr>
              <a:t> Chapter III of the Code (Against Harmful Products/Situations) </a:t>
            </a:r>
            <a:r>
              <a:rPr lang="en-US" sz="1900" dirty="0">
                <a:latin typeface="Times New Roman" panose="02020603050405020304" pitchFamily="18" charset="0"/>
                <a:cs typeface="Times New Roman" panose="02020603050405020304" pitchFamily="18" charset="0"/>
              </a:rPr>
              <a:t>points out the following:</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To safeguard against the indiscriminate use of advertising in situations or of the promotion of products which are regarded as hazardous or harmful to society or to individuals, particularly minors, to a degree or of a type which is unacceptable to society at large.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Advertisements addressed to minors shall not contain anything, whether in illustration or otherwise, which might result in their physical, mental or moral harm or which exploits their vulnerability. </a:t>
            </a:r>
          </a:p>
          <a:p>
            <a:pPr algn="just"/>
            <a:r>
              <a:rPr lang="en-US" sz="1900" b="1" u="sng" dirty="0">
                <a:latin typeface="Times New Roman" panose="02020603050405020304" pitchFamily="18" charset="0"/>
                <a:cs typeface="Times New Roman" panose="02020603050405020304" pitchFamily="18" charset="0"/>
              </a:rPr>
              <a:t>Guidelines by News Broadcasters Association (NBA)</a:t>
            </a:r>
            <a:r>
              <a:rPr lang="en-US" sz="1900" b="1"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The News Broadcasters Association (NBA) has established commonly accepted content guidelines as a way of practicing self-regulation. The purpose is to define editorial principles which are consistent with the tenets of the freedom of speech articulated in the Constitution of India and the common sensibilities of television viewers.</a:t>
            </a:r>
          </a:p>
          <a:p>
            <a:pPr algn="just"/>
            <a:r>
              <a:rPr lang="en-US" sz="1900" b="1" u="sng" dirty="0">
                <a:latin typeface="Times New Roman" panose="02020603050405020304" pitchFamily="18" charset="0"/>
                <a:cs typeface="Times New Roman" panose="02020603050405020304" pitchFamily="18" charset="0"/>
              </a:rPr>
              <a:t>Guidelines by the Indian Broadcasting Foundation (IBF)</a:t>
            </a:r>
            <a:r>
              <a:rPr lang="en-US" sz="1900" b="1"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In the absence of an independent and autonomous regulatory body, the Indian Broadcasting Foundation (IBF) has adopted Self‐Regulation Guidelines so that it functions as an independent, autonomous organization in order to provide an enabling environment to facilitate creativity, promote viewpoint diversity and the plurality of ideas.</a:t>
            </a:r>
            <a:endParaRPr lang="en-US" sz="19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40230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0066"/>
            </a:gs>
            <a:gs pos="0">
              <a:srgbClr val="FF096B"/>
            </a:gs>
            <a:gs pos="100000">
              <a:schemeClr val="accent3">
                <a:lumMod val="0"/>
                <a:lumOff val="100000"/>
              </a:schemeClr>
            </a:gs>
            <a:gs pos="100000">
              <a:schemeClr val="accent3">
                <a:lumMod val="100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CADB46-E2A5-C65E-992F-0EF56FD9B29B}"/>
              </a:ext>
            </a:extLst>
          </p:cNvPr>
          <p:cNvSpPr>
            <a:spLocks noGrp="1"/>
          </p:cNvSpPr>
          <p:nvPr>
            <p:ph sz="quarter" idx="13"/>
          </p:nvPr>
        </p:nvSpPr>
        <p:spPr>
          <a:xfrm>
            <a:off x="176981" y="0"/>
            <a:ext cx="12015019" cy="6858000"/>
          </a:xfrm>
        </p:spPr>
        <p:txBody>
          <a:bodyPr>
            <a:normAutofit fontScale="62500" lnSpcReduction="20000"/>
          </a:bodyPr>
          <a:lstStyle/>
          <a:p>
            <a:pPr algn="just"/>
            <a:r>
              <a:rPr lang="en-US" sz="2900" b="0" cap="none" spc="0" dirty="0">
                <a:ln w="0"/>
                <a:solidFill>
                  <a:schemeClr val="tx1"/>
                </a:solidFill>
                <a:latin typeface="Times New Roman" panose="02020603050405020304" pitchFamily="18" charset="0"/>
                <a:cs typeface="Times New Roman" panose="02020603050405020304" pitchFamily="18" charset="0"/>
              </a:rPr>
              <a:t>Some </a:t>
            </a:r>
            <a:r>
              <a:rPr lang="en-US" sz="2900" b="1" dirty="0">
                <a:ln w="0"/>
                <a:solidFill>
                  <a:schemeClr val="tx1"/>
                </a:solidFill>
                <a:latin typeface="Times New Roman" panose="02020603050405020304" pitchFamily="18" charset="0"/>
                <a:cs typeface="Times New Roman" panose="02020603050405020304" pitchFamily="18" charset="0"/>
              </a:rPr>
              <a:t>k</a:t>
            </a:r>
            <a:r>
              <a:rPr lang="en-US" sz="2900" b="1" cap="none" spc="0" dirty="0">
                <a:ln w="0"/>
                <a:solidFill>
                  <a:schemeClr val="tx1"/>
                </a:solidFill>
                <a:latin typeface="Times New Roman" panose="02020603050405020304" pitchFamily="18" charset="0"/>
                <a:cs typeface="Times New Roman" panose="02020603050405020304" pitchFamily="18" charset="0"/>
              </a:rPr>
              <a:t>ey Policies and Schemes for Children</a:t>
            </a:r>
            <a:r>
              <a:rPr lang="en-US" sz="2900" b="1" dirty="0">
                <a:ln w="0"/>
                <a:solidFill>
                  <a:schemeClr val="tx1"/>
                </a:solidFill>
                <a:latin typeface="Times New Roman" panose="02020603050405020304" pitchFamily="18" charset="0"/>
                <a:cs typeface="Times New Roman" panose="02020603050405020304" pitchFamily="18" charset="0"/>
              </a:rPr>
              <a:t> </a:t>
            </a:r>
            <a:r>
              <a:rPr lang="en-US" sz="2900" dirty="0">
                <a:ln w="0"/>
                <a:solidFill>
                  <a:schemeClr val="tx1"/>
                </a:solidFill>
                <a:latin typeface="Times New Roman" panose="02020603050405020304" pitchFamily="18" charset="0"/>
                <a:cs typeface="Times New Roman" panose="02020603050405020304" pitchFamily="18" charset="0"/>
              </a:rPr>
              <a:t>include:</a:t>
            </a:r>
            <a:r>
              <a:rPr lang="en-US" sz="2900" b="0" cap="none" spc="0" dirty="0">
                <a:ln w="0"/>
                <a:solidFill>
                  <a:schemeClr val="tx1"/>
                </a:solidFill>
                <a:latin typeface="Times New Roman" panose="02020603050405020304" pitchFamily="18" charset="0"/>
                <a:cs typeface="Times New Roman" panose="02020603050405020304" pitchFamily="18" charset="0"/>
              </a:rPr>
              <a:t> </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National Policy for Children (1974, revised 2013)</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National Charter for Children </a:t>
            </a:r>
            <a:r>
              <a:rPr lang="en-US" sz="2900" dirty="0">
                <a:ln w="0"/>
                <a:solidFill>
                  <a:schemeClr val="tx1"/>
                </a:solidFill>
                <a:latin typeface="Times New Roman" panose="02020603050405020304" pitchFamily="18" charset="0"/>
                <a:cs typeface="Times New Roman" panose="02020603050405020304" pitchFamily="18" charset="0"/>
              </a:rPr>
              <a:t>(9</a:t>
            </a:r>
            <a:r>
              <a:rPr lang="en-US" sz="2900" baseline="30000" dirty="0">
                <a:ln w="0"/>
                <a:solidFill>
                  <a:schemeClr val="tx1"/>
                </a:solidFill>
                <a:latin typeface="Times New Roman" panose="02020603050405020304" pitchFamily="18" charset="0"/>
                <a:cs typeface="Times New Roman" panose="02020603050405020304" pitchFamily="18" charset="0"/>
              </a:rPr>
              <a:t>th</a:t>
            </a:r>
            <a:r>
              <a:rPr lang="en-US" sz="2900" dirty="0">
                <a:ln w="0"/>
                <a:solidFill>
                  <a:schemeClr val="tx1"/>
                </a:solidFill>
                <a:latin typeface="Times New Roman" panose="02020603050405020304" pitchFamily="18" charset="0"/>
                <a:cs typeface="Times New Roman" panose="02020603050405020304" pitchFamily="18" charset="0"/>
              </a:rPr>
              <a:t> Feb </a:t>
            </a:r>
            <a:r>
              <a:rPr lang="en-US" sz="2900" b="0" cap="none" spc="0" dirty="0">
                <a:ln w="0"/>
                <a:solidFill>
                  <a:schemeClr val="tx1"/>
                </a:solidFill>
                <a:latin typeface="Times New Roman" panose="02020603050405020304" pitchFamily="18" charset="0"/>
                <a:cs typeface="Times New Roman" panose="02020603050405020304" pitchFamily="18" charset="0"/>
              </a:rPr>
              <a:t>2004)</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National Plan of Action for Children (2005)</a:t>
            </a:r>
          </a:p>
          <a:p>
            <a:pPr algn="just">
              <a:buFont typeface="Courier New" panose="02070309020205020404" pitchFamily="49" charset="0"/>
              <a:buChar char="o"/>
            </a:pPr>
            <a:r>
              <a:rPr lang="en-US" sz="2900" dirty="0">
                <a:ln w="0"/>
                <a:solidFill>
                  <a:schemeClr val="tx1"/>
                </a:solidFill>
                <a:latin typeface="Times New Roman" panose="02020603050405020304" pitchFamily="18" charset="0"/>
                <a:cs typeface="Times New Roman" panose="02020603050405020304" pitchFamily="18" charset="0"/>
              </a:rPr>
              <a:t>The Integrated Child Protection Scheme</a:t>
            </a:r>
            <a:r>
              <a:rPr lang="en-US" sz="2900" b="0" cap="none" spc="0" dirty="0">
                <a:ln w="0"/>
                <a:solidFill>
                  <a:schemeClr val="tx1"/>
                </a:solidFill>
                <a:latin typeface="Times New Roman" panose="02020603050405020304" pitchFamily="18" charset="0"/>
                <a:cs typeface="Times New Roman" panose="02020603050405020304" pitchFamily="18" charset="0"/>
              </a:rPr>
              <a:t> (ICPS)</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Rajiv Gandhi Manav Seva Award For Service To Children</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Childline Services</a:t>
            </a:r>
          </a:p>
          <a:p>
            <a:pPr algn="just">
              <a:buFont typeface="Courier New" panose="02070309020205020404" pitchFamily="49" charset="0"/>
              <a:buChar char="o"/>
            </a:pPr>
            <a:r>
              <a:rPr lang="en-US" sz="2900" dirty="0">
                <a:ln w="0"/>
                <a:solidFill>
                  <a:schemeClr val="tx1"/>
                </a:solidFill>
                <a:latin typeface="Times New Roman" panose="02020603050405020304" pitchFamily="18" charset="0"/>
                <a:cs typeface="Times New Roman" panose="02020603050405020304" pitchFamily="18" charset="0"/>
              </a:rPr>
              <a:t>National</a:t>
            </a:r>
            <a:r>
              <a:rPr lang="en-US" sz="2900" b="0" cap="none" spc="0" dirty="0">
                <a:ln w="0"/>
                <a:solidFill>
                  <a:schemeClr val="tx1"/>
                </a:solidFill>
                <a:latin typeface="Times New Roman" panose="02020603050405020304" pitchFamily="18" charset="0"/>
                <a:cs typeface="Times New Roman" panose="02020603050405020304" pitchFamily="18" charset="0"/>
              </a:rPr>
              <a:t> Mid-Day Meal Program</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Integrated Child Development Scheme (ICDS)</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Sarva Shiksha Abhiyan</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Nutrition Programme for Adolescent Girls (NPAG)</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Kishori Shakti Yojana (KSY)</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UJJAWALA:</a:t>
            </a:r>
            <a:r>
              <a:rPr lang="en-US" sz="2900" dirty="0">
                <a:ln w="0"/>
                <a:solidFill>
                  <a:schemeClr val="tx1"/>
                </a:solidFill>
                <a:latin typeface="Times New Roman" panose="02020603050405020304" pitchFamily="18" charset="0"/>
                <a:cs typeface="Times New Roman" panose="02020603050405020304" pitchFamily="18" charset="0"/>
              </a:rPr>
              <a:t> F</a:t>
            </a:r>
            <a:r>
              <a:rPr lang="en-US" sz="2900" b="0" cap="none" spc="0" dirty="0">
                <a:ln w="0"/>
                <a:solidFill>
                  <a:schemeClr val="tx1"/>
                </a:solidFill>
                <a:latin typeface="Times New Roman" panose="02020603050405020304" pitchFamily="18" charset="0"/>
                <a:cs typeface="Times New Roman" panose="02020603050405020304" pitchFamily="18" charset="0"/>
              </a:rPr>
              <a:t>or trafficking victims</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r>
              <a:rPr lang="en-US" sz="2900" b="1" cap="none" spc="0" dirty="0">
                <a:ln w="0"/>
                <a:solidFill>
                  <a:schemeClr val="tx1"/>
                </a:solidFill>
                <a:latin typeface="Times New Roman" panose="02020603050405020304" pitchFamily="18" charset="0"/>
                <a:cs typeface="Times New Roman" panose="02020603050405020304" pitchFamily="18" charset="0"/>
              </a:rPr>
              <a:t>Key Legislations for Children in India </a:t>
            </a:r>
            <a:r>
              <a:rPr lang="en-US" sz="2900" b="0" cap="none" spc="0" dirty="0">
                <a:ln w="0"/>
                <a:solidFill>
                  <a:schemeClr val="tx1"/>
                </a:solidFill>
                <a:latin typeface="Times New Roman" panose="02020603050405020304" pitchFamily="18" charset="0"/>
                <a:cs typeface="Times New Roman" panose="02020603050405020304" pitchFamily="18" charset="0"/>
              </a:rPr>
              <a:t>include:</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Protection of Children From Sexual Offences Act (2012)</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Child (Pledging of Labour) Act,1933</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Child Labour (Prohibition and Regulation) Act, 1986</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Juvenile Justice Acts (2000–2011)</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Prohibition of Child Marriage Act (2006)</a:t>
            </a:r>
          </a:p>
          <a:p>
            <a:endParaRPr lang="en-IN" dirty="0"/>
          </a:p>
        </p:txBody>
      </p:sp>
    </p:spTree>
    <p:extLst>
      <p:ext uri="{BB962C8B-B14F-4D97-AF65-F5344CB8AC3E}">
        <p14:creationId xmlns:p14="http://schemas.microsoft.com/office/powerpoint/2010/main" val="2048849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extLst>
              <a:ext uri="{BEBA8EAE-BF5A-486C-A8C5-ECC9F3942E4B}">
                <a14:imgProps xmlns:a14="http://schemas.microsoft.com/office/drawing/2010/main">
                  <a14:imgLayer r:embed="rId3">
                    <a14:imgEffect>
                      <a14:saturation sat="183000"/>
                    </a14:imgEffect>
                  </a14:imgLayer>
                </a14:imgProps>
              </a:ext>
            </a:extLst>
          </a:blip>
          <a:tile tx="0" ty="0" sx="100000" sy="100000" flip="none" algn="tl"/>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8DC87F-44F6-1F9F-AA01-6F3474B76B27}"/>
              </a:ext>
            </a:extLst>
          </p:cNvPr>
          <p:cNvSpPr>
            <a:spLocks noGrp="1"/>
          </p:cNvSpPr>
          <p:nvPr>
            <p:ph sz="quarter" idx="13"/>
          </p:nvPr>
        </p:nvSpPr>
        <p:spPr>
          <a:xfrm>
            <a:off x="176981" y="0"/>
            <a:ext cx="12015019" cy="6858000"/>
          </a:xfrm>
        </p:spPr>
        <p:txBody>
          <a:bodyPr>
            <a:normAutofit fontScale="70000" lnSpcReduction="20000"/>
          </a:bodyPr>
          <a:lstStyle/>
          <a:p>
            <a:pPr algn="just">
              <a:buFont typeface="Courier New" panose="02070309020205020404" pitchFamily="49" charset="0"/>
              <a:buChar char="o"/>
            </a:pPr>
            <a:r>
              <a:rPr lang="en-US" sz="2600" b="0" cap="none" spc="0" dirty="0">
                <a:ln w="0"/>
                <a:solidFill>
                  <a:schemeClr val="tx1"/>
                </a:solidFill>
                <a:latin typeface="Times New Roman" panose="02020603050405020304" pitchFamily="18" charset="0"/>
                <a:cs typeface="Times New Roman" panose="02020603050405020304" pitchFamily="18" charset="0"/>
              </a:rPr>
              <a:t>Right of Children to Free and Compulsory Education Act (2009)</a:t>
            </a:r>
          </a:p>
          <a:p>
            <a:pPr algn="just">
              <a:buFont typeface="Courier New" panose="02070309020205020404" pitchFamily="49" charset="0"/>
              <a:buChar char="o"/>
            </a:pPr>
            <a:r>
              <a:rPr lang="en-US" sz="2600" b="0" cap="none" spc="0" dirty="0">
                <a:ln w="0"/>
                <a:solidFill>
                  <a:schemeClr val="tx1"/>
                </a:solidFill>
                <a:latin typeface="Times New Roman" panose="02020603050405020304" pitchFamily="18" charset="0"/>
                <a:cs typeface="Times New Roman" panose="02020603050405020304" pitchFamily="18" charset="0"/>
              </a:rPr>
              <a:t>Immoral Traffic (Prevention) Act, 1956</a:t>
            </a:r>
            <a:endParaRPr lang="en-US" sz="2600" b="1" u="sng" cap="none" spc="0" dirty="0">
              <a:ln w="0"/>
              <a:solidFill>
                <a:schemeClr val="tx1"/>
              </a:solidFill>
              <a:latin typeface="Times New Roman" panose="02020603050405020304" pitchFamily="18" charset="0"/>
              <a:cs typeface="Times New Roman" panose="02020603050405020304" pitchFamily="18" charset="0"/>
            </a:endParaRPr>
          </a:p>
          <a:p>
            <a:pPr algn="just"/>
            <a:r>
              <a:rPr lang="en-US" sz="2600" b="1" u="sng" cap="none" spc="0" dirty="0">
                <a:ln w="0"/>
                <a:solidFill>
                  <a:schemeClr val="tx1"/>
                </a:solidFill>
                <a:latin typeface="Times New Roman" panose="02020603050405020304" pitchFamily="18" charset="0"/>
                <a:cs typeface="Times New Roman" panose="02020603050405020304" pitchFamily="18" charset="0"/>
              </a:rPr>
              <a:t>The Indian P</a:t>
            </a:r>
            <a:r>
              <a:rPr lang="en-US" sz="2600" b="1" u="sng" dirty="0">
                <a:ln w="0"/>
                <a:solidFill>
                  <a:schemeClr val="tx1"/>
                </a:solidFill>
                <a:latin typeface="Times New Roman" panose="02020603050405020304" pitchFamily="18" charset="0"/>
                <a:cs typeface="Times New Roman" panose="02020603050405020304" pitchFamily="18" charset="0"/>
              </a:rPr>
              <a:t>enal Code (IPC)</a:t>
            </a:r>
            <a:endParaRPr lang="en-US" sz="2600" b="1" u="sng" cap="none" spc="0" dirty="0">
              <a:ln w="0"/>
              <a:solidFill>
                <a:schemeClr val="tx1"/>
              </a:solidFill>
              <a:latin typeface="Times New Roman" panose="02020603050405020304" pitchFamily="18" charset="0"/>
              <a:cs typeface="Times New Roman" panose="02020603050405020304" pitchFamily="18" charset="0"/>
            </a:endParaRP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Section 82:</a:t>
            </a:r>
            <a:r>
              <a:rPr lang="en-US" sz="2600" b="0" cap="none" spc="0" dirty="0">
                <a:ln w="0"/>
                <a:solidFill>
                  <a:schemeClr val="tx1"/>
                </a:solidFill>
                <a:latin typeface="Times New Roman" panose="02020603050405020304" pitchFamily="18" charset="0"/>
                <a:cs typeface="Times New Roman" panose="02020603050405020304" pitchFamily="18" charset="0"/>
              </a:rPr>
              <a:t> A child below 7 years cannot be held criminally responsible.</a:t>
            </a: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Section 83: </a:t>
            </a:r>
            <a:r>
              <a:rPr lang="en-US" sz="2600" b="0" cap="none" spc="0" dirty="0">
                <a:ln w="0"/>
                <a:solidFill>
                  <a:schemeClr val="tx1"/>
                </a:solidFill>
                <a:latin typeface="Times New Roman" panose="02020603050405020304" pitchFamily="18" charset="0"/>
                <a:cs typeface="Times New Roman" panose="02020603050405020304" pitchFamily="18" charset="0"/>
              </a:rPr>
              <a:t>A child aged 7 to 12 years may also be excused if they lack sufficient maturity to understand the nature and consequences of their act.</a:t>
            </a:r>
          </a:p>
          <a:p>
            <a:pPr algn="just"/>
            <a:r>
              <a:rPr lang="en-US" sz="2600" b="1" i="1" u="sng" cap="none" spc="0" dirty="0">
                <a:ln w="0"/>
                <a:solidFill>
                  <a:schemeClr val="tx1"/>
                </a:solidFill>
                <a:latin typeface="Times New Roman" panose="02020603050405020304" pitchFamily="18" charset="0"/>
                <a:cs typeface="Times New Roman" panose="02020603050405020304" pitchFamily="18" charset="0"/>
              </a:rPr>
              <a:t>Section 315 &amp; 316 </a:t>
            </a:r>
            <a:r>
              <a:rPr lang="en-US" sz="2600" b="0" cap="none" spc="0" dirty="0">
                <a:ln w="0"/>
                <a:solidFill>
                  <a:schemeClr val="tx1"/>
                </a:solidFill>
                <a:latin typeface="Times New Roman" panose="02020603050405020304" pitchFamily="18" charset="0"/>
                <a:cs typeface="Times New Roman" panose="02020603050405020304" pitchFamily="18" charset="0"/>
              </a:rPr>
              <a:t>– Foeticide and Infanticide </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315: </a:t>
            </a:r>
            <a:r>
              <a:rPr lang="en-US" sz="2600" b="0" cap="none" spc="0" dirty="0">
                <a:ln w="0"/>
                <a:solidFill>
                  <a:schemeClr val="tx1"/>
                </a:solidFill>
                <a:latin typeface="Times New Roman" panose="02020603050405020304" pitchFamily="18" charset="0"/>
                <a:cs typeface="Times New Roman" panose="02020603050405020304" pitchFamily="18" charset="0"/>
              </a:rPr>
              <a:t>Causing the death of an unborn child with the intent to prevent birth (unless done to save the mother) is punishable. </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316: </a:t>
            </a:r>
            <a:r>
              <a:rPr lang="en-US" sz="2600" b="0" cap="none" spc="0" dirty="0">
                <a:ln w="0"/>
                <a:solidFill>
                  <a:schemeClr val="tx1"/>
                </a:solidFill>
                <a:latin typeface="Times New Roman" panose="02020603050405020304" pitchFamily="18" charset="0"/>
                <a:cs typeface="Times New Roman" panose="02020603050405020304" pitchFamily="18" charset="0"/>
              </a:rPr>
              <a:t>Causing the death of a quick unborn child amounts to culpable homicide.</a:t>
            </a:r>
            <a:endParaRPr lang="en-US" sz="2600" dirty="0">
              <a:ln w="0"/>
              <a:solidFill>
                <a:schemeClr val="tx1"/>
              </a:solidFill>
              <a:latin typeface="Times New Roman" panose="02020603050405020304" pitchFamily="18" charset="0"/>
              <a:cs typeface="Times New Roman" panose="02020603050405020304" pitchFamily="18" charset="0"/>
            </a:endParaRP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Section 305 </a:t>
            </a:r>
            <a:r>
              <a:rPr lang="en-US" sz="2600" b="0" cap="none" spc="0" dirty="0">
                <a:ln w="0"/>
                <a:solidFill>
                  <a:schemeClr val="tx1"/>
                </a:solidFill>
                <a:latin typeface="Times New Roman" panose="02020603050405020304" pitchFamily="18" charset="0"/>
                <a:cs typeface="Times New Roman" panose="02020603050405020304" pitchFamily="18" charset="0"/>
              </a:rPr>
              <a:t>– Abetment of Suicide of a </a:t>
            </a:r>
            <a:r>
              <a:rPr lang="en-US" sz="2600" dirty="0">
                <a:ln w="0"/>
                <a:solidFill>
                  <a:schemeClr val="tx1"/>
                </a:solidFill>
                <a:latin typeface="Times New Roman" panose="02020603050405020304" pitchFamily="18" charset="0"/>
                <a:cs typeface="Times New Roman" panose="02020603050405020304" pitchFamily="18" charset="0"/>
              </a:rPr>
              <a:t>m</a:t>
            </a:r>
            <a:r>
              <a:rPr lang="en-US" sz="2600" b="0" cap="none" spc="0" dirty="0">
                <a:ln w="0"/>
                <a:solidFill>
                  <a:schemeClr val="tx1"/>
                </a:solidFill>
                <a:latin typeface="Times New Roman" panose="02020603050405020304" pitchFamily="18" charset="0"/>
                <a:cs typeface="Times New Roman" panose="02020603050405020304" pitchFamily="18" charset="0"/>
              </a:rPr>
              <a:t>inor. If anyone encourages or helps a child under 18 years to commit suicide, it is a punishable offence.</a:t>
            </a: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Section 317 </a:t>
            </a:r>
            <a:r>
              <a:rPr lang="en-US" sz="2600" b="0" cap="none" spc="0" dirty="0">
                <a:ln w="0"/>
                <a:solidFill>
                  <a:schemeClr val="tx1"/>
                </a:solidFill>
                <a:latin typeface="Times New Roman" panose="02020603050405020304" pitchFamily="18" charset="0"/>
                <a:cs typeface="Times New Roman" panose="02020603050405020304" pitchFamily="18" charset="0"/>
              </a:rPr>
              <a:t>– Abandonment of Child. A parent or guardian leaving a child with the intention of abandonment is punishable. If the child dies due to this, charges may escalate to culpable homicide or murder.</a:t>
            </a:r>
            <a:endParaRPr lang="en-US" sz="2600" dirty="0">
              <a:ln w="0"/>
              <a:solidFill>
                <a:schemeClr val="tx1"/>
              </a:solidFill>
              <a:latin typeface="Times New Roman" panose="02020603050405020304" pitchFamily="18" charset="0"/>
              <a:cs typeface="Times New Roman" panose="02020603050405020304" pitchFamily="18" charset="0"/>
            </a:endParaRP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 Sections 360–369 </a:t>
            </a:r>
            <a:r>
              <a:rPr lang="en-US" sz="2600" b="0" cap="none" spc="0" dirty="0">
                <a:ln w="0"/>
                <a:solidFill>
                  <a:schemeClr val="tx1"/>
                </a:solidFill>
                <a:latin typeface="Times New Roman" panose="02020603050405020304" pitchFamily="18" charset="0"/>
                <a:cs typeface="Times New Roman" panose="02020603050405020304" pitchFamily="18" charset="0"/>
              </a:rPr>
              <a:t>– Kidnapping and Abduction</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360: </a:t>
            </a:r>
            <a:r>
              <a:rPr lang="en-US" sz="2600" b="0" cap="none" spc="0" dirty="0">
                <a:ln w="0"/>
                <a:solidFill>
                  <a:schemeClr val="tx1"/>
                </a:solidFill>
                <a:latin typeface="Times New Roman" panose="02020603050405020304" pitchFamily="18" charset="0"/>
                <a:cs typeface="Times New Roman" panose="02020603050405020304" pitchFamily="18" charset="0"/>
              </a:rPr>
              <a:t>Kidnapping by taking a person beyond India’s borders without consent.</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361: </a:t>
            </a:r>
            <a:r>
              <a:rPr lang="en-US" sz="2600" b="0" cap="none" spc="0" dirty="0">
                <a:ln w="0"/>
                <a:solidFill>
                  <a:schemeClr val="tx1"/>
                </a:solidFill>
                <a:latin typeface="Times New Roman" panose="02020603050405020304" pitchFamily="18" charset="0"/>
                <a:cs typeface="Times New Roman" panose="02020603050405020304" pitchFamily="18" charset="0"/>
              </a:rPr>
              <a:t>Taking a male under 16 or female under 18 from lawful guardianship is kidnapping.</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362: </a:t>
            </a:r>
            <a:r>
              <a:rPr lang="en-US" sz="2600" b="0" cap="none" spc="0" dirty="0">
                <a:ln w="0"/>
                <a:solidFill>
                  <a:schemeClr val="tx1"/>
                </a:solidFill>
                <a:latin typeface="Times New Roman" panose="02020603050405020304" pitchFamily="18" charset="0"/>
                <a:cs typeface="Times New Roman" panose="02020603050405020304" pitchFamily="18" charset="0"/>
              </a:rPr>
              <a:t>Abduction using force, deceit, or compulsion.</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363A: </a:t>
            </a:r>
            <a:r>
              <a:rPr lang="en-US" sz="2600" b="0" cap="none" spc="0" dirty="0">
                <a:ln w="0"/>
                <a:solidFill>
                  <a:schemeClr val="tx1"/>
                </a:solidFill>
                <a:latin typeface="Times New Roman" panose="02020603050405020304" pitchFamily="18" charset="0"/>
                <a:cs typeface="Times New Roman" panose="02020603050405020304" pitchFamily="18" charset="0"/>
              </a:rPr>
              <a:t>Kidnapping or maiming a child for begging; employing a child for begging without being the guardian is presumed kidnapping.</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364: </a:t>
            </a:r>
            <a:r>
              <a:rPr lang="en-US" sz="2600" b="0" cap="none" spc="0" dirty="0">
                <a:ln w="0"/>
                <a:solidFill>
                  <a:schemeClr val="tx1"/>
                </a:solidFill>
                <a:latin typeface="Times New Roman" panose="02020603050405020304" pitchFamily="18" charset="0"/>
                <a:cs typeface="Times New Roman" panose="02020603050405020304" pitchFamily="18" charset="0"/>
              </a:rPr>
              <a:t>Kidnapping with intent to murder.</a:t>
            </a:r>
          </a:p>
          <a:p>
            <a:endParaRPr lang="en-IN" dirty="0"/>
          </a:p>
        </p:txBody>
      </p:sp>
    </p:spTree>
    <p:extLst>
      <p:ext uri="{BB962C8B-B14F-4D97-AF65-F5344CB8AC3E}">
        <p14:creationId xmlns:p14="http://schemas.microsoft.com/office/powerpoint/2010/main" val="3904338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0"/>
                <a:lumOff val="100000"/>
              </a:schemeClr>
            </a:gs>
            <a:gs pos="9000">
              <a:schemeClr val="accent5">
                <a:lumMod val="0"/>
                <a:lumOff val="100000"/>
              </a:schemeClr>
            </a:gs>
            <a:gs pos="84000">
              <a:schemeClr val="accent5">
                <a:lumMod val="100000"/>
              </a:schemeClr>
            </a:gs>
          </a:gsLst>
          <a:lin ang="27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E85E50-AEC2-1A5F-CBE4-31ED8190C708}"/>
              </a:ext>
            </a:extLst>
          </p:cNvPr>
          <p:cNvSpPr>
            <a:spLocks noGrp="1"/>
          </p:cNvSpPr>
          <p:nvPr>
            <p:ph sz="quarter" idx="13"/>
          </p:nvPr>
        </p:nvSpPr>
        <p:spPr>
          <a:xfrm>
            <a:off x="186813" y="0"/>
            <a:ext cx="12005187" cy="6858000"/>
          </a:xfrm>
        </p:spPr>
        <p:txBody>
          <a:bodyPr/>
          <a:lstStyle/>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364A: </a:t>
            </a:r>
            <a:r>
              <a:rPr lang="en-US" sz="1800" b="0" cap="none" spc="0" dirty="0">
                <a:ln w="0"/>
                <a:solidFill>
                  <a:schemeClr val="tx1"/>
                </a:solidFill>
                <a:latin typeface="Times New Roman" panose="02020603050405020304" pitchFamily="18" charset="0"/>
                <a:cs typeface="Times New Roman" panose="02020603050405020304" pitchFamily="18" charset="0"/>
              </a:rPr>
              <a:t>Ransom kidnapping – kidnapping with threats to harm or kill for demanding government or others to act.</a:t>
            </a:r>
            <a:endParaRPr lang="en-US" sz="1800" b="1" i="1"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365:</a:t>
            </a:r>
            <a:r>
              <a:rPr lang="en-US" sz="1800" b="0" cap="none" spc="0" dirty="0">
                <a:ln w="0"/>
                <a:solidFill>
                  <a:schemeClr val="tx1"/>
                </a:solidFill>
                <a:latin typeface="Times New Roman" panose="02020603050405020304" pitchFamily="18" charset="0"/>
                <a:cs typeface="Times New Roman" panose="02020603050405020304" pitchFamily="18" charset="0"/>
              </a:rPr>
              <a:t> Kidnapping to confine someone secretly or wrongfully.</a:t>
            </a:r>
            <a:endParaRPr lang="en-US" sz="1800" b="1" i="1"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366 &amp; 366A: </a:t>
            </a:r>
            <a:r>
              <a:rPr lang="en-US" sz="1800" b="0" cap="none" spc="0" dirty="0">
                <a:ln w="0"/>
                <a:solidFill>
                  <a:schemeClr val="tx1"/>
                </a:solidFill>
                <a:latin typeface="Times New Roman" panose="02020603050405020304" pitchFamily="18" charset="0"/>
                <a:cs typeface="Times New Roman" panose="02020603050405020304" pitchFamily="18" charset="0"/>
              </a:rPr>
              <a:t>Kidnapping a woman or girl under 18 to force marriage or sexual exploitation. </a:t>
            </a:r>
            <a:endParaRPr lang="en-US" sz="1800" b="1" i="1"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367: </a:t>
            </a:r>
            <a:r>
              <a:rPr lang="en-US" sz="1800" b="0" cap="none" spc="0" dirty="0">
                <a:ln w="0"/>
                <a:solidFill>
                  <a:schemeClr val="tx1"/>
                </a:solidFill>
                <a:latin typeface="Times New Roman" panose="02020603050405020304" pitchFamily="18" charset="0"/>
                <a:cs typeface="Times New Roman" panose="02020603050405020304" pitchFamily="18" charset="0"/>
              </a:rPr>
              <a:t>Kidnapping for grievous hurt, slavery, or unnatural lust.</a:t>
            </a:r>
            <a:endParaRPr lang="en-US" sz="1800" b="1" i="1"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369</a:t>
            </a:r>
            <a:r>
              <a:rPr lang="en-US" sz="1800" b="0" cap="none" spc="0" dirty="0">
                <a:ln w="0"/>
                <a:solidFill>
                  <a:schemeClr val="tx1"/>
                </a:solidFill>
                <a:latin typeface="Times New Roman" panose="02020603050405020304" pitchFamily="18" charset="0"/>
                <a:cs typeface="Times New Roman" panose="02020603050405020304" pitchFamily="18" charset="0"/>
              </a:rPr>
              <a:t>: Kidnapping a child under 10 to steal property from them.</a:t>
            </a:r>
          </a:p>
          <a:p>
            <a:pPr algn="just"/>
            <a:r>
              <a:rPr lang="en-US" sz="1800" b="1" i="1" u="sng" cap="none" spc="0" dirty="0">
                <a:ln w="0"/>
                <a:solidFill>
                  <a:schemeClr val="tx1"/>
                </a:solidFill>
                <a:latin typeface="Times New Roman" panose="02020603050405020304" pitchFamily="18" charset="0"/>
                <a:cs typeface="Times New Roman" panose="02020603050405020304" pitchFamily="18" charset="0"/>
              </a:rPr>
              <a:t> Section 372 &amp; 373</a:t>
            </a:r>
            <a:r>
              <a:rPr lang="en-US" sz="1800" b="0" u="sng" cap="none" spc="0" dirty="0">
                <a:ln w="0"/>
                <a:solidFill>
                  <a:schemeClr val="tx1"/>
                </a:solidFill>
                <a:latin typeface="Times New Roman" panose="02020603050405020304" pitchFamily="18" charset="0"/>
                <a:cs typeface="Times New Roman" panose="02020603050405020304" pitchFamily="18" charset="0"/>
              </a:rPr>
              <a:t> </a:t>
            </a:r>
            <a:r>
              <a:rPr lang="en-US" sz="1800" b="0" cap="none" spc="0" dirty="0">
                <a:ln w="0"/>
                <a:solidFill>
                  <a:schemeClr val="tx1"/>
                </a:solidFill>
                <a:latin typeface="Times New Roman" panose="02020603050405020304" pitchFamily="18" charset="0"/>
                <a:cs typeface="Times New Roman" panose="02020603050405020304" pitchFamily="18" charset="0"/>
              </a:rPr>
              <a:t>– Child Trafficking for Prostitution </a:t>
            </a: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372: </a:t>
            </a:r>
            <a:r>
              <a:rPr lang="en-US" sz="1800" b="0" cap="none" spc="0" dirty="0">
                <a:ln w="0"/>
                <a:solidFill>
                  <a:schemeClr val="tx1"/>
                </a:solidFill>
                <a:latin typeface="Times New Roman" panose="02020603050405020304" pitchFamily="18" charset="0"/>
                <a:cs typeface="Times New Roman" panose="02020603050405020304" pitchFamily="18" charset="0"/>
              </a:rPr>
              <a:t>Selling a child under 18 for prostitution or sexual acts is punishable.</a:t>
            </a: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373: </a:t>
            </a:r>
            <a:r>
              <a:rPr lang="en-US" sz="1800" b="0" cap="none" spc="0" dirty="0">
                <a:ln w="0"/>
                <a:solidFill>
                  <a:schemeClr val="tx1"/>
                </a:solidFill>
                <a:latin typeface="Times New Roman" panose="02020603050405020304" pitchFamily="18" charset="0"/>
                <a:cs typeface="Times New Roman" panose="02020603050405020304" pitchFamily="18" charset="0"/>
              </a:rPr>
              <a:t>Buying such a child for the same purpose is equally punishable.</a:t>
            </a:r>
          </a:p>
          <a:p>
            <a:endParaRPr lang="en-IN" dirty="0"/>
          </a:p>
        </p:txBody>
      </p:sp>
      <p:pic>
        <p:nvPicPr>
          <p:cNvPr id="4" name="Picture 3">
            <a:extLst>
              <a:ext uri="{FF2B5EF4-FFF2-40B4-BE49-F238E27FC236}">
                <a16:creationId xmlns:a16="http://schemas.microsoft.com/office/drawing/2014/main" id="{7CC737C6-7443-3870-7056-F86860FA8D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287" y="3631969"/>
            <a:ext cx="9788237" cy="2550622"/>
          </a:xfrm>
          <a:prstGeom prst="rect">
            <a:avLst/>
          </a:prstGeom>
        </p:spPr>
      </p:pic>
    </p:spTree>
    <p:extLst>
      <p:ext uri="{BB962C8B-B14F-4D97-AF65-F5344CB8AC3E}">
        <p14:creationId xmlns:p14="http://schemas.microsoft.com/office/powerpoint/2010/main" val="2096620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bg2">
                <a:tint val="90000"/>
                <a:satMod val="92000"/>
                <a:lumMod val="120000"/>
              </a:schemeClr>
            </a:gs>
            <a:gs pos="98000">
              <a:schemeClr val="accent6"/>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7019-9A7A-F24C-8DB4-595D6827AAA1}"/>
              </a:ext>
            </a:extLst>
          </p:cNvPr>
          <p:cNvSpPr>
            <a:spLocks noGrp="1"/>
          </p:cNvSpPr>
          <p:nvPr>
            <p:ph type="title"/>
          </p:nvPr>
        </p:nvSpPr>
        <p:spPr>
          <a:xfrm>
            <a:off x="1514168" y="186812"/>
            <a:ext cx="8957187" cy="747251"/>
          </a:xfrm>
        </p:spPr>
        <p:txBody>
          <a:bodyPr>
            <a:normAutofit fontScale="90000"/>
          </a:bodyPr>
          <a:lstStyle/>
          <a:p>
            <a:r>
              <a:rPr lang="en-US" sz="4000" b="1" u="sng" dirty="0">
                <a:latin typeface="Times New Roman" panose="02020603050405020304" pitchFamily="18" charset="0"/>
                <a:cs typeface="Times New Roman" panose="02020603050405020304" pitchFamily="18" charset="0"/>
              </a:rPr>
              <a:t>Annexure</a:t>
            </a:r>
            <a:r>
              <a:rPr lang="en-US" b="1" u="sng" dirty="0">
                <a:latin typeface="Times New Roman" panose="02020603050405020304" pitchFamily="18" charset="0"/>
                <a:cs typeface="Times New Roman" panose="02020603050405020304" pitchFamily="18" charset="0"/>
              </a:rPr>
              <a:t> 2. Informed Consent Form Template</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D446DCF-419D-AB19-9B19-BC218BB20776}"/>
              </a:ext>
            </a:extLst>
          </p:cNvPr>
          <p:cNvSpPr>
            <a:spLocks noGrp="1"/>
          </p:cNvSpPr>
          <p:nvPr>
            <p:ph sz="quarter" idx="13"/>
          </p:nvPr>
        </p:nvSpPr>
        <p:spPr>
          <a:xfrm>
            <a:off x="186813" y="1101213"/>
            <a:ext cx="12005187" cy="5756786"/>
          </a:xfrm>
        </p:spPr>
        <p:txBody>
          <a:bodyPr/>
          <a:lstStyle/>
          <a:p>
            <a:pPr algn="just"/>
            <a:r>
              <a:rPr lang="en-US" sz="1800" b="1" cap="none" spc="0" dirty="0">
                <a:ln w="0"/>
                <a:solidFill>
                  <a:schemeClr val="tx1"/>
                </a:solidFill>
                <a:latin typeface="Times New Roman" panose="02020603050405020304" pitchFamily="18" charset="0"/>
                <a:cs typeface="Times New Roman" panose="02020603050405020304" pitchFamily="18" charset="0"/>
              </a:rPr>
              <a:t>1.</a:t>
            </a:r>
            <a:r>
              <a:rPr lang="en-US" sz="1800" b="0" cap="none" spc="0" dirty="0">
                <a:ln w="0"/>
                <a:solidFill>
                  <a:schemeClr val="tx1"/>
                </a:solidFill>
                <a:latin typeface="Times New Roman" panose="02020603050405020304" pitchFamily="18" charset="0"/>
                <a:cs typeface="Times New Roman" panose="02020603050405020304" pitchFamily="18" charset="0"/>
              </a:rPr>
              <a:t> </a:t>
            </a:r>
            <a:r>
              <a:rPr lang="en-US" sz="1800" b="1" u="sng" cap="none" spc="0" dirty="0">
                <a:ln w="0"/>
                <a:solidFill>
                  <a:schemeClr val="tx1"/>
                </a:solidFill>
                <a:latin typeface="Times New Roman" panose="02020603050405020304" pitchFamily="18" charset="0"/>
                <a:cs typeface="Times New Roman" panose="02020603050405020304" pitchFamily="18" charset="0"/>
              </a:rPr>
              <a:t>Title, Objective, and Procedure</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Procedure includes intervention title, program goal, and step-by-step process. </a:t>
            </a:r>
            <a:r>
              <a:rPr lang="en-US" dirty="0">
                <a:ln w="0"/>
                <a:solidFill>
                  <a:schemeClr val="tx1"/>
                </a:solidFill>
                <a:latin typeface="Times New Roman" panose="02020603050405020304" pitchFamily="18" charset="0"/>
                <a:cs typeface="Times New Roman" panose="02020603050405020304" pitchFamily="18" charset="0"/>
              </a:rPr>
              <a:t>It m</a:t>
            </a:r>
            <a:r>
              <a:rPr lang="en-US" sz="1800" b="0" cap="none" spc="0" dirty="0">
                <a:ln w="0"/>
                <a:solidFill>
                  <a:schemeClr val="tx1"/>
                </a:solidFill>
                <a:latin typeface="Times New Roman" panose="02020603050405020304" pitchFamily="18" charset="0"/>
                <a:cs typeface="Times New Roman" panose="02020603050405020304" pitchFamily="18" charset="0"/>
              </a:rPr>
              <a:t>entions whether photography/filming will occur.</a:t>
            </a:r>
          </a:p>
          <a:p>
            <a:pPr algn="just"/>
            <a:r>
              <a:rPr lang="en-US" sz="1800" b="1" cap="none" spc="0" dirty="0">
                <a:ln w="0"/>
                <a:solidFill>
                  <a:schemeClr val="tx1"/>
                </a:solidFill>
                <a:latin typeface="Times New Roman" panose="02020603050405020304" pitchFamily="18" charset="0"/>
                <a:cs typeface="Times New Roman" panose="02020603050405020304" pitchFamily="18" charset="0"/>
              </a:rPr>
              <a:t>2. </a:t>
            </a:r>
            <a:r>
              <a:rPr lang="en-US" sz="1800" b="1" u="sng" cap="none" spc="0" dirty="0">
                <a:ln w="0"/>
                <a:solidFill>
                  <a:schemeClr val="tx1"/>
                </a:solidFill>
                <a:latin typeface="Times New Roman" panose="02020603050405020304" pitchFamily="18" charset="0"/>
                <a:cs typeface="Times New Roman" panose="02020603050405020304" pitchFamily="18" charset="0"/>
              </a:rPr>
              <a:t>Consent of the Child</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Child voluntarily agrees to participate. Acknowledges understanding of the program purpose. Agrees that media (photos/videos/responses) may be used globally by CRY for child rights promotion and development. Acknowledges parental consent has been obtained. Right to withdraw at any time is assured.</a:t>
            </a:r>
          </a:p>
          <a:p>
            <a:pPr algn="just"/>
            <a:r>
              <a:rPr lang="en-US" sz="1800" b="1" cap="none" spc="0" dirty="0">
                <a:ln w="0"/>
                <a:solidFill>
                  <a:schemeClr val="tx1"/>
                </a:solidFill>
                <a:latin typeface="Times New Roman" panose="02020603050405020304" pitchFamily="18" charset="0"/>
                <a:cs typeface="Times New Roman" panose="02020603050405020304" pitchFamily="18" charset="0"/>
              </a:rPr>
              <a:t>3.</a:t>
            </a:r>
            <a:r>
              <a:rPr lang="en-US" sz="1800" b="0" cap="none" spc="0" dirty="0">
                <a:ln w="0"/>
                <a:solidFill>
                  <a:schemeClr val="tx1"/>
                </a:solidFill>
                <a:latin typeface="Times New Roman" panose="02020603050405020304" pitchFamily="18" charset="0"/>
                <a:cs typeface="Times New Roman" panose="02020603050405020304" pitchFamily="18" charset="0"/>
              </a:rPr>
              <a:t> </a:t>
            </a:r>
            <a:r>
              <a:rPr lang="en-US" sz="1800" b="1" u="sng" cap="none" spc="0" dirty="0">
                <a:ln w="0"/>
                <a:solidFill>
                  <a:schemeClr val="tx1"/>
                </a:solidFill>
                <a:latin typeface="Times New Roman" panose="02020603050405020304" pitchFamily="18" charset="0"/>
                <a:cs typeface="Times New Roman" panose="02020603050405020304" pitchFamily="18" charset="0"/>
              </a:rPr>
              <a:t>Consent of the Parents/Guardian.</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Confirms no objection to child’s voluntary participation. Accepts that responses and media may be shared with stakeholders via various platforms. Acknowledges use of data for social development and child rights promotion.</a:t>
            </a:r>
          </a:p>
          <a:p>
            <a:pPr algn="just"/>
            <a:r>
              <a:rPr lang="en-US" sz="1800" b="1" cap="none" spc="0" dirty="0">
                <a:ln w="0"/>
                <a:solidFill>
                  <a:schemeClr val="tx1"/>
                </a:solidFill>
                <a:latin typeface="Times New Roman" panose="02020603050405020304" pitchFamily="18" charset="0"/>
                <a:cs typeface="Times New Roman" panose="02020603050405020304" pitchFamily="18" charset="0"/>
              </a:rPr>
              <a:t>4. </a:t>
            </a:r>
            <a:r>
              <a:rPr lang="en-US" b="1" u="sng" dirty="0">
                <a:ln w="0"/>
                <a:solidFill>
                  <a:schemeClr val="tx1"/>
                </a:solidFill>
                <a:latin typeface="Times New Roman" panose="02020603050405020304" pitchFamily="18" charset="0"/>
                <a:cs typeface="Times New Roman" panose="02020603050405020304" pitchFamily="18" charset="0"/>
              </a:rPr>
              <a:t>For Project Partner</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Confirms project partner has explained the program to parents. </a:t>
            </a:r>
            <a:r>
              <a:rPr lang="en-US" dirty="0">
                <a:ln w="0"/>
                <a:solidFill>
                  <a:schemeClr val="tx1"/>
                </a:solidFill>
                <a:latin typeface="Times New Roman" panose="02020603050405020304" pitchFamily="18" charset="0"/>
                <a:cs typeface="Times New Roman" panose="02020603050405020304" pitchFamily="18" charset="0"/>
              </a:rPr>
              <a:t>Parents have agreed to allow child participation and to respond to future questions.</a:t>
            </a:r>
          </a:p>
          <a:p>
            <a:pPr algn="just"/>
            <a:r>
              <a:rPr lang="en-US" sz="1800" b="1" cap="none" spc="0" dirty="0">
                <a:ln w="0"/>
                <a:solidFill>
                  <a:schemeClr val="tx1"/>
                </a:solidFill>
                <a:latin typeface="Times New Roman" panose="02020603050405020304" pitchFamily="18" charset="0"/>
                <a:cs typeface="Times New Roman" panose="02020603050405020304" pitchFamily="18" charset="0"/>
              </a:rPr>
              <a:t>5. </a:t>
            </a:r>
            <a:r>
              <a:rPr lang="en-US" sz="1800" b="1" u="sng" cap="none" spc="0" dirty="0">
                <a:ln w="0"/>
                <a:solidFill>
                  <a:schemeClr val="tx1"/>
                </a:solidFill>
                <a:latin typeface="Times New Roman" panose="02020603050405020304" pitchFamily="18" charset="0"/>
                <a:cs typeface="Times New Roman" panose="02020603050405020304" pitchFamily="18" charset="0"/>
              </a:rPr>
              <a:t>C</a:t>
            </a:r>
            <a:r>
              <a:rPr lang="en-US" b="1" u="sng" dirty="0">
                <a:ln w="0"/>
                <a:solidFill>
                  <a:schemeClr val="tx1"/>
                </a:solidFill>
                <a:latin typeface="Times New Roman" panose="02020603050405020304" pitchFamily="18" charset="0"/>
                <a:cs typeface="Times New Roman" panose="02020603050405020304" pitchFamily="18" charset="0"/>
              </a:rPr>
              <a:t>onsent by third party</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In cases, where parents/ guardian/ children cannot read/ write, a neutral person as a teacher or volunteer can explain the form and provide a signature on their behalf. They confirm that the informed consent form was clearly explained to the family.  </a:t>
            </a:r>
          </a:p>
          <a:p>
            <a:endParaRPr lang="en-IN" dirty="0"/>
          </a:p>
        </p:txBody>
      </p:sp>
    </p:spTree>
    <p:extLst>
      <p:ext uri="{BB962C8B-B14F-4D97-AF65-F5344CB8AC3E}">
        <p14:creationId xmlns:p14="http://schemas.microsoft.com/office/powerpoint/2010/main" val="23374443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67000"/>
              </a:schemeClr>
            </a:gs>
            <a:gs pos="7000">
              <a:schemeClr val="accent4">
                <a:lumMod val="97000"/>
                <a:lumOff val="3000"/>
              </a:schemeClr>
            </a:gs>
            <a:gs pos="25000">
              <a:schemeClr val="accent4">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31D3B-2C47-91E5-7D04-B1C92E2731B5}"/>
              </a:ext>
            </a:extLst>
          </p:cNvPr>
          <p:cNvSpPr>
            <a:spLocks noGrp="1"/>
          </p:cNvSpPr>
          <p:nvPr>
            <p:ph type="title"/>
          </p:nvPr>
        </p:nvSpPr>
        <p:spPr>
          <a:xfrm>
            <a:off x="1533831" y="265471"/>
            <a:ext cx="9822427" cy="801328"/>
          </a:xfrm>
        </p:spPr>
        <p:txBody>
          <a:bodyPr/>
          <a:lstStyle/>
          <a:p>
            <a:r>
              <a:rPr lang="en-US" b="1" u="sng" dirty="0">
                <a:latin typeface="Times New Roman" panose="02020603050405020304" pitchFamily="18" charset="0"/>
                <a:cs typeface="Times New Roman" panose="02020603050405020304" pitchFamily="18" charset="0"/>
              </a:rPr>
              <a:t>Annexure 3. Photography and Videography</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7526663-B267-6F3C-2E84-7849708284B7}"/>
              </a:ext>
            </a:extLst>
          </p:cNvPr>
          <p:cNvSpPr>
            <a:spLocks noGrp="1"/>
          </p:cNvSpPr>
          <p:nvPr>
            <p:ph sz="quarter" idx="13"/>
          </p:nvPr>
        </p:nvSpPr>
        <p:spPr>
          <a:xfrm>
            <a:off x="176981" y="1238865"/>
            <a:ext cx="12015019" cy="5619135"/>
          </a:xfrm>
        </p:spPr>
        <p:txBody>
          <a:bodyPr>
            <a:normAutofit fontScale="92500" lnSpcReduction="10000"/>
          </a:bodyPr>
          <a:lstStyle/>
          <a:p>
            <a:pPr algn="just"/>
            <a:r>
              <a:rPr lang="en-US" sz="1900" b="1" u="sng" cap="none" spc="0" dirty="0">
                <a:ln w="0"/>
                <a:solidFill>
                  <a:schemeClr val="tx1"/>
                </a:solidFill>
                <a:latin typeface="Times New Roman" panose="02020603050405020304" pitchFamily="18" charset="0"/>
                <a:cs typeface="Times New Roman" panose="02020603050405020304" pitchFamily="18" charset="0"/>
              </a:rPr>
              <a:t>A. Privacy and Dignity</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 Respect for Children’s Dignity: </a:t>
            </a:r>
            <a:r>
              <a:rPr lang="en-US" sz="1900" b="0" cap="none" spc="0" dirty="0">
                <a:ln w="0"/>
                <a:solidFill>
                  <a:schemeClr val="tx1"/>
                </a:solidFill>
                <a:latin typeface="Times New Roman" panose="02020603050405020304" pitchFamily="18" charset="0"/>
                <a:cs typeface="Times New Roman" panose="02020603050405020304" pitchFamily="18" charset="0"/>
              </a:rPr>
              <a:t>Children's privacy, dignity, and emotional development must be protected during photography/videography for any public purpose.</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2. Cultural Sensitivity: </a:t>
            </a:r>
            <a:r>
              <a:rPr lang="en-US" sz="1900" b="0" cap="none" spc="0" dirty="0">
                <a:ln w="0"/>
                <a:solidFill>
                  <a:schemeClr val="tx1"/>
                </a:solidFill>
                <a:latin typeface="Times New Roman" panose="02020603050405020304" pitchFamily="18" charset="0"/>
                <a:cs typeface="Times New Roman" panose="02020603050405020304" pitchFamily="18" charset="0"/>
              </a:rPr>
              <a:t>Be mindful of socio-cultural, religious, and community contexts when using images; identity (e.g., Dalit) should be shared only when essential and respectfully.</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3. Dignified Interaction: </a:t>
            </a:r>
            <a:r>
              <a:rPr lang="en-US" sz="1900" b="0" cap="none" spc="0" dirty="0">
                <a:ln w="0"/>
                <a:solidFill>
                  <a:schemeClr val="tx1"/>
                </a:solidFill>
                <a:latin typeface="Times New Roman" panose="02020603050405020304" pitchFamily="18" charset="0"/>
                <a:cs typeface="Times New Roman" panose="02020603050405020304" pitchFamily="18" charset="0"/>
              </a:rPr>
              <a:t>Children must be approached with respect, never shown as submissive or helpless in visuals.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4. Appropriate Clothing and Poses: </a:t>
            </a:r>
            <a:r>
              <a:rPr lang="en-US" sz="1900" b="0" cap="none" spc="0" dirty="0">
                <a:ln w="0"/>
                <a:solidFill>
                  <a:schemeClr val="tx1"/>
                </a:solidFill>
                <a:latin typeface="Times New Roman" panose="02020603050405020304" pitchFamily="18" charset="0"/>
                <a:cs typeface="Times New Roman" panose="02020603050405020304" pitchFamily="18" charset="0"/>
              </a:rPr>
              <a:t>Children must be clothed decently, avoiding inappropriate or suggestive poses.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5. No Real Names in Sensitive Contexts: </a:t>
            </a:r>
            <a:r>
              <a:rPr lang="en-US" sz="1900" b="0" cap="none" spc="0" dirty="0">
                <a:ln w="0"/>
                <a:solidFill>
                  <a:schemeClr val="tx1"/>
                </a:solidFill>
                <a:latin typeface="Times New Roman" panose="02020603050405020304" pitchFamily="18" charset="0"/>
                <a:cs typeface="Times New Roman" panose="02020603050405020304" pitchFamily="18" charset="0"/>
              </a:rPr>
              <a:t>Real names and photos cannot be used in cases involving child labour, abuse, trafficking, or marriage. Use stock images with disclaimers like “Name changed for protection.”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6. Avoid Emotional Harm: </a:t>
            </a:r>
            <a:r>
              <a:rPr lang="en-US" sz="1900" b="0" cap="none" spc="0" dirty="0">
                <a:ln w="0"/>
                <a:solidFill>
                  <a:schemeClr val="tx1"/>
                </a:solidFill>
                <a:latin typeface="Times New Roman" panose="02020603050405020304" pitchFamily="18" charset="0"/>
                <a:cs typeface="Times New Roman" panose="02020603050405020304" pitchFamily="18" charset="0"/>
              </a:rPr>
              <a:t>Ensure that visuals do not cause anxiety, fear, or distress. Provide support to children during such activities.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7. No Sensationalism: </a:t>
            </a:r>
            <a:r>
              <a:rPr lang="en-US" sz="1900" b="0" cap="none" spc="0" dirty="0">
                <a:ln w="0"/>
                <a:solidFill>
                  <a:schemeClr val="tx1"/>
                </a:solidFill>
                <a:latin typeface="Times New Roman" panose="02020603050405020304" pitchFamily="18" charset="0"/>
                <a:cs typeface="Times New Roman" panose="02020603050405020304" pitchFamily="18" charset="0"/>
              </a:rPr>
              <a:t>Avoid graphic or disturbing visuals (e.g., death, crime scenes, dead bodies).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8. Respectful Imagery: </a:t>
            </a:r>
            <a:r>
              <a:rPr lang="en-US" sz="1900" b="0" cap="none" spc="0" dirty="0">
                <a:ln w="0"/>
                <a:solidFill>
                  <a:schemeClr val="tx1"/>
                </a:solidFill>
                <a:latin typeface="Times New Roman" panose="02020603050405020304" pitchFamily="18" charset="0"/>
                <a:cs typeface="Times New Roman" panose="02020603050405020304" pitchFamily="18" charset="0"/>
              </a:rPr>
              <a:t>Show children with dignity, not as victims. Avoid visuals that highlight their vulnerabilities.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9. Strict Privacy Measures: </a:t>
            </a:r>
            <a:r>
              <a:rPr lang="en-US" sz="1900" b="0" cap="none" spc="0" dirty="0">
                <a:ln w="0"/>
                <a:solidFill>
                  <a:schemeClr val="tx1"/>
                </a:solidFill>
                <a:latin typeface="Times New Roman" panose="02020603050405020304" pitchFamily="18" charset="0"/>
                <a:cs typeface="Times New Roman" panose="02020603050405020304" pitchFamily="18" charset="0"/>
              </a:rPr>
              <a:t>Do not use children’s full names, identifiable locations, or geo-tagged images without explicit consent. Avoid disclosing sensitive address details.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10. No Inducement: </a:t>
            </a:r>
            <a:r>
              <a:rPr lang="en-US" sz="1900" b="0" cap="none" spc="0" dirty="0">
                <a:ln w="0"/>
                <a:solidFill>
                  <a:schemeClr val="tx1"/>
                </a:solidFill>
                <a:latin typeface="Times New Roman" panose="02020603050405020304" pitchFamily="18" charset="0"/>
                <a:cs typeface="Times New Roman" panose="02020603050405020304" pitchFamily="18" charset="0"/>
              </a:rPr>
              <a:t>Do not offer money or gifts to children or families in exchange for participation in photos/videos used in media.</a:t>
            </a:r>
          </a:p>
          <a:p>
            <a:endParaRPr lang="en-IN" dirty="0"/>
          </a:p>
        </p:txBody>
      </p:sp>
    </p:spTree>
    <p:extLst>
      <p:ext uri="{BB962C8B-B14F-4D97-AF65-F5344CB8AC3E}">
        <p14:creationId xmlns:p14="http://schemas.microsoft.com/office/powerpoint/2010/main" val="784365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83000">
              <a:schemeClr val="accent2">
                <a:lumMod val="95000"/>
                <a:lumOff val="5000"/>
              </a:schemeClr>
            </a:gs>
            <a:gs pos="100000">
              <a:schemeClr val="accent2">
                <a:lumMod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BFFC16-4E5B-2FE6-112F-EA1A98EC6FAC}"/>
              </a:ext>
            </a:extLst>
          </p:cNvPr>
          <p:cNvSpPr>
            <a:spLocks noGrp="1"/>
          </p:cNvSpPr>
          <p:nvPr>
            <p:ph sz="quarter" idx="13"/>
          </p:nvPr>
        </p:nvSpPr>
        <p:spPr>
          <a:xfrm>
            <a:off x="176981" y="0"/>
            <a:ext cx="12015019" cy="6858000"/>
          </a:xfrm>
        </p:spPr>
        <p:txBody>
          <a:bodyPr>
            <a:normAutofit fontScale="92500" lnSpcReduction="20000"/>
          </a:bodyPr>
          <a:lstStyle/>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11. Ban on Geo-Tagging: </a:t>
            </a:r>
            <a:r>
              <a:rPr lang="en-US" sz="1900" b="0" cap="none" spc="0" dirty="0">
                <a:ln w="0"/>
                <a:solidFill>
                  <a:schemeClr val="tx1"/>
                </a:solidFill>
                <a:latin typeface="Times New Roman" panose="02020603050405020304" pitchFamily="18" charset="0"/>
                <a:cs typeface="Times New Roman" panose="02020603050405020304" pitchFamily="18" charset="0"/>
              </a:rPr>
              <a:t>All photos must be edited to remove metadata like location before use. This section emphasizes ethical media practices while documenting children. It ensures that while capturing images or videos for awareness, advocacy, or reporting, the rights, safety, and dignity of children are never compromised. The use of images must be respectful, non-exploitative, and devoid of any identifying markers. </a:t>
            </a:r>
          </a:p>
          <a:p>
            <a:pPr algn="just"/>
            <a:r>
              <a:rPr lang="en-US" sz="1900" b="1" u="sng" cap="none" spc="0" dirty="0">
                <a:ln w="0"/>
                <a:solidFill>
                  <a:schemeClr val="tx1"/>
                </a:solidFill>
                <a:latin typeface="Times New Roman" panose="02020603050405020304" pitchFamily="18" charset="0"/>
                <a:cs typeface="Times New Roman" panose="02020603050405020304" pitchFamily="18" charset="0"/>
              </a:rPr>
              <a:t>B. Consent</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 Mandatory Consent: </a:t>
            </a:r>
            <a:r>
              <a:rPr lang="en-US" sz="1900" b="0" cap="none" spc="0" dirty="0">
                <a:ln w="0"/>
                <a:solidFill>
                  <a:schemeClr val="tx1"/>
                </a:solidFill>
                <a:latin typeface="Times New Roman" panose="02020603050405020304" pitchFamily="18" charset="0"/>
                <a:cs typeface="Times New Roman" panose="02020603050405020304" pitchFamily="18" charset="0"/>
              </a:rPr>
              <a:t>Always take prior consent from the child and their parent/guardian before capturing photos/videos. For children above 14, individual consent is required.</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2. Sensitive Cases Need Special Care: </a:t>
            </a:r>
            <a:r>
              <a:rPr lang="en-US" sz="1900" b="0" cap="none" spc="0" dirty="0">
                <a:ln w="0"/>
                <a:solidFill>
                  <a:schemeClr val="tx1"/>
                </a:solidFill>
                <a:latin typeface="Times New Roman" panose="02020603050405020304" pitchFamily="18" charset="0"/>
                <a:cs typeface="Times New Roman" panose="02020603050405020304" pitchFamily="18" charset="0"/>
              </a:rPr>
              <a:t>Involving young or vulnerable children or sensitive topics (child labour, abuse, marriage), consent is even more essential. Photos must be blurred or anonymized.</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3. Adult Narratives with Boundaries: </a:t>
            </a:r>
            <a:r>
              <a:rPr lang="en-US" sz="1900" b="0" cap="none" spc="0" dirty="0">
                <a:ln w="0"/>
                <a:solidFill>
                  <a:schemeClr val="tx1"/>
                </a:solidFill>
                <a:latin typeface="Times New Roman" panose="02020603050405020304" pitchFamily="18" charset="0"/>
                <a:cs typeface="Times New Roman" panose="02020603050405020304" pitchFamily="18" charset="0"/>
              </a:rPr>
              <a:t>Adults can share stories, but childhood depictions involving sensitive topics must not be used even with consent.</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4. Understanding Required: </a:t>
            </a:r>
            <a:r>
              <a:rPr lang="en-US" sz="1900" b="0" cap="none" spc="0" dirty="0">
                <a:ln w="0"/>
                <a:solidFill>
                  <a:schemeClr val="tx1"/>
                </a:solidFill>
                <a:latin typeface="Times New Roman" panose="02020603050405020304" pitchFamily="18" charset="0"/>
                <a:cs typeface="Times New Roman" panose="02020603050405020304" pitchFamily="18" charset="0"/>
              </a:rPr>
              <a:t>Children must be mature enough to understand what consent means before it is taken.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5. Informed Consent: </a:t>
            </a:r>
            <a:r>
              <a:rPr lang="en-US" sz="1900" b="0" cap="none" spc="0" dirty="0">
                <a:ln w="0"/>
                <a:solidFill>
                  <a:schemeClr val="tx1"/>
                </a:solidFill>
                <a:latin typeface="Times New Roman" panose="02020603050405020304" pitchFamily="18" charset="0"/>
                <a:cs typeface="Times New Roman" panose="02020603050405020304" pitchFamily="18" charset="0"/>
              </a:rPr>
              <a:t>Explain clearly how and where the photo/video will be used. A local community witness should ideally be present during consent taking.</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6. Right to Withdraw:</a:t>
            </a:r>
            <a:r>
              <a:rPr lang="en-US" sz="1900" b="0" cap="none" spc="0" dirty="0">
                <a:ln w="0"/>
                <a:solidFill>
                  <a:schemeClr val="tx1"/>
                </a:solidFill>
                <a:latin typeface="Times New Roman" panose="02020603050405020304" pitchFamily="18" charset="0"/>
                <a:cs typeface="Times New Roman" panose="02020603050405020304" pitchFamily="18" charset="0"/>
              </a:rPr>
              <a:t> If a child/parent later wants the photo/video removed, it must be respected (unless already public and uncontrollable).</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7. Blanket Consent: </a:t>
            </a:r>
            <a:r>
              <a:rPr lang="en-US" sz="1900" b="0" cap="none" spc="0" dirty="0">
                <a:ln w="0"/>
                <a:solidFill>
                  <a:schemeClr val="tx1"/>
                </a:solidFill>
                <a:latin typeface="Times New Roman" panose="02020603050405020304" pitchFamily="18" charset="0"/>
                <a:cs typeface="Times New Roman" panose="02020603050405020304" pitchFamily="18" charset="0"/>
              </a:rPr>
              <a:t>In group settings (e.g., education programs), blanket consent is allowed with proper documentation.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8. No Bribes for Consent: </a:t>
            </a:r>
            <a:r>
              <a:rPr lang="en-US" sz="1900" b="0" cap="none" spc="0" dirty="0">
                <a:ln w="0"/>
                <a:solidFill>
                  <a:schemeClr val="tx1"/>
                </a:solidFill>
                <a:latin typeface="Times New Roman" panose="02020603050405020304" pitchFamily="18" charset="0"/>
                <a:cs typeface="Times New Roman" panose="02020603050405020304" pitchFamily="18" charset="0"/>
              </a:rPr>
              <a:t>No monetary or material gifts should be used to obtain consent.</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9. Allowable Reimbursements: </a:t>
            </a:r>
            <a:r>
              <a:rPr lang="en-US" sz="1900" b="0" cap="none" spc="0" dirty="0">
                <a:ln w="0"/>
                <a:solidFill>
                  <a:schemeClr val="tx1"/>
                </a:solidFill>
                <a:latin typeface="Times New Roman" panose="02020603050405020304" pitchFamily="18" charset="0"/>
                <a:cs typeface="Times New Roman" panose="02020603050405020304" pitchFamily="18" charset="0"/>
              </a:rPr>
              <a:t>Travel or refreshments may be provided if reasonable and not coercive.</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10. Institutional Permissions: </a:t>
            </a:r>
            <a:r>
              <a:rPr lang="en-US" sz="1900" b="0" cap="none" spc="0" dirty="0">
                <a:ln w="0"/>
                <a:solidFill>
                  <a:schemeClr val="tx1"/>
                </a:solidFill>
                <a:latin typeface="Times New Roman" panose="02020603050405020304" pitchFamily="18" charset="0"/>
                <a:cs typeface="Times New Roman" panose="02020603050405020304" pitchFamily="18" charset="0"/>
              </a:rPr>
              <a:t>In schools or organizations, take permission from the authority in charge (e.g., principal).</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11. Exceptions to Consent: </a:t>
            </a:r>
            <a:r>
              <a:rPr lang="en-US" sz="1900" b="0" cap="none" spc="0" dirty="0">
                <a:ln w="0"/>
                <a:solidFill>
                  <a:schemeClr val="tx1"/>
                </a:solidFill>
                <a:latin typeface="Times New Roman" panose="02020603050405020304" pitchFamily="18" charset="0"/>
                <a:cs typeface="Times New Roman" panose="02020603050405020304" pitchFamily="18" charset="0"/>
              </a:rPr>
              <a:t>Generic images in public places where children are not the main focus. Group photos in public spaces, not applicable to schools or restricted areas.</a:t>
            </a:r>
          </a:p>
          <a:p>
            <a:endParaRPr lang="en-IN" dirty="0"/>
          </a:p>
        </p:txBody>
      </p:sp>
    </p:spTree>
    <p:extLst>
      <p:ext uri="{BB962C8B-B14F-4D97-AF65-F5344CB8AC3E}">
        <p14:creationId xmlns:p14="http://schemas.microsoft.com/office/powerpoint/2010/main" val="9384124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rgbClr val="EFF4E2"/>
            </a:gs>
          </a:gsLst>
          <a:path path="circle">
            <a:fillToRect l="50000" t="50000" r="100000" b="100000"/>
          </a:path>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DB264D-E74B-E7AC-7D22-A270D93D3B84}"/>
              </a:ext>
            </a:extLst>
          </p:cNvPr>
          <p:cNvSpPr>
            <a:spLocks noGrp="1"/>
          </p:cNvSpPr>
          <p:nvPr>
            <p:ph sz="quarter" idx="13"/>
          </p:nvPr>
        </p:nvSpPr>
        <p:spPr>
          <a:xfrm>
            <a:off x="167149" y="0"/>
            <a:ext cx="12024852" cy="6858000"/>
          </a:xfrm>
          <a:gradFill flip="none" rotWithShape="1">
            <a:gsLst>
              <a:gs pos="62000">
                <a:schemeClr val="accent5"/>
              </a:gs>
              <a:gs pos="100000">
                <a:srgbClr val="EFF4E2"/>
              </a:gs>
            </a:gsLst>
            <a:path path="circle">
              <a:fillToRect l="100000" t="100000"/>
            </a:path>
            <a:tileRect r="-100000" b="-100000"/>
          </a:gradFill>
        </p:spPr>
        <p:txBody>
          <a:bodyPr>
            <a:normAutofit fontScale="92500" lnSpcReduction="20000"/>
          </a:bodyPr>
          <a:lstStyle/>
          <a:p>
            <a:pPr algn="just"/>
            <a:r>
              <a:rPr lang="en-US" sz="1900" b="1" u="sng" cap="none" spc="0" dirty="0">
                <a:ln w="0"/>
                <a:solidFill>
                  <a:schemeClr val="tx1"/>
                </a:solidFill>
                <a:latin typeface="Times New Roman" panose="02020603050405020304" pitchFamily="18" charset="0"/>
                <a:cs typeface="Times New Roman" panose="02020603050405020304" pitchFamily="18" charset="0"/>
              </a:rPr>
              <a:t>C. External Assignment </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 Copyright to CRY: </a:t>
            </a:r>
            <a:r>
              <a:rPr lang="en-US" sz="1900" b="0" cap="none" spc="0" dirty="0">
                <a:ln w="0"/>
                <a:solidFill>
                  <a:schemeClr val="tx1"/>
                </a:solidFill>
                <a:latin typeface="Times New Roman" panose="02020603050405020304" pitchFamily="18" charset="0"/>
                <a:cs typeface="Times New Roman" panose="02020603050405020304" pitchFamily="18" charset="0"/>
              </a:rPr>
              <a:t>Any photographer/videographer hired must transfer copyright and usage rights of photos/videos to CRY.</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2. CRY Staff Must Accompany:</a:t>
            </a:r>
            <a:r>
              <a:rPr lang="en-US" sz="1900" b="0" cap="none" spc="0" dirty="0">
                <a:ln w="0"/>
                <a:solidFill>
                  <a:schemeClr val="tx1"/>
                </a:solidFill>
                <a:latin typeface="Times New Roman" panose="02020603050405020304" pitchFamily="18" charset="0"/>
                <a:cs typeface="Times New Roman" panose="02020603050405020304" pitchFamily="18" charset="0"/>
              </a:rPr>
              <a:t> External professionals should be accompanied by a CRY staff member for compliance and child safety.</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3. Proper Briefing: </a:t>
            </a:r>
            <a:r>
              <a:rPr lang="en-US" sz="1900" b="0" cap="none" spc="0" dirty="0">
                <a:ln w="0"/>
                <a:solidFill>
                  <a:schemeClr val="tx1"/>
                </a:solidFill>
                <a:latin typeface="Times New Roman" panose="02020603050405020304" pitchFamily="18" charset="0"/>
                <a:cs typeface="Times New Roman" panose="02020603050405020304" pitchFamily="18" charset="0"/>
              </a:rPr>
              <a:t>All agents must be briefed and sign CRY’s Child Safeguarding Policy (CSP). The agreement should mention the need for respectful interaction with children.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4. Child Artists Use Guidelines: </a:t>
            </a:r>
            <a:r>
              <a:rPr lang="en-US" sz="1900" b="0" cap="none" spc="0" dirty="0">
                <a:ln w="0"/>
                <a:solidFill>
                  <a:schemeClr val="tx1"/>
                </a:solidFill>
                <a:latin typeface="Times New Roman" panose="02020603050405020304" pitchFamily="18" charset="0"/>
                <a:cs typeface="Times New Roman" panose="02020603050405020304" pitchFamily="18" charset="0"/>
              </a:rPr>
              <a:t>Hiring child artists is allowed with strict adherence to welfare protocols (e.g., breaks, food). Children cannot be used as unpaid extras and called "artists" unfairly.</a:t>
            </a:r>
          </a:p>
          <a:p>
            <a:pPr algn="just"/>
            <a:r>
              <a:rPr lang="en-US" sz="1900" b="1" u="sng" cap="none" spc="0" dirty="0">
                <a:ln w="0"/>
                <a:solidFill>
                  <a:schemeClr val="tx1"/>
                </a:solidFill>
                <a:latin typeface="Times New Roman" panose="02020603050405020304" pitchFamily="18" charset="0"/>
                <a:cs typeface="Times New Roman" panose="02020603050405020304" pitchFamily="18" charset="0"/>
              </a:rPr>
              <a:t>D. Storage </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 Data Protection: </a:t>
            </a:r>
            <a:r>
              <a:rPr lang="en-US" sz="1900" b="0" cap="none" spc="0" dirty="0">
                <a:ln w="0"/>
                <a:solidFill>
                  <a:schemeClr val="tx1"/>
                </a:solidFill>
                <a:latin typeface="Times New Roman" panose="02020603050405020304" pitchFamily="18" charset="0"/>
                <a:cs typeface="Times New Roman" panose="02020603050405020304" pitchFamily="18" charset="0"/>
              </a:rPr>
              <a:t>All child-related photos/videos must follow CRY’s data protection norms.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2. Restricted Access: </a:t>
            </a:r>
            <a:r>
              <a:rPr lang="en-US" sz="1900" b="0" cap="none" spc="0" dirty="0">
                <a:ln w="0"/>
                <a:solidFill>
                  <a:schemeClr val="tx1"/>
                </a:solidFill>
                <a:latin typeface="Times New Roman" panose="02020603050405020304" pitchFamily="18" charset="0"/>
                <a:cs typeface="Times New Roman" panose="02020603050405020304" pitchFamily="18" charset="0"/>
              </a:rPr>
              <a:t>Only authorized personnel from CRY or its partners may access these materials.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3. Sensitive Data: </a:t>
            </a:r>
            <a:r>
              <a:rPr lang="en-US" sz="1900" b="0" cap="none" spc="0" dirty="0">
                <a:ln w="0"/>
                <a:solidFill>
                  <a:schemeClr val="tx1"/>
                </a:solidFill>
                <a:latin typeface="Times New Roman" panose="02020603050405020304" pitchFamily="18" charset="0"/>
                <a:cs typeface="Times New Roman" panose="02020603050405020304" pitchFamily="18" charset="0"/>
              </a:rPr>
              <a:t>If media includes personal data (like addresses), stronger protections are necessary—even during electronic transfers.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4. Caution in Handling: </a:t>
            </a:r>
            <a:r>
              <a:rPr lang="en-US" sz="1900" b="0" cap="none" spc="0" dirty="0">
                <a:ln w="0"/>
                <a:solidFill>
                  <a:schemeClr val="tx1"/>
                </a:solidFill>
                <a:latin typeface="Times New Roman" panose="02020603050405020304" pitchFamily="18" charset="0"/>
                <a:cs typeface="Times New Roman" panose="02020603050405020304" pitchFamily="18" charset="0"/>
              </a:rPr>
              <a:t>All storage devices (USBs, disks, etc.) must be secured and not shared with unauthorized individuals.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5. Use Limitation: </a:t>
            </a:r>
            <a:r>
              <a:rPr lang="en-US" sz="1900" b="0" cap="none" spc="0" dirty="0">
                <a:ln w="0"/>
                <a:solidFill>
                  <a:schemeClr val="tx1"/>
                </a:solidFill>
                <a:latin typeface="Times New Roman" panose="02020603050405020304" pitchFamily="18" charset="0"/>
                <a:cs typeface="Times New Roman" panose="02020603050405020304" pitchFamily="18" charset="0"/>
              </a:rPr>
              <a:t>Photos/videos must only be used for the specific purpose for which consent was taken. No repurposing is allowed.</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6. Volunteer/Consultant Responsibility: </a:t>
            </a:r>
            <a:r>
              <a:rPr lang="en-US" sz="1900" b="0" cap="none" spc="0" dirty="0">
                <a:ln w="0"/>
                <a:solidFill>
                  <a:schemeClr val="tx1"/>
                </a:solidFill>
                <a:latin typeface="Times New Roman" panose="02020603050405020304" pitchFamily="18" charset="0"/>
                <a:cs typeface="Times New Roman" panose="02020603050405020304" pitchFamily="18" charset="0"/>
              </a:rPr>
              <a:t>If taken by external contributors, they must ensure proper storage and categorization.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7. Consent Validity: </a:t>
            </a:r>
            <a:r>
              <a:rPr lang="en-US" sz="1900" b="0" cap="none" spc="0" dirty="0">
                <a:ln w="0"/>
                <a:solidFill>
                  <a:schemeClr val="tx1"/>
                </a:solidFill>
                <a:latin typeface="Times New Roman" panose="02020603050405020304" pitchFamily="18" charset="0"/>
                <a:cs typeface="Times New Roman" panose="02020603050405020304" pitchFamily="18" charset="0"/>
              </a:rPr>
              <a:t>Consent is valid for 5 years. Post-April 2022 photos must be categorized by year; older images may be used only in non-representational ways.</a:t>
            </a:r>
          </a:p>
          <a:p>
            <a:pPr algn="just">
              <a:buFont typeface="Courier New" panose="02070309020205020404" pitchFamily="49" charset="0"/>
              <a:buChar char="o"/>
            </a:pPr>
            <a:endParaRPr lang="en-US" sz="1900" b="0" cap="none" spc="0" dirty="0">
              <a:ln w="0"/>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1800" b="0"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endParaRPr lang="en-US" sz="1800" dirty="0">
              <a:ln w="0"/>
              <a:latin typeface="Times New Roman" panose="02020603050405020304" pitchFamily="18" charset="0"/>
              <a:cs typeface="Times New Roman" panose="02020603050405020304" pitchFamily="18" charset="0"/>
            </a:endParaRPr>
          </a:p>
          <a:p>
            <a:endParaRPr lang="en-US" sz="1600" b="0" cap="none" spc="0" dirty="0">
              <a:ln w="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252645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4000">
              <a:schemeClr val="accent1">
                <a:lumMod val="75000"/>
              </a:schemeClr>
            </a:gs>
            <a:gs pos="100000">
              <a:schemeClr val="bg2">
                <a:shade val="98000"/>
                <a:satMod val="120000"/>
                <a:lumMod val="98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956356-FFC9-D67F-93F0-31CF034AAA0E}"/>
              </a:ext>
            </a:extLst>
          </p:cNvPr>
          <p:cNvSpPr>
            <a:spLocks noGrp="1"/>
          </p:cNvSpPr>
          <p:nvPr>
            <p:ph sz="quarter" idx="13"/>
          </p:nvPr>
        </p:nvSpPr>
        <p:spPr>
          <a:xfrm>
            <a:off x="167148" y="0"/>
            <a:ext cx="12024851" cy="6858000"/>
          </a:xfrm>
        </p:spPr>
        <p:txBody>
          <a:bodyPr/>
          <a:lstStyle/>
          <a:p>
            <a:pPr algn="just"/>
            <a:r>
              <a:rPr lang="en-US" sz="1800" b="1" u="sng" cap="none" spc="0" dirty="0">
                <a:ln w="0"/>
                <a:solidFill>
                  <a:schemeClr val="tx1"/>
                </a:solidFill>
                <a:latin typeface="Times New Roman" panose="02020603050405020304" pitchFamily="18" charset="0"/>
                <a:cs typeface="Times New Roman" panose="02020603050405020304" pitchFamily="18" charset="0"/>
              </a:rPr>
              <a:t>E. Guidelines for Interviewing / Reporting</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 </a:t>
            </a:r>
            <a:r>
              <a:rPr lang="en-US" sz="1800" b="1" cap="none" spc="0" dirty="0">
                <a:ln w="0"/>
                <a:solidFill>
                  <a:schemeClr val="tx1"/>
                </a:solidFill>
                <a:latin typeface="Times New Roman" panose="02020603050405020304" pitchFamily="18" charset="0"/>
                <a:cs typeface="Times New Roman" panose="02020603050405020304" pitchFamily="18" charset="0"/>
              </a:rPr>
              <a:t>1. No Surprise Visits: </a:t>
            </a:r>
            <a:r>
              <a:rPr lang="en-US" sz="1800" b="0" cap="none" spc="0" dirty="0">
                <a:ln w="0"/>
                <a:solidFill>
                  <a:schemeClr val="tx1"/>
                </a:solidFill>
                <a:latin typeface="Times New Roman" panose="02020603050405020304" pitchFamily="18" charset="0"/>
                <a:cs typeface="Times New Roman" panose="02020603050405020304" pitchFamily="18" charset="0"/>
              </a:rPr>
              <a:t>Avoid unplanned or spontaneous visits to children and their families.</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2. Best Interest Priority: </a:t>
            </a:r>
            <a:r>
              <a:rPr lang="en-US" sz="1800" b="0" cap="none" spc="0" dirty="0">
                <a:ln w="0"/>
                <a:solidFill>
                  <a:schemeClr val="tx1"/>
                </a:solidFill>
                <a:latin typeface="Times New Roman" panose="02020603050405020304" pitchFamily="18" charset="0"/>
                <a:cs typeface="Times New Roman" panose="02020603050405020304" pitchFamily="18" charset="0"/>
              </a:rPr>
              <a:t>Interviews must always prioritize the child’s well-being.</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3. Avoid Re-traumatization: </a:t>
            </a:r>
            <a:r>
              <a:rPr lang="en-US" sz="1800" b="0" cap="none" spc="0" dirty="0">
                <a:ln w="0"/>
                <a:solidFill>
                  <a:schemeClr val="tx1"/>
                </a:solidFill>
                <a:latin typeface="Times New Roman" panose="02020603050405020304" pitchFamily="18" charset="0"/>
                <a:cs typeface="Times New Roman" panose="02020603050405020304" pitchFamily="18" charset="0"/>
              </a:rPr>
              <a:t>Ensure interviews don’t re-victimize or worsen the child’s situation.</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4. Respect Privacy: </a:t>
            </a:r>
            <a:r>
              <a:rPr lang="en-US" sz="1800" b="0" cap="none" spc="0" dirty="0">
                <a:ln w="0"/>
                <a:solidFill>
                  <a:schemeClr val="tx1"/>
                </a:solidFill>
                <a:latin typeface="Times New Roman" panose="02020603050405020304" pitchFamily="18" charset="0"/>
                <a:cs typeface="Times New Roman" panose="02020603050405020304" pitchFamily="18" charset="0"/>
              </a:rPr>
              <a:t>Content should not interfere with the child's privacy or dignity.</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5. Consent from Guardians: </a:t>
            </a:r>
            <a:r>
              <a:rPr lang="en-US" sz="1800" b="0" cap="none" spc="0" dirty="0">
                <a:ln w="0"/>
                <a:solidFill>
                  <a:schemeClr val="tx1"/>
                </a:solidFill>
                <a:latin typeface="Times New Roman" panose="02020603050405020304" pitchFamily="18" charset="0"/>
                <a:cs typeface="Times New Roman" panose="02020603050405020304" pitchFamily="18" charset="0"/>
              </a:rPr>
              <a:t>For privileged children, parental consent is mandatory; otherwise, consent must come from a legal guardian or competent authority.</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6. Supervised Interviews: </a:t>
            </a:r>
            <a:r>
              <a:rPr lang="en-US" sz="1800" b="0" cap="none" spc="0" dirty="0">
                <a:ln w="0"/>
                <a:solidFill>
                  <a:schemeClr val="tx1"/>
                </a:solidFill>
                <a:latin typeface="Times New Roman" panose="02020603050405020304" pitchFamily="18" charset="0"/>
                <a:cs typeface="Times New Roman" panose="02020603050405020304" pitchFamily="18" charset="0"/>
              </a:rPr>
              <a:t>Must be conducted under adult supervision and after informed consent.</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7. Pre-approved Script: </a:t>
            </a:r>
            <a:r>
              <a:rPr lang="en-US" sz="1800" b="0" cap="none" spc="0" dirty="0">
                <a:ln w="0"/>
                <a:solidFill>
                  <a:schemeClr val="tx1"/>
                </a:solidFill>
                <a:latin typeface="Times New Roman" panose="02020603050405020304" pitchFamily="18" charset="0"/>
                <a:cs typeface="Times New Roman" panose="02020603050405020304" pitchFamily="18" charset="0"/>
              </a:rPr>
              <a:t>It’s preferred to use a prepared or reviewed interview script.</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8. Avoid Repeated Interviews: </a:t>
            </a:r>
            <a:r>
              <a:rPr lang="en-US" sz="1800" b="0" cap="none" spc="0" dirty="0">
                <a:ln w="0"/>
                <a:solidFill>
                  <a:schemeClr val="tx1"/>
                </a:solidFill>
                <a:latin typeface="Times New Roman" panose="02020603050405020304" pitchFamily="18" charset="0"/>
                <a:cs typeface="Times New Roman" panose="02020603050405020304" pitchFamily="18" charset="0"/>
              </a:rPr>
              <a:t>Frequent interviews should be avoided. If needed, involve a child specialist.</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9. Respect Refusal: </a:t>
            </a:r>
            <a:r>
              <a:rPr lang="en-US" sz="1800" b="0" cap="none" spc="0" dirty="0">
                <a:ln w="0"/>
                <a:solidFill>
                  <a:schemeClr val="tx1"/>
                </a:solidFill>
                <a:latin typeface="Times New Roman" panose="02020603050405020304" pitchFamily="18" charset="0"/>
                <a:cs typeface="Times New Roman" panose="02020603050405020304" pitchFamily="18" charset="0"/>
              </a:rPr>
              <a:t>If the child or family refuses, it must be respected without question.</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10. No Inducement: </a:t>
            </a:r>
            <a:r>
              <a:rPr lang="en-US" sz="1800" b="0" cap="none" spc="0" dirty="0">
                <a:ln w="0"/>
                <a:solidFill>
                  <a:schemeClr val="tx1"/>
                </a:solidFill>
                <a:latin typeface="Times New Roman" panose="02020603050405020304" pitchFamily="18" charset="0"/>
                <a:cs typeface="Times New Roman" panose="02020603050405020304" pitchFamily="18" charset="0"/>
              </a:rPr>
              <a:t>Children must not be bribed or influenced into giving interviews.</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11. Preparation Support: </a:t>
            </a:r>
            <a:r>
              <a:rPr lang="en-US" sz="1800" b="0" cap="none" spc="0" dirty="0">
                <a:ln w="0"/>
                <a:solidFill>
                  <a:schemeClr val="tx1"/>
                </a:solidFill>
                <a:latin typeface="Times New Roman" panose="02020603050405020304" pitchFamily="18" charset="0"/>
                <a:cs typeface="Times New Roman" panose="02020603050405020304" pitchFamily="18" charset="0"/>
              </a:rPr>
              <a:t>Offer guidance and emotional support to prepare families and children for interviews.</a:t>
            </a:r>
            <a:endParaRPr lang="en-US" sz="1800" dirty="0">
              <a:ln w="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21358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CC0099">
                <a:alpha val="0"/>
              </a:srgbClr>
            </a:gs>
            <a:gs pos="91000">
              <a:srgbClr val="FF0066"/>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58812-4166-5418-49F7-C8A5CEF87C5D}"/>
              </a:ext>
            </a:extLst>
          </p:cNvPr>
          <p:cNvSpPr>
            <a:spLocks noGrp="1"/>
          </p:cNvSpPr>
          <p:nvPr>
            <p:ph type="title"/>
          </p:nvPr>
        </p:nvSpPr>
        <p:spPr>
          <a:xfrm>
            <a:off x="648929" y="226141"/>
            <a:ext cx="11061289" cy="1297859"/>
          </a:xfrm>
        </p:spPr>
        <p:txBody>
          <a:bodyPr>
            <a:noAutofit/>
          </a:bodyPr>
          <a:lstStyle/>
          <a:p>
            <a:r>
              <a:rPr lang="en-US" b="1" u="sng" dirty="0">
                <a:latin typeface="Times New Roman" panose="02020603050405020304" pitchFamily="18" charset="0"/>
                <a:cs typeface="Times New Roman" panose="02020603050405020304" pitchFamily="18" charset="0"/>
              </a:rPr>
              <a:t>Annexure 4. Ready Reckoner/ Checklist For Usage Of Photographs/ Films And Case Stories</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55DC986-D488-E2DF-B65C-C94789CE2BBD}"/>
              </a:ext>
            </a:extLst>
          </p:cNvPr>
          <p:cNvSpPr>
            <a:spLocks noGrp="1"/>
          </p:cNvSpPr>
          <p:nvPr>
            <p:ph sz="quarter" idx="13"/>
          </p:nvPr>
        </p:nvSpPr>
        <p:spPr>
          <a:xfrm>
            <a:off x="167148" y="1799303"/>
            <a:ext cx="12024851" cy="5058697"/>
          </a:xfrm>
        </p:spPr>
        <p:txBody>
          <a:bodyPr>
            <a:noAutofit/>
          </a:bodyPr>
          <a:lstStyle/>
          <a:p>
            <a:r>
              <a:rPr lang="en-US" b="1" u="sng" cap="none" spc="0" dirty="0">
                <a:ln w="0"/>
                <a:solidFill>
                  <a:schemeClr val="tx1"/>
                </a:solidFill>
                <a:latin typeface="Times New Roman" panose="02020603050405020304" pitchFamily="18" charset="0"/>
                <a:cs typeface="Times New Roman" panose="02020603050405020304" pitchFamily="18" charset="0"/>
              </a:rPr>
              <a:t>Informed Consent &amp; Media Use Guidelines:</a:t>
            </a:r>
          </a:p>
          <a:p>
            <a:pPr>
              <a:buFont typeface="Courier New" panose="02070309020205020404" pitchFamily="49" charset="0"/>
              <a:buChar char="o"/>
            </a:pPr>
            <a:r>
              <a:rPr lang="en-US" b="1" cap="none" spc="0" dirty="0">
                <a:ln w="0"/>
                <a:solidFill>
                  <a:schemeClr val="tx1"/>
                </a:solidFill>
                <a:latin typeface="Times New Roman" panose="02020603050405020304" pitchFamily="18" charset="0"/>
                <a:cs typeface="Times New Roman" panose="02020603050405020304" pitchFamily="18" charset="0"/>
              </a:rPr>
              <a:t>Consent Requirement: </a:t>
            </a:r>
            <a:r>
              <a:rPr lang="en-US" b="0" cap="none" spc="0" dirty="0">
                <a:ln w="0"/>
                <a:solidFill>
                  <a:schemeClr val="tx1"/>
                </a:solidFill>
                <a:latin typeface="Times New Roman" panose="02020603050405020304" pitchFamily="18" charset="0"/>
                <a:cs typeface="Times New Roman" panose="02020603050405020304" pitchFamily="18" charset="0"/>
              </a:rPr>
              <a:t>Always obtain informed consent from the child and their parent/guardian before photography, filming, or interviews.</a:t>
            </a:r>
          </a:p>
          <a:p>
            <a:pPr>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 No consent = no media use.</a:t>
            </a:r>
          </a:p>
          <a:p>
            <a:pPr>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 No incentives should be offered in exchange for consent.</a:t>
            </a:r>
          </a:p>
          <a:p>
            <a:r>
              <a:rPr lang="en-US" b="1" u="sng" cap="none" spc="0" dirty="0">
                <a:ln w="0"/>
                <a:solidFill>
                  <a:schemeClr val="tx1"/>
                </a:solidFill>
                <a:latin typeface="Times New Roman" panose="02020603050405020304" pitchFamily="18" charset="0"/>
                <a:cs typeface="Times New Roman" panose="02020603050405020304" pitchFamily="18" charset="0"/>
              </a:rPr>
              <a:t>Case Stories: </a:t>
            </a:r>
          </a:p>
          <a:p>
            <a:pPr>
              <a:buFont typeface="Courier New" panose="02070309020205020404" pitchFamily="49" charset="0"/>
              <a:buChar char="o"/>
            </a:pPr>
            <a:r>
              <a:rPr lang="en-US" b="1" cap="none" spc="0" dirty="0">
                <a:ln w="0"/>
                <a:solidFill>
                  <a:schemeClr val="tx1"/>
                </a:solidFill>
                <a:latin typeface="Times New Roman" panose="02020603050405020304" pitchFamily="18" charset="0"/>
                <a:cs typeface="Times New Roman" panose="02020603050405020304" pitchFamily="18" charset="0"/>
              </a:rPr>
              <a:t>Success Stories: </a:t>
            </a:r>
            <a:r>
              <a:rPr lang="en-US" b="0" cap="none" spc="0" dirty="0">
                <a:ln w="0"/>
                <a:solidFill>
                  <a:schemeClr val="tx1"/>
                </a:solidFill>
                <a:latin typeface="Times New Roman" panose="02020603050405020304" pitchFamily="18" charset="0"/>
                <a:cs typeface="Times New Roman" panose="02020603050405020304" pitchFamily="18" charset="0"/>
              </a:rPr>
              <a:t>Real first names and general location (district, state) can be used, but not for cases involving child labour, marriage, trafficking, abuse, or legal conflict.</a:t>
            </a:r>
          </a:p>
          <a:p>
            <a:pPr>
              <a:buFont typeface="Courier New" panose="02070309020205020404" pitchFamily="49" charset="0"/>
              <a:buChar char="o"/>
            </a:pPr>
            <a:r>
              <a:rPr lang="en-US" b="1" cap="none" spc="0" dirty="0">
                <a:ln w="0"/>
                <a:solidFill>
                  <a:schemeClr val="tx1"/>
                </a:solidFill>
                <a:latin typeface="Times New Roman" panose="02020603050405020304" pitchFamily="18" charset="0"/>
                <a:cs typeface="Times New Roman" panose="02020603050405020304" pitchFamily="18" charset="0"/>
              </a:rPr>
              <a:t>Sensitive Cases:</a:t>
            </a:r>
            <a:r>
              <a:rPr lang="en-US" b="0" cap="none" spc="0" dirty="0">
                <a:ln w="0"/>
                <a:solidFill>
                  <a:schemeClr val="tx1"/>
                </a:solidFill>
                <a:latin typeface="Times New Roman" panose="02020603050405020304" pitchFamily="18" charset="0"/>
                <a:cs typeface="Times New Roman" panose="02020603050405020304" pitchFamily="18" charset="0"/>
              </a:rPr>
              <a:t> Use neutral pseudonyms; maintain a back-end log. Do not include identifying details. Photos must be blurred if used.</a:t>
            </a:r>
          </a:p>
          <a:p>
            <a:r>
              <a:rPr lang="en-US" b="1" u="sng" cap="none" spc="0" dirty="0">
                <a:ln w="0"/>
                <a:solidFill>
                  <a:schemeClr val="tx1"/>
                </a:solidFill>
                <a:latin typeface="Times New Roman" panose="02020603050405020304" pitchFamily="18" charset="0"/>
                <a:cs typeface="Times New Roman" panose="02020603050405020304" pitchFamily="18" charset="0"/>
              </a:rPr>
              <a:t>Media Use:</a:t>
            </a:r>
          </a:p>
          <a:p>
            <a:pPr>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Show children respectfully and with dignity.</a:t>
            </a:r>
          </a:p>
          <a:p>
            <a:pPr>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Media collection must occur in the presence of a trusted adult or guardian.</a:t>
            </a:r>
          </a:p>
        </p:txBody>
      </p:sp>
    </p:spTree>
    <p:extLst>
      <p:ext uri="{BB962C8B-B14F-4D97-AF65-F5344CB8AC3E}">
        <p14:creationId xmlns:p14="http://schemas.microsoft.com/office/powerpoint/2010/main" val="3638911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60000">
              <a:srgbClr val="CCFF33"/>
            </a:gs>
            <a:gs pos="16000">
              <a:srgbClr val="92D050"/>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A8DC5B-6FB1-EC80-6C59-90156F4BADDE}"/>
              </a:ext>
            </a:extLst>
          </p:cNvPr>
          <p:cNvSpPr>
            <a:spLocks noGrp="1"/>
          </p:cNvSpPr>
          <p:nvPr>
            <p:ph type="title"/>
          </p:nvPr>
        </p:nvSpPr>
        <p:spPr>
          <a:xfrm>
            <a:off x="1769806" y="1533833"/>
            <a:ext cx="8327923" cy="717754"/>
          </a:xfrm>
        </p:spPr>
        <p:txBody>
          <a:bodyPr/>
          <a:lstStyle/>
          <a:p>
            <a:r>
              <a:rPr lang="en-US" b="1" u="sng" dirty="0">
                <a:latin typeface="Times New Roman" panose="02020603050405020304" pitchFamily="18" charset="0"/>
                <a:cs typeface="Times New Roman" panose="02020603050405020304" pitchFamily="18" charset="0"/>
              </a:rPr>
              <a:t>Annexure 5. Working With Child Actors</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305DC4-89B5-26EF-8E98-A678D1B258A3}"/>
              </a:ext>
            </a:extLst>
          </p:cNvPr>
          <p:cNvSpPr>
            <a:spLocks noGrp="1"/>
          </p:cNvSpPr>
          <p:nvPr>
            <p:ph sz="half" idx="1"/>
          </p:nvPr>
        </p:nvSpPr>
        <p:spPr>
          <a:xfrm>
            <a:off x="1" y="117987"/>
            <a:ext cx="12191999" cy="1160208"/>
          </a:xfrm>
        </p:spPr>
        <p:txBody>
          <a:bodyPr>
            <a:normAutofit/>
          </a:bodyPr>
          <a:lstStyle/>
          <a:p>
            <a:pPr algn="just"/>
            <a:r>
              <a:rPr lang="en-US" b="1" u="sng" cap="none" spc="0" dirty="0">
                <a:ln w="0"/>
                <a:solidFill>
                  <a:schemeClr val="tx1"/>
                </a:solidFill>
                <a:latin typeface="Times New Roman" panose="02020603050405020304" pitchFamily="18" charset="0"/>
                <a:cs typeface="Times New Roman" panose="02020603050405020304" pitchFamily="18" charset="0"/>
              </a:rPr>
              <a:t>Withdrawal of Consent: </a:t>
            </a:r>
            <a:r>
              <a:rPr lang="en-US" b="0" cap="none" spc="0" dirty="0">
                <a:ln w="0"/>
                <a:solidFill>
                  <a:schemeClr val="tx1"/>
                </a:solidFill>
                <a:latin typeface="Times New Roman" panose="02020603050405020304" pitchFamily="18" charset="0"/>
                <a:cs typeface="Times New Roman" panose="02020603050405020304" pitchFamily="18" charset="0"/>
              </a:rPr>
              <a:t>Consent can be withdrawn at any time and must be respected. All media must be removed from public platforms upon request.</a:t>
            </a:r>
            <a:endParaRPr lang="en-US" b="1" u="sng" cap="none" spc="0" dirty="0">
              <a:ln w="0"/>
              <a:solidFill>
                <a:schemeClr val="tx1"/>
              </a:solidFill>
              <a:latin typeface="Times New Roman" panose="02020603050405020304" pitchFamily="18" charset="0"/>
              <a:cs typeface="Times New Roman" panose="02020603050405020304" pitchFamily="18" charset="0"/>
            </a:endParaRPr>
          </a:p>
          <a:p>
            <a:pPr algn="just"/>
            <a:r>
              <a:rPr lang="en-US" b="1" u="sng" cap="none" spc="0" dirty="0">
                <a:ln w="0"/>
                <a:solidFill>
                  <a:schemeClr val="tx1"/>
                </a:solidFill>
                <a:latin typeface="Times New Roman" panose="02020603050405020304" pitchFamily="18" charset="0"/>
                <a:cs typeface="Times New Roman" panose="02020603050405020304" pitchFamily="18" charset="0"/>
              </a:rPr>
              <a:t>Social Media:</a:t>
            </a:r>
            <a:r>
              <a:rPr lang="en-US" b="1" cap="none" spc="0" dirty="0">
                <a:ln w="0"/>
                <a:solidFill>
                  <a:schemeClr val="tx1"/>
                </a:solidFill>
                <a:latin typeface="Times New Roman" panose="02020603050405020304" pitchFamily="18" charset="0"/>
                <a:cs typeface="Times New Roman" panose="02020603050405020304" pitchFamily="18" charset="0"/>
              </a:rPr>
              <a:t> </a:t>
            </a:r>
            <a:r>
              <a:rPr lang="en-US" b="0" cap="none" spc="0" dirty="0">
                <a:ln w="0"/>
                <a:solidFill>
                  <a:schemeClr val="tx1"/>
                </a:solidFill>
                <a:latin typeface="Times New Roman" panose="02020603050405020304" pitchFamily="18" charset="0"/>
                <a:cs typeface="Times New Roman" panose="02020603050405020304" pitchFamily="18" charset="0"/>
              </a:rPr>
              <a:t>Do not share children’s media on personal accounts. Use only official organizational platforms.</a:t>
            </a:r>
            <a:endParaRPr lang="en-IN" dirty="0">
              <a:latin typeface="Times New Roman" panose="02020603050405020304" pitchFamily="18" charset="0"/>
              <a:cs typeface="Times New Roman" panose="02020603050405020304" pitchFamily="18" charset="0"/>
            </a:endParaRPr>
          </a:p>
          <a:p>
            <a:endParaRPr lang="en-IN" dirty="0"/>
          </a:p>
        </p:txBody>
      </p:sp>
      <p:sp>
        <p:nvSpPr>
          <p:cNvPr id="5" name="Content Placeholder 4">
            <a:extLst>
              <a:ext uri="{FF2B5EF4-FFF2-40B4-BE49-F238E27FC236}">
                <a16:creationId xmlns:a16="http://schemas.microsoft.com/office/drawing/2014/main" id="{7BB075C9-DE23-7A3E-C7B6-508FBEEEF1FE}"/>
              </a:ext>
            </a:extLst>
          </p:cNvPr>
          <p:cNvSpPr>
            <a:spLocks noGrp="1"/>
          </p:cNvSpPr>
          <p:nvPr>
            <p:ph sz="half" idx="2"/>
          </p:nvPr>
        </p:nvSpPr>
        <p:spPr>
          <a:xfrm>
            <a:off x="0" y="2743200"/>
            <a:ext cx="12191997" cy="4114800"/>
          </a:xfrm>
        </p:spPr>
        <p:txBody>
          <a:bodyPr>
            <a:normAutofit/>
          </a:bodyPr>
          <a:lstStyle/>
          <a:p>
            <a:pPr algn="just"/>
            <a:r>
              <a:rPr lang="en-US" sz="1800" b="1" dirty="0">
                <a:latin typeface="Times New Roman" panose="02020603050405020304" pitchFamily="18" charset="0"/>
                <a:cs typeface="Times New Roman" panose="02020603050405020304" pitchFamily="18" charset="0"/>
              </a:rPr>
              <a:t>Definition of Child Actors: </a:t>
            </a:r>
            <a:r>
              <a:rPr lang="en-US" sz="1800" dirty="0">
                <a:latin typeface="Times New Roman" panose="02020603050405020304" pitchFamily="18" charset="0"/>
                <a:cs typeface="Times New Roman" panose="02020603050405020304" pitchFamily="18" charset="0"/>
              </a:rPr>
              <a:t>Children under 18 years participating/acting/working in CRY’s audio-visual content, whether established artists or from the community, and may be paid for their services.</a:t>
            </a:r>
          </a:p>
          <a:p>
            <a:pPr algn="just"/>
            <a:r>
              <a:rPr lang="en-US" sz="1800" b="1" u="sng" dirty="0">
                <a:latin typeface="Times New Roman" panose="02020603050405020304" pitchFamily="18" charset="0"/>
                <a:cs typeface="Times New Roman" panose="02020603050405020304" pitchFamily="18" charset="0"/>
              </a:rPr>
              <a:t> Relevant sections of the Statutory Compliance under section 2C of the Child and Adolescent Labour (Prohibition and Regulation) Act and the Rules 2017:</a:t>
            </a:r>
          </a:p>
          <a:p>
            <a:pPr algn="just"/>
            <a:r>
              <a:rPr lang="en-US" sz="1800" dirty="0">
                <a:latin typeface="Times New Roman" panose="02020603050405020304" pitchFamily="18" charset="0"/>
                <a:cs typeface="Times New Roman" panose="02020603050405020304" pitchFamily="18" charset="0"/>
              </a:rPr>
              <a:t> 1. No child shall work more than five hours a day, and not more than three hours without rest.</a:t>
            </a:r>
          </a:p>
          <a:p>
            <a:pPr algn="just"/>
            <a:r>
              <a:rPr lang="en-US" sz="1800" dirty="0">
                <a:latin typeface="Times New Roman" panose="02020603050405020304" pitchFamily="18" charset="0"/>
                <a:cs typeface="Times New Roman" panose="02020603050405020304" pitchFamily="18" charset="0"/>
              </a:rPr>
              <a:t>2. Written permission from the District Magistrate is mandatory before participation, including Form C, parent/guardian consent, and appointment of a responsible person for the child's safety.</a:t>
            </a:r>
          </a:p>
          <a:p>
            <a:pPr algn="just"/>
            <a:r>
              <a:rPr lang="en-US" sz="1800" dirty="0">
                <a:latin typeface="Times New Roman" panose="02020603050405020304" pitchFamily="18" charset="0"/>
                <a:cs typeface="Times New Roman" panose="02020603050405020304" pitchFamily="18" charset="0"/>
              </a:rPr>
              <a:t> 3. The undertaking is valid for six months and must cover: </a:t>
            </a:r>
          </a:p>
          <a:p>
            <a:pPr algn="just">
              <a:buFont typeface="Courier New" panose="02070309020205020404" pitchFamily="49" charset="0"/>
              <a:buChar char="o"/>
            </a:pPr>
            <a:r>
              <a:rPr lang="en-US" sz="1800" dirty="0">
                <a:latin typeface="Times New Roman" panose="02020603050405020304" pitchFamily="18" charset="0"/>
                <a:cs typeface="Times New Roman" panose="02020603050405020304" pitchFamily="18" charset="0"/>
              </a:rPr>
              <a:t>(i) Physical and mental health facilities</a:t>
            </a:r>
          </a:p>
          <a:p>
            <a:pPr algn="just">
              <a:buFont typeface="Courier New" panose="02070309020205020404" pitchFamily="49" charset="0"/>
              <a:buChar char="o"/>
            </a:pPr>
            <a:r>
              <a:rPr lang="en-US" sz="1800" dirty="0">
                <a:latin typeface="Times New Roman" panose="02020603050405020304" pitchFamily="18" charset="0"/>
                <a:cs typeface="Times New Roman" panose="02020603050405020304" pitchFamily="18" charset="0"/>
              </a:rPr>
              <a:t> (ii) Timely nutrition</a:t>
            </a:r>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4186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41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73908D-27D2-75FE-97F5-365EFBAF30B1}"/>
              </a:ext>
            </a:extLst>
          </p:cNvPr>
          <p:cNvSpPr>
            <a:spLocks noGrp="1"/>
          </p:cNvSpPr>
          <p:nvPr>
            <p:ph sz="quarter" idx="13"/>
          </p:nvPr>
        </p:nvSpPr>
        <p:spPr>
          <a:xfrm>
            <a:off x="167149" y="0"/>
            <a:ext cx="12024852" cy="6858000"/>
          </a:xfrm>
        </p:spPr>
        <p:txBody>
          <a:bodyPr>
            <a:normAutofit fontScale="92500" lnSpcReduction="10000"/>
          </a:bodyPr>
          <a:lstStyle/>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(iii) Safe shelter with daily necessities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(iv) Compliance with child protection laws </a:t>
            </a:r>
          </a:p>
          <a:p>
            <a:pPr algn="just"/>
            <a:r>
              <a:rPr lang="en-US" sz="1900" dirty="0">
                <a:latin typeface="Times New Roman" panose="02020603050405020304" pitchFamily="18" charset="0"/>
                <a:cs typeface="Times New Roman" panose="02020603050405020304" pitchFamily="18" charset="0"/>
              </a:rPr>
              <a:t>4. Ensure educational continuity and no child to work more than 27 consecutive days.</a:t>
            </a:r>
          </a:p>
          <a:p>
            <a:pPr algn="just"/>
            <a:r>
              <a:rPr lang="en-US" sz="1900" dirty="0">
                <a:latin typeface="Times New Roman" panose="02020603050405020304" pitchFamily="18" charset="0"/>
                <a:cs typeface="Times New Roman" panose="02020603050405020304" pitchFamily="18" charset="0"/>
              </a:rPr>
              <a:t>5. One responsible adult per five children for their care and protection.</a:t>
            </a:r>
          </a:p>
          <a:p>
            <a:pPr algn="just"/>
            <a:r>
              <a:rPr lang="en-US" sz="1900" dirty="0">
                <a:latin typeface="Times New Roman" panose="02020603050405020304" pitchFamily="18" charset="0"/>
                <a:cs typeface="Times New Roman" panose="02020603050405020304" pitchFamily="18" charset="0"/>
              </a:rPr>
              <a:t>6. At least 20% of the child’s income to be deposited in a fixed deposit in their name, accessible upon attaining majority. </a:t>
            </a:r>
          </a:p>
          <a:p>
            <a:pPr algn="just"/>
            <a:r>
              <a:rPr lang="en-US" sz="1900" dirty="0">
                <a:latin typeface="Times New Roman" panose="02020603050405020304" pitchFamily="18" charset="0"/>
                <a:cs typeface="Times New Roman" panose="02020603050405020304" pitchFamily="18" charset="0"/>
              </a:rPr>
              <a:t>7. No child shall participate without their will and consent. </a:t>
            </a:r>
          </a:p>
          <a:p>
            <a:pPr algn="just"/>
            <a:r>
              <a:rPr lang="en-US" sz="1900" dirty="0">
                <a:latin typeface="Times New Roman" panose="02020603050405020304" pitchFamily="18" charset="0"/>
                <a:cs typeface="Times New Roman" panose="02020603050405020304" pitchFamily="18" charset="0"/>
              </a:rPr>
              <a:t>8. Activities include sports, cinema, documentaries, reality/talent shows, drama, anchoring, or any other artistic performance as permitted. </a:t>
            </a:r>
          </a:p>
          <a:p>
            <a:pPr algn="just"/>
            <a:r>
              <a:rPr lang="en-US" sz="1900" dirty="0">
                <a:latin typeface="Times New Roman" panose="02020603050405020304" pitchFamily="18" charset="0"/>
                <a:cs typeface="Times New Roman" panose="02020603050405020304" pitchFamily="18" charset="0"/>
              </a:rPr>
              <a:t>9. Adolescents (14–18 years):</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Not to work more than 3 hours without rest, nor beyond 6 hours total/day</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No work between 7 p.m. and 8 a.m., no overtime, or dual employment in a day.</a:t>
            </a:r>
          </a:p>
          <a:p>
            <a:pPr algn="just"/>
            <a:r>
              <a:rPr lang="en-US" sz="1900" b="1" u="sng" dirty="0">
                <a:latin typeface="Times New Roman" panose="02020603050405020304" pitchFamily="18" charset="0"/>
                <a:cs typeface="Times New Roman" panose="02020603050405020304" pitchFamily="18" charset="0"/>
              </a:rPr>
              <a:t>Creating Safe Spaces:</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Ensure the child’s emotional health is protected; a counsellor to be provided if needed.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Children must always be accompanied by a parent or legal guardian. </a:t>
            </a:r>
          </a:p>
          <a:p>
            <a:pPr algn="just"/>
            <a:r>
              <a:rPr lang="en-US" sz="1900" b="1" u="sng" dirty="0">
                <a:latin typeface="Times New Roman" panose="02020603050405020304" pitchFamily="18" charset="0"/>
                <a:cs typeface="Times New Roman" panose="02020603050405020304" pitchFamily="18" charset="0"/>
              </a:rPr>
              <a:t>Working Conditions:</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Provide breaks ideally every hour.</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Ensure availability of food, water, separate toilets, and age-appropriate recreational material.</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A first-aid provider/doctor must be available on-site.</a:t>
            </a:r>
            <a:endParaRPr lang="en-IN" sz="19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370754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2">
                <a:lumMod val="75000"/>
              </a:schemeClr>
            </a:gs>
            <a:gs pos="100000">
              <a:schemeClr val="accent2">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AE6BC-B6FE-6048-F174-9A0D6C92E009}"/>
              </a:ext>
            </a:extLst>
          </p:cNvPr>
          <p:cNvSpPr>
            <a:spLocks noGrp="1"/>
          </p:cNvSpPr>
          <p:nvPr>
            <p:ph type="title"/>
          </p:nvPr>
        </p:nvSpPr>
        <p:spPr>
          <a:xfrm>
            <a:off x="806246" y="265471"/>
            <a:ext cx="10698368" cy="707923"/>
          </a:xfrm>
        </p:spPr>
        <p:txBody>
          <a:bodyPr/>
          <a:lstStyle/>
          <a:p>
            <a:r>
              <a:rPr lang="en-US" b="1" u="sng" dirty="0">
                <a:latin typeface="Times New Roman" panose="02020603050405020304" pitchFamily="18" charset="0"/>
                <a:cs typeface="Times New Roman" panose="02020603050405020304" pitchFamily="18" charset="0"/>
              </a:rPr>
              <a:t>Annexure 6. Child Protection In Organizing Events</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499AFEC-C28A-DA2A-B6DC-C41F655CDE4B}"/>
              </a:ext>
            </a:extLst>
          </p:cNvPr>
          <p:cNvSpPr>
            <a:spLocks noGrp="1"/>
          </p:cNvSpPr>
          <p:nvPr>
            <p:ph sz="quarter" idx="13"/>
          </p:nvPr>
        </p:nvSpPr>
        <p:spPr>
          <a:xfrm>
            <a:off x="186813" y="1297858"/>
            <a:ext cx="12005187" cy="5560142"/>
          </a:xfrm>
        </p:spPr>
        <p:txBody>
          <a:bodyPr>
            <a:noAutofit/>
          </a:bodyPr>
          <a:lstStyle/>
          <a:p>
            <a:pPr algn="just"/>
            <a:r>
              <a:rPr lang="en-US" b="1" u="sng" dirty="0">
                <a:latin typeface="Times New Roman" panose="02020603050405020304" pitchFamily="18" charset="0"/>
                <a:cs typeface="Times New Roman" panose="02020603050405020304" pitchFamily="18" charset="0"/>
              </a:rPr>
              <a:t>Relevance of the Event for Children;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Events should be age-appropriate, with clear goals and realistic expectations.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Children's roles and the event's purpose should be clearly communicated.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Children should be involved in planning wherever possible. </a:t>
            </a:r>
          </a:p>
          <a:p>
            <a:pPr algn="just"/>
            <a:r>
              <a:rPr lang="en-US" b="1" u="sng" dirty="0">
                <a:latin typeface="Times New Roman" panose="02020603050405020304" pitchFamily="18" charset="0"/>
                <a:cs typeface="Times New Roman" panose="02020603050405020304" pitchFamily="18" charset="0"/>
              </a:rPr>
              <a:t>Planning for Events: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Plan events early to ensure proper child protection.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Conduct child protection risk analysis twice: during planning and one week before the event. </a:t>
            </a:r>
          </a:p>
          <a:p>
            <a:pPr algn="just"/>
            <a:r>
              <a:rPr lang="en-US" b="1" u="sng" dirty="0">
                <a:latin typeface="Times New Roman" panose="02020603050405020304" pitchFamily="18" charset="0"/>
                <a:cs typeface="Times New Roman" panose="02020603050405020304" pitchFamily="18" charset="0"/>
              </a:rPr>
              <a:t>Consent and Information Collection: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Obtain written parental consent for events outside the community.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Collect full child details including emergency contacts, medical/dietary needs.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Share organizer, escort, and event location details with parents. </a:t>
            </a:r>
          </a:p>
          <a:p>
            <a:pPr algn="just"/>
            <a:r>
              <a:rPr lang="en-US" b="1" u="sng" dirty="0">
                <a:latin typeface="Times New Roman" panose="02020603050405020304" pitchFamily="18" charset="0"/>
                <a:cs typeface="Times New Roman" panose="02020603050405020304" pitchFamily="18" charset="0"/>
              </a:rPr>
              <a:t>Venue and Site Logistics: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Ensure legal permissions and site safety, including weather-proof structures.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Clearly mark toilets, water, emergency contacts, and responsibilities. </a:t>
            </a:r>
          </a:p>
        </p:txBody>
      </p:sp>
    </p:spTree>
    <p:extLst>
      <p:ext uri="{BB962C8B-B14F-4D97-AF65-F5344CB8AC3E}">
        <p14:creationId xmlns:p14="http://schemas.microsoft.com/office/powerpoint/2010/main" val="19509964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7000"/>
                <a:alpha val="0"/>
              </a:schemeClr>
            </a:gs>
            <a:gs pos="86000">
              <a:srgbClr val="EED32E"/>
            </a:gs>
          </a:gsLst>
          <a:lin ang="135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41D42A-7CEB-24A9-C8DA-D23836EFA2D3}"/>
              </a:ext>
            </a:extLst>
          </p:cNvPr>
          <p:cNvSpPr>
            <a:spLocks noGrp="1"/>
          </p:cNvSpPr>
          <p:nvPr>
            <p:ph sz="quarter" idx="13"/>
          </p:nvPr>
        </p:nvSpPr>
        <p:spPr>
          <a:xfrm>
            <a:off x="186813" y="0"/>
            <a:ext cx="12005187" cy="6858000"/>
          </a:xfrm>
        </p:spPr>
        <p:txBody>
          <a:bodyPr>
            <a:normAutofit/>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Use public address systems and conduct regular briefings for all participants.</a:t>
            </a:r>
          </a:p>
          <a:p>
            <a:pPr algn="just"/>
            <a:r>
              <a:rPr lang="en-US" b="1" u="sng" dirty="0">
                <a:latin typeface="Times New Roman" panose="02020603050405020304" pitchFamily="18" charset="0"/>
                <a:cs typeface="Times New Roman" panose="02020603050405020304" pitchFamily="18" charset="0"/>
              </a:rPr>
              <a:t>Entrances and Exits: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Clearly mark all entry/exit points and display site maps for large events.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Assign volunteers at gates and pre-share rules about prohibited items.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Display emergency exit signage prominently.</a:t>
            </a:r>
          </a:p>
          <a:p>
            <a:pPr algn="just"/>
            <a:r>
              <a:rPr lang="en-US" b="1" u="sng" dirty="0">
                <a:latin typeface="Times New Roman" panose="02020603050405020304" pitchFamily="18" charset="0"/>
                <a:cs typeface="Times New Roman" panose="02020603050405020304" pitchFamily="18" charset="0"/>
              </a:rPr>
              <a:t>Travel: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Use licensed, safe transport and make reservations in advance.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Maintain escort-child ratio: 1:6 for &lt;14 years, 1:10 for 14+ years.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Prefer same-sex escorts; ensure female escort for all girls and boys under 8.</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4. Carry a first-aid kit and consider any travel sickness issues.</a:t>
            </a:r>
          </a:p>
          <a:p>
            <a:pPr algn="just"/>
            <a:r>
              <a:rPr lang="en-US" b="1" u="sng" dirty="0">
                <a:latin typeface="Times New Roman" panose="02020603050405020304" pitchFamily="18" charset="0"/>
                <a:cs typeface="Times New Roman" panose="02020603050405020304" pitchFamily="18" charset="0"/>
              </a:rPr>
              <a:t>Adequate Facilities: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Safe, gender-segregated accommodation and toilets with proper lighting.</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Healthy, timely food and clean drinking water must be ensured.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Fire safety measures and back-up electricity should be in place.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4. First aid, child-appropriate medicines, and on-site ambulance with emergency alternatives.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5. Sufficient lighting and backup power arrangements are essential.</a:t>
            </a:r>
          </a:p>
          <a:p>
            <a:pPr algn="just"/>
            <a:r>
              <a:rPr lang="en-US" b="1" u="sng" dirty="0">
                <a:latin typeface="Times New Roman" panose="02020603050405020304" pitchFamily="18" charset="0"/>
                <a:cs typeface="Times New Roman" panose="02020603050405020304" pitchFamily="18" charset="0"/>
              </a:rPr>
              <a:t>Volunteers and Personnel:</a:t>
            </a:r>
            <a:r>
              <a:rPr lang="en-US"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33848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2060"/>
            </a:gs>
            <a:gs pos="11000">
              <a:schemeClr val="accent6">
                <a:lumMod val="95000"/>
                <a:lumOff val="5000"/>
              </a:schemeClr>
            </a:gs>
          </a:gsLst>
          <a:lin ang="81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E8E6A5-CDAF-BA9B-5998-7859AF9DC795}"/>
              </a:ext>
            </a:extLst>
          </p:cNvPr>
          <p:cNvSpPr>
            <a:spLocks noGrp="1"/>
          </p:cNvSpPr>
          <p:nvPr>
            <p:ph sz="quarter" idx="13"/>
          </p:nvPr>
        </p:nvSpPr>
        <p:spPr>
          <a:xfrm>
            <a:off x="176981" y="0"/>
            <a:ext cx="12015019" cy="6858000"/>
          </a:xfrm>
        </p:spPr>
        <p:txBody>
          <a:bodyPr>
            <a:normAutofit fontScale="85000" lnSpcReduction="20000"/>
          </a:bodyPr>
          <a:lstStyle/>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1. All personnel must be trained on the Child Safeguarding Policy (CSP) and sign a commitment.</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2. Identity proof and contact details of all volunteers must be collected.</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3. Badges or ID cards should be provided and worn by all staff.</a:t>
            </a:r>
          </a:p>
          <a:p>
            <a:pPr algn="just"/>
            <a:r>
              <a:rPr lang="en-US" sz="2100" b="1" u="sng" dirty="0">
                <a:latin typeface="Times New Roman" panose="02020603050405020304" pitchFamily="18" charset="0"/>
                <a:cs typeface="Times New Roman" panose="02020603050405020304" pitchFamily="18" charset="0"/>
              </a:rPr>
              <a:t>Contingency Planning:</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1. Prepare emergency and evacuation plans with clear communication protocols.</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2. Keep emergency contacts, transport and alternate shelter ready.</a:t>
            </a:r>
          </a:p>
          <a:p>
            <a:pPr algn="just"/>
            <a:r>
              <a:rPr lang="en-US" sz="2100" b="1" u="sng" dirty="0">
                <a:latin typeface="Times New Roman" panose="02020603050405020304" pitchFamily="18" charset="0"/>
                <a:cs typeface="Times New Roman" panose="02020603050405020304" pitchFamily="18" charset="0"/>
              </a:rPr>
              <a:t>Additional Norms for Public Hearings:</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Public hearings aim to highlight unresolved issues and seek accountability. When involving children, their emotional well- being and safety must be prioritized.</a:t>
            </a:r>
          </a:p>
          <a:p>
            <a:pPr algn="just"/>
            <a:r>
              <a:rPr lang="en-US" sz="2100" b="1" u="sng" dirty="0">
                <a:latin typeface="Times New Roman" panose="02020603050405020304" pitchFamily="18" charset="0"/>
                <a:cs typeface="Times New Roman" panose="02020603050405020304" pitchFamily="18" charset="0"/>
              </a:rPr>
              <a:t>Selection of Cases/ complaints for Public Hearing:</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1. Ensure public hearing is the appropriate and safe platform – e.g., avoid public hearings for cases like child sexual abuse.</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2. Assess the psychological readiness of the child and family.</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3. Clearly explain the hearing process, pros and cons to the child and parents (as per the child’s maturity).</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4. Obtain written consent from the child or parents before including any case.</a:t>
            </a:r>
            <a:endParaRPr lang="en-US" sz="2100" b="1" u="sng" dirty="0">
              <a:latin typeface="Times New Roman" panose="02020603050405020304" pitchFamily="18" charset="0"/>
              <a:cs typeface="Times New Roman" panose="02020603050405020304" pitchFamily="18" charset="0"/>
            </a:endParaRPr>
          </a:p>
          <a:p>
            <a:pPr algn="just"/>
            <a:r>
              <a:rPr lang="en-US" sz="2100" b="1" u="sng" dirty="0">
                <a:latin typeface="Times New Roman" panose="02020603050405020304" pitchFamily="18" charset="0"/>
                <a:cs typeface="Times New Roman" panose="02020603050405020304" pitchFamily="18" charset="0"/>
              </a:rPr>
              <a:t>Norms for Child Protection for Children Representing their Own Cases </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1. Brief panelists and press on the Child Safeguarding Policy (CSP).</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2. Ensure the media follows strict guidelines—no photos, videos, or personal details that identify the child. </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3. Share case details with panelists a few hours before the hearing, along with any child protection concerns.</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4. Avoid communication that could cause stigma or reveal the child’s identity. </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5. Keep all documents confidential and access restricted.</a:t>
            </a:r>
            <a:endParaRPr lang="en-US" sz="21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just"/>
            <a:endParaRPr lang="en-US" sz="21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270022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bg2">
                <a:tint val="90000"/>
                <a:satMod val="92000"/>
                <a:lumMod val="120000"/>
              </a:schemeClr>
            </a:gs>
            <a:gs pos="99000">
              <a:schemeClr val="accent2"/>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491F3-1930-5A16-42DE-6B54ED554579}"/>
              </a:ext>
            </a:extLst>
          </p:cNvPr>
          <p:cNvSpPr>
            <a:spLocks noGrp="1"/>
          </p:cNvSpPr>
          <p:nvPr>
            <p:ph type="title"/>
          </p:nvPr>
        </p:nvSpPr>
        <p:spPr>
          <a:xfrm>
            <a:off x="1877960" y="206478"/>
            <a:ext cx="8780207" cy="737419"/>
          </a:xfrm>
        </p:spPr>
        <p:txBody>
          <a:bodyPr/>
          <a:lstStyle/>
          <a:p>
            <a:r>
              <a:rPr lang="en-US" b="1" u="sng" dirty="0">
                <a:latin typeface="Times New Roman" panose="02020603050405020304" pitchFamily="18" charset="0"/>
                <a:cs typeface="Times New Roman" panose="02020603050405020304" pitchFamily="18" charset="0"/>
              </a:rPr>
              <a:t>Annexure 7. Risk Assessment Framework</a:t>
            </a:r>
            <a:endParaRPr lang="en-IN" dirty="0"/>
          </a:p>
        </p:txBody>
      </p:sp>
      <p:sp>
        <p:nvSpPr>
          <p:cNvPr id="3" name="Content Placeholder 2">
            <a:extLst>
              <a:ext uri="{FF2B5EF4-FFF2-40B4-BE49-F238E27FC236}">
                <a16:creationId xmlns:a16="http://schemas.microsoft.com/office/drawing/2014/main" id="{D65A6663-C722-3481-FF01-A5B62BA342DD}"/>
              </a:ext>
            </a:extLst>
          </p:cNvPr>
          <p:cNvSpPr>
            <a:spLocks noGrp="1"/>
          </p:cNvSpPr>
          <p:nvPr>
            <p:ph sz="quarter" idx="13"/>
          </p:nvPr>
        </p:nvSpPr>
        <p:spPr>
          <a:xfrm>
            <a:off x="186813" y="1327355"/>
            <a:ext cx="12005187" cy="5530645"/>
          </a:xfrm>
        </p:spPr>
        <p:txBody>
          <a:bodyPr>
            <a:normAutofit fontScale="92500" lnSpcReduction="20000"/>
          </a:bodyPr>
          <a:lstStyle/>
          <a:p>
            <a:pPr algn="just"/>
            <a:r>
              <a:rPr lang="en-US" sz="1900" b="1" u="sng" dirty="0">
                <a:latin typeface="Times New Roman" panose="02020603050405020304" pitchFamily="18" charset="0"/>
                <a:cs typeface="Times New Roman" panose="02020603050405020304" pitchFamily="18" charset="0"/>
              </a:rPr>
              <a:t>Risk Assessment and Management should be done: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1.  At the planning stage of any new child-related program or event (offline or online).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2. After finalizing event details.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3. Periodically for all spaces children access or may access.</a:t>
            </a:r>
          </a:p>
          <a:p>
            <a:pPr algn="just"/>
            <a:r>
              <a:rPr lang="en-US" sz="1900" b="1" u="sng" dirty="0">
                <a:latin typeface="Times New Roman" panose="02020603050405020304" pitchFamily="18" charset="0"/>
                <a:cs typeface="Times New Roman" panose="02020603050405020304" pitchFamily="18" charset="0"/>
              </a:rPr>
              <a:t>Key Risk Categories: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1. Infrastructure – unsafe stairs, exposed wires, fire hazards, sharp furniture.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2. Personnel – staff, volunteers, guests, or escorts interacting with children.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3. Program Activities – risks from nature of the event (e.g., heat, injuries, dehydration).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4. Information – handling children’s personal data, reporting mechanisms.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5. Organizational Culture – transparency, child rights compliance, grievance handling. </a:t>
            </a:r>
          </a:p>
          <a:p>
            <a:pPr algn="just"/>
            <a:r>
              <a:rPr lang="en-US" sz="1900" b="1" u="sng" dirty="0">
                <a:latin typeface="Times New Roman" panose="02020603050405020304" pitchFamily="18" charset="0"/>
                <a:cs typeface="Times New Roman" panose="02020603050405020304" pitchFamily="18" charset="0"/>
              </a:rPr>
              <a:t>Steps in Risk Assessment and management:</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1. Identify Hazards in each category. Involve all personnel including children for a well-rounded perspective.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2. Assess Vulnerability – Identify children or groups who may be more at risk.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3. Risk Ranking – Rank as Low, Medium, or High based on: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What/how bad would the consequences be?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What is the likelihood of these consequences occurring? </a:t>
            </a:r>
          </a:p>
          <a:p>
            <a:endParaRPr lang="en-IN" dirty="0"/>
          </a:p>
        </p:txBody>
      </p:sp>
    </p:spTree>
    <p:extLst>
      <p:ext uri="{BB962C8B-B14F-4D97-AF65-F5344CB8AC3E}">
        <p14:creationId xmlns:p14="http://schemas.microsoft.com/office/powerpoint/2010/main" val="3449097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FFC000"/>
            </a:gs>
            <a:gs pos="100000">
              <a:schemeClr val="accent2"/>
            </a:gs>
          </a:gsLst>
          <a:lin ang="27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1D376E-42F6-6510-D1CB-ADBAF076DF75}"/>
              </a:ext>
            </a:extLst>
          </p:cNvPr>
          <p:cNvSpPr>
            <a:spLocks noGrp="1"/>
          </p:cNvSpPr>
          <p:nvPr>
            <p:ph sz="quarter" idx="13"/>
          </p:nvPr>
        </p:nvSpPr>
        <p:spPr>
          <a:xfrm>
            <a:off x="176981" y="0"/>
            <a:ext cx="12015019" cy="6858000"/>
          </a:xfrm>
        </p:spPr>
        <p:txBody>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4. Risk Management Actions: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Do nothing (no action needed – low risk &amp; benefits outweigh risks).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Monitor more closely for a set period to decide further (low risk).</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Change activities/policies/plans to manage or reduce risk (medium to high risk).</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Stop the activity if risk cannot be adequately managed (medium to high risk)</a:t>
            </a: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2CBE2D7B-47C7-8C9B-6DAF-256AEF0535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2025" y="2317172"/>
            <a:ext cx="10267950" cy="4239491"/>
          </a:xfrm>
          <a:prstGeom prst="rect">
            <a:avLst/>
          </a:prstGeom>
        </p:spPr>
      </p:pic>
    </p:spTree>
    <p:extLst>
      <p:ext uri="{BB962C8B-B14F-4D97-AF65-F5344CB8AC3E}">
        <p14:creationId xmlns:p14="http://schemas.microsoft.com/office/powerpoint/2010/main" val="4448591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47E97-3E7E-5353-1EDF-8D3DD8E6AC96}"/>
              </a:ext>
            </a:extLst>
          </p:cNvPr>
          <p:cNvSpPr>
            <a:spLocks noGrp="1"/>
          </p:cNvSpPr>
          <p:nvPr>
            <p:ph type="title"/>
          </p:nvPr>
        </p:nvSpPr>
        <p:spPr>
          <a:xfrm>
            <a:off x="2300749" y="275303"/>
            <a:ext cx="8357420" cy="796413"/>
          </a:xfrm>
        </p:spPr>
        <p:txBody>
          <a:bodyPr/>
          <a:lstStyle/>
          <a:p>
            <a:r>
              <a:rPr lang="en-US" b="1" u="sng" dirty="0">
                <a:latin typeface="Times New Roman" panose="02020603050405020304" pitchFamily="18" charset="0"/>
                <a:cs typeface="Times New Roman" panose="02020603050405020304" pitchFamily="18" charset="0"/>
              </a:rPr>
              <a:t>Annexure 8. Online Safety Of Children</a:t>
            </a:r>
            <a:endParaRPr lang="en-IN" b="1" u="sng"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35DD406-D685-B6A0-FBFE-D413ED0DEC94}"/>
              </a:ext>
            </a:extLst>
          </p:cNvPr>
          <p:cNvSpPr>
            <a:spLocks noGrp="1"/>
          </p:cNvSpPr>
          <p:nvPr>
            <p:ph idx="1"/>
          </p:nvPr>
        </p:nvSpPr>
        <p:spPr>
          <a:xfrm>
            <a:off x="176981" y="1366684"/>
            <a:ext cx="12015019" cy="5491315"/>
          </a:xfrm>
        </p:spPr>
        <p:txBody>
          <a:bodyPr/>
          <a:lstStyle/>
          <a:p>
            <a:pPr algn="just"/>
            <a:r>
              <a:rPr lang="en-IN" dirty="0"/>
              <a:t> </a:t>
            </a:r>
            <a:r>
              <a:rPr lang="en-IN" b="1" u="sng" dirty="0">
                <a:latin typeface="Times New Roman" panose="02020603050405020304" pitchFamily="18" charset="0"/>
                <a:cs typeface="Times New Roman" panose="02020603050405020304" pitchFamily="18" charset="0"/>
              </a:rPr>
              <a:t>I. Online Events and Programs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1. Keep children's identities and backgrounds private.﻿</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2. Obtain informed consent from parents/guardians.﻿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3. Set ground rules and ensure safe online interactions.﻿</a:t>
            </a:r>
          </a:p>
          <a:p>
            <a:pPr algn="just"/>
            <a:r>
              <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II. Online Study/Support Classes﻿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1. Provide children with orientation and expectations.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2. Keep phone numbers private and share dos/don'ts in a child-friendly manner.﻿</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﻿3. Encourage limited identification (first name or pseudonym).﻿</a:t>
            </a:r>
          </a:p>
          <a:p>
            <a:pPr algn="just"/>
            <a:r>
              <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III. Common Guidelines﻿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1. Use organizational devices/accounts or limited identifiers.﻿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 2. Maintain a neutral background and dress modestly in online meetings.﻿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3. Provide digital literacy and teach online safety, privacy, and etiquette.﻿</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4. Report any violations of child protection rights to relevant teams.﻿</a:t>
            </a:r>
          </a:p>
          <a:p>
            <a:pPr algn="just">
              <a:buFont typeface="Courier New" panose="02070309020205020404" pitchFamily="49" charset="0"/>
              <a:buChar char="o"/>
            </a:pPr>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b="1" u="sng" dirty="0">
              <a:latin typeface="Times New Roman" panose="02020603050405020304" pitchFamily="18" charset="0"/>
              <a:cs typeface="Times New Roman" panose="02020603050405020304" pitchFamily="18" charset="0"/>
            </a:endParaRPr>
          </a:p>
          <a:p>
            <a:endParaRPr lang="en-IN" b="1" u="sng"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5C5E3A5D-72C6-3920-7828-09E8BD03B2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4751" y="1366684"/>
            <a:ext cx="4159874" cy="3797744"/>
          </a:xfrm>
          <a:prstGeom prst="rect">
            <a:avLst/>
          </a:prstGeom>
        </p:spPr>
      </p:pic>
    </p:spTree>
    <p:extLst>
      <p:ext uri="{BB962C8B-B14F-4D97-AF65-F5344CB8AC3E}">
        <p14:creationId xmlns:p14="http://schemas.microsoft.com/office/powerpoint/2010/main" val="34233648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67000"/>
              </a:schemeClr>
            </a:gs>
            <a:gs pos="17000">
              <a:schemeClr val="accent5">
                <a:lumMod val="97000"/>
                <a:lumOff val="3000"/>
              </a:schemeClr>
            </a:gs>
            <a:gs pos="55000">
              <a:schemeClr val="accent5">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7B5E1-B741-B59E-A83A-4B7824B15F8C}"/>
              </a:ext>
            </a:extLst>
          </p:cNvPr>
          <p:cNvSpPr>
            <a:spLocks noGrp="1"/>
          </p:cNvSpPr>
          <p:nvPr>
            <p:ph type="title"/>
          </p:nvPr>
        </p:nvSpPr>
        <p:spPr>
          <a:xfrm>
            <a:off x="3038167" y="299884"/>
            <a:ext cx="8466445" cy="988141"/>
          </a:xfrm>
        </p:spPr>
        <p:txBody>
          <a:bodyPr/>
          <a:lstStyle/>
          <a:p>
            <a:r>
              <a:rPr lang="en-US" b="1" u="sng" dirty="0">
                <a:latin typeface="Times New Roman" panose="02020603050405020304" pitchFamily="18" charset="0"/>
                <a:cs typeface="Times New Roman" panose="02020603050405020304" pitchFamily="18" charset="0"/>
              </a:rPr>
              <a:t>Annexure 9. Human Resource</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A52D64E-0658-5C7C-337F-E30570EFD678}"/>
              </a:ext>
            </a:extLst>
          </p:cNvPr>
          <p:cNvSpPr>
            <a:spLocks noGrp="1"/>
          </p:cNvSpPr>
          <p:nvPr>
            <p:ph idx="1"/>
          </p:nvPr>
        </p:nvSpPr>
        <p:spPr>
          <a:xfrm>
            <a:off x="167149" y="1396180"/>
            <a:ext cx="12024852" cy="5461820"/>
          </a:xfrm>
        </p:spPr>
        <p:txBody>
          <a:bodyPr>
            <a:normAutofit/>
          </a:bodyPr>
          <a:lstStyle/>
          <a:p>
            <a:pPr algn="just"/>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 Recruitment Process:</a:t>
            </a:r>
          </a:p>
          <a:p>
            <a:pPr algn="just">
              <a:buFont typeface="Courier New" panose="02070309020205020404" pitchFamily="49" charset="0"/>
              <a:buChar char="o"/>
            </a:pPr>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kern="100" dirty="0" smtClean="0">
                <a:effectLst/>
                <a:latin typeface="Times New Roman" panose="02020603050405020304" pitchFamily="18" charset="0"/>
                <a:ea typeface="Times New Roman" panose="02020603050405020304" pitchFamily="18" charset="0"/>
                <a:cs typeface="Times New Roman" panose="02020603050405020304" pitchFamily="18" charset="0"/>
              </a:rPr>
              <a:t>1.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Inform candidates about child protection commitment.</a:t>
            </a: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2.</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Conduct background checks and reference checks﻿</a:t>
            </a:r>
            <a:r>
              <a:rPr lang="en-IN" kern="100" dirty="0" smtClean="0">
                <a:effectLst/>
                <a:latin typeface="Times New Roman" panose="02020603050405020304" pitchFamily="18" charset="0"/>
                <a:ea typeface="Times New Roman" panose="02020603050405020304" pitchFamily="18" charset="0"/>
                <a:cs typeface="Times New Roman" panose="02020603050405020304" pitchFamily="18" charset="0"/>
              </a:rPr>
              <a:t>.</a:t>
            </a:r>
          </a:p>
          <a:p>
            <a:pPr algn="just">
              <a:buFont typeface="Courier New" panose="02070309020205020404" pitchFamily="49" charset="0"/>
              <a:buChar char="o"/>
            </a:pPr>
            <a:r>
              <a:rPr lang="en-IN" kern="1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kern="100" dirty="0" smtClean="0">
                <a:latin typeface="Times New Roman" panose="02020603050405020304" pitchFamily="18" charset="0"/>
                <a:ea typeface="Times New Roman" panose="02020603050405020304" pitchFamily="18" charset="0"/>
                <a:cs typeface="Times New Roman" panose="02020603050405020304" pitchFamily="18" charset="0"/>
              </a:rPr>
              <a:t>3</a:t>
            </a:r>
            <a:r>
              <a:rPr lang="en-IN" kern="100" dirty="0">
                <a:latin typeface="Times New Roman" panose="02020603050405020304" pitchFamily="18" charset="0"/>
                <a:ea typeface="Times New Roman" panose="02020603050405020304" pitchFamily="18" charset="0"/>
                <a:cs typeface="Times New Roman" panose="02020603050405020304" pitchFamily="18" charset="0"/>
              </a:rPr>
              <a:t>.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Verify employment history and inquire about child protection violations﻿</a:t>
            </a:r>
            <a:r>
              <a:rPr lang="en-IN" kern="100" dirty="0" smtClean="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II. Personnel Records</a:t>
            </a:r>
            <a:r>
              <a:rPr lang="en-IN" b="1" u="sng" kern="100" dirty="0" smtClean="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1.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Resume, photograph, signed appointment letter, and CSP commitment form﻿.</a:t>
            </a: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2.</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Contact information, identity and qualification proofs, work experience proof, and reference check reports﻿.</a:t>
            </a:r>
          </a:p>
          <a:p>
            <a:pPr algn="just"/>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III. Training</a:t>
            </a:r>
            <a:r>
              <a:rPr lang="en-IN" b="1" u="sng" kern="100" dirty="0" smtClean="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1.</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Induction and periodic training on Child Safety Policy (CSP)﻿.</a:t>
            </a: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2.</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Updates on procedures, duties, and child protection issues﻿.</a:t>
            </a:r>
          </a:p>
          <a:p>
            <a:pPr algn="just"/>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IV. Disciplinary Actions:﻿</a:t>
            </a:r>
          </a:p>
          <a:p>
            <a:pPr algn="just">
              <a:buFont typeface="Courier New" panose="02070309020205020404" pitchFamily="49" charset="0"/>
              <a:buChar char="o"/>
            </a:pP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Follow organizational procedures for child abuse or CSP violations﻿.</a:t>
            </a:r>
          </a:p>
          <a:p>
            <a:pPr algn="just"/>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47848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rgbClr val="CC9900"/>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89D8F-C080-2434-BAC9-7E9FCA95517F}"/>
              </a:ext>
            </a:extLst>
          </p:cNvPr>
          <p:cNvSpPr>
            <a:spLocks noGrp="1"/>
          </p:cNvSpPr>
          <p:nvPr>
            <p:ph type="title"/>
          </p:nvPr>
        </p:nvSpPr>
        <p:spPr>
          <a:xfrm>
            <a:off x="2448232" y="324466"/>
            <a:ext cx="9056381" cy="806244"/>
          </a:xfrm>
        </p:spPr>
        <p:txBody>
          <a:bodyPr/>
          <a:lstStyle/>
          <a:p>
            <a:r>
              <a:rPr lang="en-US" b="1" u="sng" dirty="0">
                <a:latin typeface="Times New Roman" panose="02020603050405020304" pitchFamily="18" charset="0"/>
                <a:cs typeface="Times New Roman" panose="02020603050405020304" pitchFamily="18" charset="0"/>
              </a:rPr>
              <a:t>Annexure 10. Partnerships and Associates</a:t>
            </a:r>
            <a:endParaRPr lang="en-IN" b="1" u="sng"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3C0B566C-6A8D-2987-DA7A-080C9FD0577F}"/>
              </a:ext>
            </a:extLst>
          </p:cNvPr>
          <p:cNvSpPr>
            <a:spLocks noGrp="1"/>
          </p:cNvSpPr>
          <p:nvPr>
            <p:ph idx="1"/>
          </p:nvPr>
        </p:nvSpPr>
        <p:spPr>
          <a:xfrm>
            <a:off x="186813" y="1533832"/>
            <a:ext cx="12005187" cy="5324168"/>
          </a:xfrm>
        </p:spPr>
        <p:txBody>
          <a:bodyPr/>
          <a:lstStyle/>
          <a:p>
            <a:pPr algn="just"/>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CRY's Child Safeguarding Policy prioritizes child protection across various stakeholders, including:</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1. Program Partners:</a:t>
            </a:r>
            <a:r>
              <a:rPr lang="en-IN" kern="100" dirty="0">
                <a:latin typeface="Times New Roman" panose="02020603050405020304" pitchFamily="18" charset="0"/>
                <a:ea typeface="Times New Roman" panose="02020603050405020304" pitchFamily="18" charset="0"/>
                <a:cs typeface="Times New Roman" panose="02020603050405020304" pitchFamily="18" charset="0"/>
              </a:rPr>
              <a:t>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Thorough assessment, training, and monitoring ensure adherence to CSP standards.</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2. Vendors/Consultants</a:t>
            </a:r>
            <a:r>
              <a:rPr lang="en-IN" b="1" kern="100" dirty="0">
                <a:latin typeface="Times New Roman" panose="02020603050405020304" pitchFamily="18" charset="0"/>
                <a:ea typeface="Times New Roman" panose="02020603050405020304" pitchFamily="18" charset="0"/>
                <a:cs typeface="Times New Roman" panose="02020603050405020304" pitchFamily="18" charset="0"/>
              </a:rPr>
              <a:t>:</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Stringent reference checks, CSP clauses in contracts, and a zero-tolerance policy for child labour</a:t>
            </a:r>
            <a:r>
              <a:rPr lang="en-IN" kern="100" dirty="0">
                <a:latin typeface="Times New Roman" panose="02020603050405020304" pitchFamily="18" charset="0"/>
                <a:ea typeface="Times New Roman" panose="02020603050405020304" pitchFamily="18" charset="0"/>
                <a:cs typeface="Times New Roman" panose="02020603050405020304" pitchFamily="18" charset="0"/>
              </a:rPr>
              <a:t>.</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3. Donors: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CSP guidelines apply during interactions with children and photography, ensuring safe and respectful engagement.﻿</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4. Alliances/Networks: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CSP integration through agreements and funding ensures collective child safeguarding efforts.﻿</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5. Visitors: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Briefings on CSP, adherence to codes of conduct, and accompaniment during child interactions maintain a safe environment.﻿</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6. Children: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Empowerment through dialogue, awareness, and child-friendly CSP displays enables them to recognize and report potential threats</a:t>
            </a:r>
          </a:p>
          <a:p>
            <a:pPr algn="just"/>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658836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7000">
              <a:schemeClr val="bg1"/>
            </a:gs>
            <a:gs pos="100000">
              <a:srgbClr val="FF66FF"/>
            </a:gs>
          </a:gsLst>
          <a:path path="circle">
            <a:fillToRect l="50000" t="50000" r="100000" b="100000"/>
          </a:path>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B7CEFD-2885-8E9C-D483-11163F271D3B}"/>
              </a:ext>
            </a:extLst>
          </p:cNvPr>
          <p:cNvSpPr>
            <a:spLocks noGrp="1"/>
          </p:cNvSpPr>
          <p:nvPr>
            <p:ph type="title"/>
          </p:nvPr>
        </p:nvSpPr>
        <p:spPr>
          <a:xfrm>
            <a:off x="2005781" y="186814"/>
            <a:ext cx="10087895" cy="1386348"/>
          </a:xfrm>
        </p:spPr>
        <p:txBody>
          <a:bodyPr>
            <a:normAutofit/>
          </a:bodyPr>
          <a:lstStyle/>
          <a:p>
            <a:r>
              <a:rPr lang="en-US" b="1" u="sng" dirty="0">
                <a:latin typeface="Times New Roman" panose="02020603050405020304" pitchFamily="18" charset="0"/>
                <a:cs typeface="Times New Roman" panose="02020603050405020304" pitchFamily="18" charset="0"/>
              </a:rPr>
              <a:t>Annexure 11. Standard Operating Procedure – Internal And External Reporting Process</a:t>
            </a:r>
            <a:endParaRPr lang="en-IN" b="1" u="sng"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A35F26FF-8B6B-F511-006B-294352FD6EBB}"/>
              </a:ext>
            </a:extLst>
          </p:cNvPr>
          <p:cNvSpPr>
            <a:spLocks noGrp="1"/>
          </p:cNvSpPr>
          <p:nvPr>
            <p:ph idx="1"/>
          </p:nvPr>
        </p:nvSpPr>
        <p:spPr>
          <a:xfrm>
            <a:off x="196645" y="1838632"/>
            <a:ext cx="11995355" cy="5019368"/>
          </a:xfrm>
        </p:spPr>
        <p:txBody>
          <a:bodyPr>
            <a:normAutofit/>
          </a:bodyPr>
          <a:lstStyle/>
          <a:p>
            <a:pPr algn="just"/>
            <a:r>
              <a:rPr lang="en-US" b="1" u="sng" dirty="0">
                <a:latin typeface="Times New Roman" panose="02020603050405020304" pitchFamily="18" charset="0"/>
                <a:cs typeface="Times New Roman" panose="02020603050405020304" pitchFamily="18" charset="0"/>
              </a:rPr>
              <a:t>Internal Reporting Process of CRY</a:t>
            </a:r>
          </a:p>
          <a:p>
            <a:pPr algn="just"/>
            <a:r>
              <a:rPr lang="en-US" b="1" dirty="0">
                <a:latin typeface="Times New Roman" panose="02020603050405020304" pitchFamily="18" charset="0"/>
                <a:cs typeface="Times New Roman" panose="02020603050405020304" pitchFamily="18" charset="0"/>
              </a:rPr>
              <a:t>Who can report?: </a:t>
            </a:r>
            <a:r>
              <a:rPr lang="en-US" dirty="0">
                <a:latin typeface="Times New Roman" panose="02020603050405020304" pitchFamily="18" charset="0"/>
                <a:cs typeface="Times New Roman" panose="02020603050405020304" pitchFamily="18" charset="0"/>
              </a:rPr>
              <a:t>Child, adult, parents, community member, stakeholder, CRY staff or associate or any other person.</a:t>
            </a:r>
          </a:p>
          <a:p>
            <a:pPr algn="just"/>
            <a:r>
              <a:rPr lang="en-US" b="1" dirty="0">
                <a:latin typeface="Times New Roman" panose="02020603050405020304" pitchFamily="18" charset="0"/>
                <a:cs typeface="Times New Roman" panose="02020603050405020304" pitchFamily="18" charset="0"/>
              </a:rPr>
              <a:t>What to report?: </a:t>
            </a:r>
            <a:r>
              <a:rPr lang="en-US" dirty="0">
                <a:latin typeface="Times New Roman" panose="02020603050405020304" pitchFamily="18" charset="0"/>
                <a:cs typeface="Times New Roman" panose="02020603050405020304" pitchFamily="18" charset="0"/>
              </a:rPr>
              <a:t>ANY - Allegation, suspicion, disclosure or observation of child abuse or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Concerns about the action or that has harmed or put a child at risk of harm or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Suspected or confirmed breaches of the CP Policy and/or Code of Conduct or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Information received of criminal proceedings being undertaken in regards to child exploitation/abuse committed by any CRY staff, associate, or representative. </a:t>
            </a:r>
          </a:p>
          <a:p>
            <a:pPr algn="just"/>
            <a:r>
              <a:rPr lang="en-US" b="1" dirty="0">
                <a:latin typeface="Times New Roman" panose="02020603050405020304" pitchFamily="18" charset="0"/>
                <a:cs typeface="Times New Roman" panose="02020603050405020304" pitchFamily="18" charset="0"/>
              </a:rPr>
              <a:t>When to report? </a:t>
            </a:r>
            <a:r>
              <a:rPr lang="en-US" dirty="0">
                <a:latin typeface="Times New Roman" panose="02020603050405020304" pitchFamily="18" charset="0"/>
                <a:cs typeface="Times New Roman" panose="02020603050405020304" pitchFamily="18" charset="0"/>
              </a:rPr>
              <a:t>Immediately or within 24 hours. In case of any criminal offence immediately.</a:t>
            </a:r>
          </a:p>
          <a:p>
            <a:pPr algn="just"/>
            <a:r>
              <a:rPr lang="en-US" b="1" dirty="0">
                <a:latin typeface="Times New Roman" panose="02020603050405020304" pitchFamily="18" charset="0"/>
                <a:cs typeface="Times New Roman" panose="02020603050405020304" pitchFamily="18" charset="0"/>
              </a:rPr>
              <a:t>Who to report? </a:t>
            </a:r>
            <a:r>
              <a:rPr lang="en-US" dirty="0">
                <a:latin typeface="Times New Roman" panose="02020603050405020304" pitchFamily="18" charset="0"/>
                <a:cs typeface="Times New Roman" panose="02020603050405020304" pitchFamily="18" charset="0"/>
              </a:rPr>
              <a:t>Designated Authority / ties (DA/DAs)</a:t>
            </a:r>
          </a:p>
          <a:p>
            <a:pPr algn="just"/>
            <a:r>
              <a:rPr lang="en-US" b="1" dirty="0">
                <a:latin typeface="Times New Roman" panose="02020603050405020304" pitchFamily="18" charset="0"/>
                <a:cs typeface="Times New Roman" panose="02020603050405020304" pitchFamily="18" charset="0"/>
              </a:rPr>
              <a:t>What will happen? </a:t>
            </a:r>
            <a:r>
              <a:rPr lang="en-US" b="1" u="sng" dirty="0">
                <a:latin typeface="Times New Roman" panose="02020603050405020304" pitchFamily="18" charset="0"/>
                <a:cs typeface="Times New Roman" panose="02020603050405020304" pitchFamily="18" charset="0"/>
              </a:rPr>
              <a:t>Responding as soon as possible or as per law of the land or not more than 48 hours of reporting of the incident.</a:t>
            </a:r>
            <a:r>
              <a:rPr lang="en-US" dirty="0">
                <a:latin typeface="Times New Roman" panose="02020603050405020304" pitchFamily="18" charset="0"/>
                <a:cs typeface="Times New Roman" panose="02020603050405020304" pitchFamily="18" charset="0"/>
              </a:rPr>
              <a:t> DA/DAs will decide whether case is internal or external, if internal following process may happen, if external will be handed over to program team. The following processes are: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Assessment of severity by the above people or as per their discretion.</a:t>
            </a:r>
          </a:p>
          <a:p>
            <a:endParaRPr lang="en-IN" dirty="0"/>
          </a:p>
        </p:txBody>
      </p:sp>
    </p:spTree>
    <p:extLst>
      <p:ext uri="{BB962C8B-B14F-4D97-AF65-F5344CB8AC3E}">
        <p14:creationId xmlns:p14="http://schemas.microsoft.com/office/powerpoint/2010/main" val="26373116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3000">
              <a:schemeClr val="accent1">
                <a:lumMod val="60000"/>
                <a:lumOff val="40000"/>
              </a:schemeClr>
            </a:gs>
            <a:gs pos="98000">
              <a:schemeClr val="bg2">
                <a:shade val="98000"/>
                <a:satMod val="120000"/>
                <a:lumMod val="98000"/>
              </a:schemeClr>
            </a:gs>
          </a:gsLst>
          <a:path path="rect">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DC5304-3AAF-C08A-D405-F8FD97DB8D79}"/>
              </a:ext>
            </a:extLst>
          </p:cNvPr>
          <p:cNvSpPr>
            <a:spLocks noGrp="1"/>
          </p:cNvSpPr>
          <p:nvPr>
            <p:ph idx="1"/>
          </p:nvPr>
        </p:nvSpPr>
        <p:spPr>
          <a:xfrm>
            <a:off x="1" y="384464"/>
            <a:ext cx="12192000" cy="6473536"/>
          </a:xfrm>
        </p:spPr>
        <p:txBody>
          <a:bodyPr>
            <a:normAutofit/>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Investigation committee to be formed (SOP investigation guidelines), if required.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Incident will be reported to statutory bodies for any criminal case else an investigation team will be formed for further action.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Legal advice can be taken as per need.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A proper risk assessment to be made.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Depends on severity of incident, to be reported to Board.</a:t>
            </a:r>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Possible outcomes:</a:t>
            </a:r>
            <a:r>
              <a:rPr lang="en-US"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Internal investigation to be completed asap or not more than one month.</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Meetings to discuss breach and opportunity for person to provide their account/understanding of the situation.</a:t>
            </a:r>
            <a:endParaRPr lang="en-US" dirty="0"/>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Performance Management</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Further education on the CP Policy and Code of Conduct </a:t>
            </a:r>
            <a:endParaRPr lang="en-US" dirty="0"/>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Formal warning and monitoring</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Transfer to other duties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Suspension pending investigation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Internal and/or criminal investigation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to Police or any other statutory body</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Dismissal of case </a:t>
            </a:r>
          </a:p>
          <a:p>
            <a:endParaRPr lang="en-IN" dirty="0"/>
          </a:p>
        </p:txBody>
      </p:sp>
    </p:spTree>
    <p:extLst>
      <p:ext uri="{BB962C8B-B14F-4D97-AF65-F5344CB8AC3E}">
        <p14:creationId xmlns:p14="http://schemas.microsoft.com/office/powerpoint/2010/main" val="2337335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gradFill rotWithShape="1">
          <a:gsLst>
            <a:gs pos="36000">
              <a:srgbClr val="FFFF66"/>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46F3EE41-D401-D41A-9381-5D37EE25C457}"/>
              </a:ext>
            </a:extLst>
          </p:cNvPr>
          <p:cNvSpPr>
            <a:spLocks noGrp="1"/>
          </p:cNvSpPr>
          <p:nvPr>
            <p:ph idx="1"/>
          </p:nvPr>
        </p:nvSpPr>
        <p:spPr>
          <a:xfrm>
            <a:off x="167148" y="88490"/>
            <a:ext cx="12024852" cy="6769509"/>
          </a:xfrm>
        </p:spPr>
        <p:txBody>
          <a:bodyPr>
            <a:normAutofit/>
          </a:bodyPr>
          <a:lstStyle/>
          <a:p>
            <a:pPr algn="just"/>
            <a:r>
              <a:rPr lang="en-US" b="1" dirty="0">
                <a:latin typeface="Times New Roman" panose="02020603050405020304" pitchFamily="18" charset="0"/>
                <a:cs typeface="Times New Roman" panose="02020603050405020304" pitchFamily="18" charset="0"/>
              </a:rPr>
              <a:t>Follow Up:</a:t>
            </a:r>
            <a:r>
              <a:rPr lang="en-US" dirty="0">
                <a:latin typeface="Times New Roman" panose="02020603050405020304" pitchFamily="18" charset="0"/>
                <a:cs typeface="Times New Roman" panose="02020603050405020304" pitchFamily="18" charset="0"/>
              </a:rPr>
              <a:t>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Protecting confidentiality and privacy</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Debriefing/ counselling to be offered as per need, if required,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Follow up update to be shared on need-to-know basis</a:t>
            </a:r>
            <a:endParaRPr lang="en-US" b="1" u="sng" dirty="0">
              <a:latin typeface="Times New Roman" panose="02020603050405020304" pitchFamily="18" charset="0"/>
              <a:cs typeface="Times New Roman" panose="02020603050405020304" pitchFamily="18" charset="0"/>
            </a:endParaRPr>
          </a:p>
          <a:p>
            <a:pPr algn="just"/>
            <a:r>
              <a:rPr lang="en-US" b="1" u="sng" dirty="0">
                <a:latin typeface="Times New Roman" panose="02020603050405020304" pitchFamily="18" charset="0"/>
                <a:cs typeface="Times New Roman" panose="02020603050405020304" pitchFamily="18" charset="0"/>
              </a:rPr>
              <a:t>External Reporting Process of CRY</a:t>
            </a:r>
            <a:endParaRPr lang="en-US" b="1" u="sng" dirty="0"/>
          </a:p>
          <a:p>
            <a:pPr algn="just">
              <a:buFont typeface="Courier New" panose="02070309020205020404" pitchFamily="49" charset="0"/>
              <a:buChar char="o"/>
            </a:pPr>
            <a:r>
              <a:rPr lang="en-US" dirty="0"/>
              <a:t> </a:t>
            </a:r>
            <a:r>
              <a:rPr lang="en-US" dirty="0">
                <a:latin typeface="Times New Roman" panose="02020603050405020304" pitchFamily="18" charset="0"/>
                <a:cs typeface="Times New Roman" panose="02020603050405020304" pitchFamily="18" charset="0"/>
              </a:rPr>
              <a:t>The process is concerned with child protection within the program area of the organization. The SOP addresses issues of child protection outside the contexts of organization but within the program areas.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This SOP explains CRYs representatives’ responsibility towards children we work with or who are in our program area but not necessarily our beneficiary and who may be experiencing specific forms of abuse or maltreatment external to the organization. In such cases the incidents will be reported directly to the statutory bodies or local child protection mechanism available in the country hence adhering to the country laws. An external reporting process is explained below but may vary with the severity of cases:</a:t>
            </a:r>
          </a:p>
          <a:p>
            <a:pPr algn="just"/>
            <a:r>
              <a:rPr lang="en-US" b="1" dirty="0">
                <a:latin typeface="Times New Roman" panose="02020603050405020304" pitchFamily="18" charset="0"/>
                <a:cs typeface="Times New Roman" panose="02020603050405020304" pitchFamily="18" charset="0"/>
              </a:rPr>
              <a:t>Who can report?:</a:t>
            </a:r>
            <a:r>
              <a:rPr lang="en-US" dirty="0">
                <a:latin typeface="Times New Roman" panose="02020603050405020304" pitchFamily="18" charset="0"/>
                <a:cs typeface="Times New Roman" panose="02020603050405020304" pitchFamily="18" charset="0"/>
              </a:rPr>
              <a:t> CRY representative who receives the disclosure will report the incident of abuse.</a:t>
            </a:r>
          </a:p>
          <a:p>
            <a:pPr algn="just"/>
            <a:r>
              <a:rPr lang="en-US" b="1" dirty="0">
                <a:latin typeface="Times New Roman" panose="02020603050405020304" pitchFamily="18" charset="0"/>
                <a:cs typeface="Times New Roman" panose="02020603050405020304" pitchFamily="18" charset="0"/>
              </a:rPr>
              <a:t>When to report?: </a:t>
            </a:r>
            <a:r>
              <a:rPr lang="en-US" dirty="0">
                <a:latin typeface="Times New Roman" panose="02020603050405020304" pitchFamily="18" charset="0"/>
                <a:cs typeface="Times New Roman" panose="02020603050405020304" pitchFamily="18" charset="0"/>
              </a:rPr>
              <a:t> Attempt to initiate the report should be made as soon as possible and practically feasible, not later than 5 working days.</a:t>
            </a:r>
          </a:p>
          <a:p>
            <a:pPr algn="just"/>
            <a:r>
              <a:rPr lang="en-US" b="1" dirty="0">
                <a:latin typeface="Times New Roman" panose="02020603050405020304" pitchFamily="18" charset="0"/>
                <a:cs typeface="Times New Roman" panose="02020603050405020304" pitchFamily="18" charset="0"/>
              </a:rPr>
              <a:t>Who to report?: </a:t>
            </a:r>
            <a:r>
              <a:rPr lang="en-US" dirty="0">
                <a:latin typeface="Times New Roman" panose="02020603050405020304" pitchFamily="18" charset="0"/>
                <a:cs typeface="Times New Roman" panose="02020603050405020304" pitchFamily="18" charset="0"/>
              </a:rPr>
              <a:t>Child Protection focal point or designated authority of CRY NGO partner/ Project holder/ Executive Director of the NGO/ CRY partner management focal point/ Child line/ Local Police Station/ CWC/ SJPU</a:t>
            </a:r>
          </a:p>
          <a:p>
            <a:pPr algn="just"/>
            <a:r>
              <a:rPr lang="en-US" b="1" dirty="0">
                <a:latin typeface="Times New Roman" panose="02020603050405020304" pitchFamily="18" charset="0"/>
                <a:cs typeface="Times New Roman" panose="02020603050405020304" pitchFamily="18" charset="0"/>
              </a:rPr>
              <a:t>What will happen?: </a:t>
            </a:r>
            <a:r>
              <a:rPr lang="en-US" b="1" u="sng" dirty="0">
                <a:latin typeface="Times New Roman" panose="02020603050405020304" pitchFamily="18" charset="0"/>
                <a:cs typeface="Times New Roman" panose="02020603050405020304" pitchFamily="18" charset="0"/>
              </a:rPr>
              <a:t>Responding as soon as possible or as per law of the land or not more than 48 hours of reporting of the incident.</a:t>
            </a:r>
          </a:p>
          <a:p>
            <a:endParaRPr lang="en-IN" dirty="0"/>
          </a:p>
        </p:txBody>
      </p:sp>
    </p:spTree>
    <p:extLst>
      <p:ext uri="{BB962C8B-B14F-4D97-AF65-F5344CB8AC3E}">
        <p14:creationId xmlns:p14="http://schemas.microsoft.com/office/powerpoint/2010/main" val="2758830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2">
                <a:lumMod val="0"/>
                <a:lumOff val="100000"/>
              </a:schemeClr>
            </a:gs>
            <a:gs pos="6000">
              <a:schemeClr val="accent2">
                <a:lumMod val="0"/>
                <a:lumOff val="100000"/>
              </a:schemeClr>
            </a:gs>
            <a:gs pos="100000">
              <a:schemeClr val="accent2">
                <a:lumMod val="10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AAF606-8AA8-D007-75A3-1C84AF94CE79}"/>
              </a:ext>
            </a:extLst>
          </p:cNvPr>
          <p:cNvSpPr>
            <a:spLocks noGrp="1"/>
          </p:cNvSpPr>
          <p:nvPr>
            <p:ph idx="1"/>
          </p:nvPr>
        </p:nvSpPr>
        <p:spPr>
          <a:xfrm>
            <a:off x="1" y="665018"/>
            <a:ext cx="12192000" cy="6192981"/>
          </a:xfrm>
        </p:spPr>
        <p:txBody>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Meeting to discuss further action in guidance of State head seems to be a high-risk case as the alleged perpetrator is relative of the CRY</a:t>
            </a: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beneficiary though the abuse is being conducted with a non-beneficiary, reporting mandatory to legal bodies non- compliance can lead to punishment.</a:t>
            </a:r>
            <a:endParaRPr lang="en-US" sz="1800" b="1" u="sng"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Possible outcomes:</a:t>
            </a:r>
            <a:r>
              <a:rPr lang="en-US" dirty="0">
                <a:latin typeface="Times New Roman" panose="02020603050405020304" pitchFamily="18" charset="0"/>
                <a:cs typeface="Times New Roman" panose="02020603050405020304" pitchFamily="18" charset="0"/>
              </a:rPr>
              <a:t>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made to child protection statutory authority/ government department or Child line. </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Report made to community- based child protection committee or similar</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Referral made to local support/ counselling organisations or services</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Risk assessment to be shared with victim and associates of victim</a:t>
            </a:r>
          </a:p>
          <a:p>
            <a:pPr algn="just"/>
            <a:r>
              <a:rPr lang="en-IN" b="1" dirty="0">
                <a:latin typeface="Times New Roman" panose="02020603050405020304" pitchFamily="18" charset="0"/>
                <a:cs typeface="Times New Roman" panose="02020603050405020304" pitchFamily="18" charset="0"/>
              </a:rPr>
              <a:t>Follow up or participating in external investigation:</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Protecting confidentiality and privacy, </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Debriefing/ counselling to be offered, if needed,</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Direct beneficiary update to be maintained,</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Follow up update to be shared on need to know basis. </a:t>
            </a:r>
          </a:p>
          <a:p>
            <a:pPr>
              <a:buFont typeface="Courier New" panose="02070309020205020404" pitchFamily="49" charset="0"/>
              <a:buChar char="o"/>
            </a:pP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53021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100000">
              <a:schemeClr val="accent1">
                <a:lumMod val="5000"/>
                <a:lumOff val="95000"/>
              </a:schemeClr>
            </a:gs>
            <a:gs pos="70000">
              <a:schemeClr val="accent1">
                <a:lumMod val="45000"/>
                <a:lumOff val="55000"/>
              </a:schemeClr>
            </a:gs>
            <a:gs pos="0">
              <a:schemeClr val="accent1">
                <a:lumMod val="45000"/>
                <a:lumOff val="55000"/>
                <a:alpha val="50000"/>
              </a:schemeClr>
            </a:gs>
            <a:gs pos="94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0CBB0-E13B-5EC2-90A9-CEC925F268CC}"/>
              </a:ext>
            </a:extLst>
          </p:cNvPr>
          <p:cNvSpPr>
            <a:spLocks noGrp="1"/>
          </p:cNvSpPr>
          <p:nvPr>
            <p:ph type="title"/>
          </p:nvPr>
        </p:nvSpPr>
        <p:spPr>
          <a:xfrm>
            <a:off x="1622324" y="176982"/>
            <a:ext cx="9753599" cy="1229032"/>
          </a:xfrm>
        </p:spPr>
        <p:txBody>
          <a:bodyPr/>
          <a:lstStyle/>
          <a:p>
            <a:pPr algn="ctr"/>
            <a:r>
              <a:rPr lang="en-US" b="1" u="sng" dirty="0">
                <a:latin typeface="Times New Roman" panose="02020603050405020304" pitchFamily="18" charset="0"/>
                <a:cs typeface="Times New Roman" panose="02020603050405020304" pitchFamily="18" charset="0"/>
              </a:rPr>
              <a:t>Annexure 12. Volunteer and Intern Onboarding Vis A Vis CSP</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E0DD5B3-86AF-28CE-5481-8678095EB901}"/>
              </a:ext>
            </a:extLst>
          </p:cNvPr>
          <p:cNvSpPr>
            <a:spLocks noGrp="1"/>
          </p:cNvSpPr>
          <p:nvPr>
            <p:ph idx="1"/>
          </p:nvPr>
        </p:nvSpPr>
        <p:spPr>
          <a:xfrm>
            <a:off x="186813" y="1730477"/>
            <a:ext cx="12005187" cy="5127523"/>
          </a:xfrm>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Who can report?:</a:t>
            </a:r>
            <a:r>
              <a:rPr lang="en-US" dirty="0">
                <a:latin typeface="Times New Roman" panose="02020603050405020304" pitchFamily="18" charset="0"/>
                <a:cs typeface="Times New Roman" panose="02020603050405020304" pitchFamily="18" charset="0"/>
              </a:rPr>
              <a:t> Reported by a child. </a:t>
            </a:r>
          </a:p>
          <a:p>
            <a:pPr algn="just"/>
            <a:r>
              <a:rPr lang="en-US" b="1" dirty="0">
                <a:latin typeface="Times New Roman" panose="02020603050405020304" pitchFamily="18" charset="0"/>
                <a:cs typeface="Times New Roman" panose="02020603050405020304" pitchFamily="18" charset="0"/>
              </a:rPr>
              <a:t>What to report?: </a:t>
            </a:r>
            <a:r>
              <a:rPr lang="en-US" dirty="0">
                <a:latin typeface="Times New Roman" panose="02020603050405020304" pitchFamily="18" charset="0"/>
                <a:cs typeface="Times New Roman" panose="02020603050405020304" pitchFamily="18" charset="0"/>
              </a:rPr>
              <a:t>Disclosures to a CRY NGO partner staff by an adolescent girl about stalking and sexual harassment, in CRY intervention areas, done by a youth of the community. </a:t>
            </a:r>
          </a:p>
          <a:p>
            <a:pPr algn="just"/>
            <a:r>
              <a:rPr lang="en-US" b="1" dirty="0">
                <a:latin typeface="Times New Roman" panose="02020603050405020304" pitchFamily="18" charset="0"/>
                <a:cs typeface="Times New Roman" panose="02020603050405020304" pitchFamily="18" charset="0"/>
              </a:rPr>
              <a:t>When to report?: </a:t>
            </a:r>
            <a:r>
              <a:rPr lang="en-US" dirty="0">
                <a:latin typeface="Times New Roman" panose="02020603050405020304" pitchFamily="18" charset="0"/>
                <a:cs typeface="Times New Roman" panose="02020603050405020304" pitchFamily="18" charset="0"/>
              </a:rPr>
              <a:t>Immediately or within 24 hours, for any criminal offence or if a child is at serious risk of harm immediately report to local child protection statutory authority or police. (Refer SOP on external protection mechanism), report as per country laws (refer SOP on Statutory Compliances) </a:t>
            </a:r>
          </a:p>
          <a:p>
            <a:pPr algn="just"/>
            <a:r>
              <a:rPr lang="en-US" b="1" dirty="0">
                <a:latin typeface="Times New Roman" panose="02020603050405020304" pitchFamily="18" charset="0"/>
                <a:cs typeface="Times New Roman" panose="02020603050405020304" pitchFamily="18" charset="0"/>
              </a:rPr>
              <a:t>Who to report to?: </a:t>
            </a:r>
            <a:r>
              <a:rPr lang="en-US" dirty="0">
                <a:latin typeface="Times New Roman" panose="02020603050405020304" pitchFamily="18" charset="0"/>
                <a:cs typeface="Times New Roman" panose="02020603050405020304" pitchFamily="18" charset="0"/>
              </a:rPr>
              <a:t>Child Protection focal point/designated authority of CRY NGO partner/Project holder/Executive Director of the NGO/ or CRY partner management focal point.</a:t>
            </a:r>
          </a:p>
          <a:p>
            <a:pPr algn="just"/>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What will happen?: </a:t>
            </a:r>
            <a:r>
              <a:rPr lang="en-US" dirty="0">
                <a:latin typeface="Times New Roman" panose="02020603050405020304" pitchFamily="18" charset="0"/>
                <a:cs typeface="Times New Roman" panose="02020603050405020304" pitchFamily="18" charset="0"/>
              </a:rPr>
              <a:t>Meeting (team meeting) to discuss further action by the above people CRY partner management focal point may seek help of DS Program Director/RD/DS/DS HO for further advice or to report a high risk/complex report, A proper risk assessment to be made.</a:t>
            </a:r>
          </a:p>
          <a:p>
            <a:pPr algn="just"/>
            <a:r>
              <a:rPr lang="en-US" b="1" dirty="0">
                <a:latin typeface="Times New Roman" panose="02020603050405020304" pitchFamily="18" charset="0"/>
                <a:cs typeface="Times New Roman" panose="02020603050405020304" pitchFamily="18" charset="0"/>
              </a:rPr>
              <a:t> Possible outcomes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made to child protection statutory authority/government department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made to community-based child protection committee or similar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made to Police </a:t>
            </a:r>
          </a:p>
          <a:p>
            <a:endParaRPr lang="en-IN" dirty="0"/>
          </a:p>
        </p:txBody>
      </p:sp>
    </p:spTree>
    <p:extLst>
      <p:ext uri="{BB962C8B-B14F-4D97-AF65-F5344CB8AC3E}">
        <p14:creationId xmlns:p14="http://schemas.microsoft.com/office/powerpoint/2010/main" val="39949988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4">
                <a:lumMod val="0"/>
                <a:lumOff val="100000"/>
              </a:schemeClr>
            </a:gs>
            <a:gs pos="39000">
              <a:schemeClr val="accent4">
                <a:lumMod val="0"/>
                <a:lumOff val="100000"/>
              </a:schemeClr>
            </a:gs>
            <a:gs pos="89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EE9A2A-DFED-5E42-07E8-A2DEC2C644D3}"/>
              </a:ext>
            </a:extLst>
          </p:cNvPr>
          <p:cNvSpPr>
            <a:spLocks noGrp="1"/>
          </p:cNvSpPr>
          <p:nvPr>
            <p:ph idx="1"/>
          </p:nvPr>
        </p:nvSpPr>
        <p:spPr>
          <a:xfrm>
            <a:off x="1" y="426026"/>
            <a:ext cx="12192000" cy="6431973"/>
          </a:xfrm>
        </p:spPr>
        <p:txBody>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Referral made to local support/counseling organizations or service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Risk assessment to be shared with victim and associates of victim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Case to be reported as per program MIS guidelines to CRY.</a:t>
            </a:r>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 Follow up or participating in external investigation: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Protecting confidentiality and privacy,</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Debriefing/counseling to be offered, if needed,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Direct beneficiary update to be maintained,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Follow up update to be shared on need-to-know basis,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Linking with referral services, or any other support asked by the statutory bodies, etc.</a:t>
            </a:r>
          </a:p>
          <a:p>
            <a:pPr algn="just"/>
            <a:r>
              <a:rPr lang="en-US" b="0" cap="none" spc="0" dirty="0">
                <a:ln w="0"/>
                <a:solidFill>
                  <a:schemeClr val="tx1"/>
                </a:solidFill>
                <a:latin typeface="Times New Roman" panose="02020603050405020304" pitchFamily="18" charset="0"/>
                <a:cs typeface="Times New Roman" panose="02020603050405020304" pitchFamily="18" charset="0"/>
              </a:rPr>
              <a:t>CRY usually receives volunteers through:</a:t>
            </a:r>
          </a:p>
          <a:p>
            <a:pPr algn="just">
              <a:buFont typeface="Courier New" panose="02070309020205020404" pitchFamily="49" charset="0"/>
              <a:buChar char="o"/>
            </a:pPr>
            <a:r>
              <a:rPr lang="en-US" dirty="0">
                <a:ln w="0"/>
                <a:solidFill>
                  <a:schemeClr val="tx1"/>
                </a:solidFill>
                <a:latin typeface="Times New Roman" panose="02020603050405020304" pitchFamily="18" charset="0"/>
                <a:cs typeface="Times New Roman" panose="02020603050405020304" pitchFamily="18" charset="0"/>
              </a:rPr>
              <a:t>1. CRY Website</a:t>
            </a:r>
          </a:p>
          <a:p>
            <a:pPr algn="just">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2. Personal Emails</a:t>
            </a:r>
          </a:p>
          <a:p>
            <a:endParaRPr lang="en-IN" dirty="0"/>
          </a:p>
        </p:txBody>
      </p:sp>
    </p:spTree>
    <p:extLst>
      <p:ext uri="{BB962C8B-B14F-4D97-AF65-F5344CB8AC3E}">
        <p14:creationId xmlns:p14="http://schemas.microsoft.com/office/powerpoint/2010/main" val="35146343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E6228-E2BC-3758-FC0A-C4F5872994E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A242A16-3D7B-1950-93A3-D160D4AE6C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27794447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8DF79-25ED-924B-FCB9-9FABB6B34EE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855042E-5A79-304E-1EED-7D5085CBB0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153427485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867</TotalTime>
  <Words>8333</Words>
  <Application>Microsoft Office PowerPoint</Application>
  <PresentationFormat>Widescreen</PresentationFormat>
  <Paragraphs>438</Paragraphs>
  <Slides>39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Century Gothic</vt:lpstr>
      <vt:lpstr>Courier New</vt:lpstr>
      <vt:lpstr>Times New Roman</vt:lpstr>
      <vt:lpstr>Wingdings 3</vt:lpstr>
      <vt:lpstr>Wisp</vt:lpstr>
      <vt:lpstr>CHILD SAFEGUARDING POLICY-  CHILD RIGHTS AND YOU (CRY)   Name: SOUMI BISWAS  Name of College: LADY BRABOURNE COLLEGE College Roll No: 23-BA-ENGA-0032 Department: ENGLISH  CU Roll No.: 232031-11-0044 CU Registration No.: 031-1212-0036-23 Internship Period: 3 WEEKS  Internship Duration: 15 DAYS (12th MAY - 31st MAY) Total Hours Contributed: 60 HOURS Name of the Organization: CHILD RIGHTS AND YOU (CRY) Address of the Organization: 152, NEW NO. 8, 2nd ST, GITANJALI PARK, KALIKAPUR, HALTU, KOLKATA, WEST BENGAL 700099 </vt:lpstr>
      <vt:lpstr>PowerPoint Presentation</vt:lpstr>
      <vt:lpstr>PowerPoint Presentation</vt:lpstr>
      <vt:lpstr>PowerPoint Presentation</vt:lpstr>
      <vt:lpstr>Annexure 1. Reference Guide for statutory compliances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Annexure 2. Informed Consent Form Template</vt:lpstr>
      <vt:lpstr>Annexure 3. Photography and Videography</vt:lpstr>
      <vt:lpstr>PowerPoint Presentation</vt:lpstr>
      <vt:lpstr>PowerPoint Presentation</vt:lpstr>
      <vt:lpstr>PowerPoint Presentation</vt:lpstr>
      <vt:lpstr>Annexure 4. Ready Reckoner/ Checklist For Usage Of Photographs/ Films And Case Stories</vt:lpstr>
      <vt:lpstr>Annexure 5. Working With Child Actors</vt:lpstr>
      <vt:lpstr>PowerPoint Presentation</vt:lpstr>
      <vt:lpstr>Annexure 6. Child Protection In Organizing Events</vt:lpstr>
      <vt:lpstr>PowerPoint Presentation</vt:lpstr>
      <vt:lpstr>PowerPoint Presentation</vt:lpstr>
      <vt:lpstr>Annexure 7. Risk Assessment Framework</vt:lpstr>
      <vt:lpstr>PowerPoint Presentation</vt:lpstr>
      <vt:lpstr>Annexure 8. Online Safety Of Children</vt:lpstr>
      <vt:lpstr>Annexure 9. Human Resource</vt:lpstr>
      <vt:lpstr>Annexure 10. Partnerships and Associates</vt:lpstr>
      <vt:lpstr>Annexure 11. Standard Operating Procedure – Internal And External Reporting Process</vt:lpstr>
      <vt:lpstr>PowerPoint Presentation</vt:lpstr>
      <vt:lpstr>PowerPoint Presentation</vt:lpstr>
      <vt:lpstr>PowerPoint Presentation</vt:lpstr>
      <vt:lpstr>Annexure 12. Volunteer and Intern Onboarding Vis A Vis CSP</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CHILD SAFEGUARDING POLICY-  CHILD RIGHTS AND YOU (CRY)   Name: SOUMI BISWAS  Name of College: LADY BRABOURNE COLLEGE College Roll No: 23-BA-ENGA-0032 Department: ENGLISH  CU Roll No.: 232031-11-0044 CU Registration No.: 031-1212-0036-23 Internship Period: 3 WEEKS  Internship Duration: 15 DAYS (12th MAY - 31st MAY) Total Hours Contributed: 60 HOURS Name of the Organization: CHILD RIGHTS AND YOU (CRY) Address of the Organization: 152, NEW NO. 8, 2nd ST, GITANJALI PARK, KALIKAPUR, HALTU, KOLKATA, WEST BENGAL 700099</dc:title>
  <dc:creator>Sujoy Mondal</dc:creator>
  <cp:lastModifiedBy>Sumanta</cp:lastModifiedBy>
  <cp:revision>8</cp:revision>
  <dcterms:created xsi:type="dcterms:W3CDTF">2025-05-20T13:15:42Z</dcterms:created>
  <dcterms:modified xsi:type="dcterms:W3CDTF">2025-05-31T17:29:17Z</dcterms:modified>
</cp:coreProperties>
</file>