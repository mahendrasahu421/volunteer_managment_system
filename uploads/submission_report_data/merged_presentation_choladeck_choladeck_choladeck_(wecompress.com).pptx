
<file path=[Content_Types].xml><?xml version="1.0" encoding="utf-8"?>
<Types xmlns="http://schemas.openxmlformats.org/package/2006/content-types">
  <Default ContentType="application/vnd.openxmlformats-officedocument.presentationml.presentation.main+xml" Extension="xml"/>
  <Default ContentType="image/png" Extension="png"/>
  <Default ContentType="image/jpeg" Extension="jpg"/>
  <Default ContentType="image/vnd.ms-photo" Extension="wdp"/>
  <Default ContentType="application/vnd.openxmlformats-package.relationships+xml" Extension="rels"/>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slideMaster+xml" PartName="/ppt/slideMasters/slideMaster1.xml"/>
  <Override ContentType="application/vnd.openxmlformats-officedocument.theme+xml" PartName="/ppt/slideMasters/theme/theme1.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theme+xml" PartName="/ppt/slideMasters/theme/theme2.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presentationml.slideMaster+xml" PartName="/ppt/slideMasters/slideMaster3.xml"/>
  <Override ContentType="application/vnd.openxmlformats-officedocument.theme+xml" PartName="/ppt/slideMasters/theme/theme3.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drawingml.diagramData+xml" PartName="/ppt/graphics/data1.xml"/>
  <Override ContentType="application/vnd.openxmlformats-officedocument.drawingml.diagramLayout+xml" PartName="/ppt/graphics/layout1.xml"/>
  <Override ContentType="application/vnd.openxmlformats-officedocument.drawingml.diagramStyle+xml" PartName="/ppt/graphics/quickStyle1.xml"/>
  <Override ContentType="application/vnd.openxmlformats-officedocument.drawingml.diagramColors+xml" PartName="/ppt/graphics/colors1.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package.core-properties+xml" PartName="/docProps/core.xml"/>
  <Override ContentType="application/vnd.openxmlformats-officedocument.extended-properties+xml" PartName="/docProps/app.xml"/>
  <Default ContentType="image/jpeg" Extension="jpeg"/>
  <Override ContentType="application/vnd.openxmlformats-officedocument.custom-properties+xml" PartName="/docProps/custom.xml"/>
</Types>
</file>

<file path=_rels/.rels><?xml version="1.0" encoding="utf-8" standalone="no" ?><Relationships xmlns="http://schemas.openxmlformats.org/package/2006/relationships"><Relationship Id="R7769ef89791f47e7" Target="/ppt/presentation.xml" Type="http://schemas.openxmlformats.org/officeDocument/2006/relationships/officeDocument"/><Relationship Id="R9ef709de71264162" Target="/docProps/core.xml" Type="http://schemas.openxmlformats.org/package/2006/relationships/metadata/core-properties"/><Relationship Id="Rfb90d2b0b19f4060" Target="/docProps/app.xml" Type="http://schemas.openxmlformats.org/officeDocument/2006/relationships/extended-properties"/><Relationship Id="rId1"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736cf4020cd444ed"/>
    <p:sldMasterId id="2147483650" r:id="Rf8b9cdc8164e44cd"/>
    <p:sldMasterId id="2147483654" r:id="Rb8aaf0cf6dd74f31"/>
  </p:sldMasterIdLst>
  <p:sldIdLst>
    <p:sldId id="256" r:id="Red372946a22848c7"/>
    <p:sldId id="257" r:id="R751575caecd54d47"/>
    <p:sldId id="258" r:id="R7fb53bbee2ff4c2b"/>
    <p:sldId id="259" r:id="R435872ed7d174eb5"/>
    <p:sldId id="260" r:id="R2e9517877bfc46b1"/>
    <p:sldId id="261" r:id="R3f3ed0be0c574199"/>
    <p:sldId id="262" r:id="R865959d4ec094653"/>
    <p:sldId id="263" r:id="R47d4699bc3294260"/>
    <p:sldId id="264" r:id="R411f2e45d2bf4b00"/>
    <p:sldId id="265" r:id="Rfaf3c844731443c2"/>
    <p:sldId id="266" r:id="R3f73c7f5e5994d52"/>
    <p:sldId id="267" r:id="R5ddb88915d79441f"/>
    <p:sldId id="268" r:id="Rdec23f24b6b940da"/>
    <p:sldId id="269" r:id="R363c34022ef14466"/>
    <p:sldId id="270" r:id="Re723cf40cf6e46c1"/>
    <p:sldId id="271" r:id="R13059af650654d42"/>
    <p:sldId id="272" r:id="R82a8260d623d49d4"/>
    <p:sldId id="273" r:id="R85a2e1cb5e83434c"/>
    <p:sldId id="274" r:id="Re51f093b4e2141d6"/>
    <p:sldId id="275" r:id="R47bd86535ec248c7"/>
    <p:sldId id="276" r:id="Re682421fbe654277"/>
    <p:sldId id="277" r:id="Rae189d1f3c9c4f6e"/>
    <p:sldId id="278" r:id="Rb716831f2d0e4381"/>
    <p:sldId id="279" r:id="R15eb859d4ed3457b"/>
    <p:sldId id="280" r:id="R4d93c0aae16749c5"/>
    <p:sldId id="281" r:id="R86d52f4394014c65"/>
    <p:sldId id="282" r:id="R25eb0e1f78b14d7a"/>
    <p:sldId id="283" r:id="R4b3ced3830654ab5"/>
    <p:sldId id="284" r:id="R7db14ff214c54d66"/>
    <p:sldId id="285" r:id="R8874c93786a24262"/>
    <p:sldId id="286" r:id="R713b01e3487a4326"/>
    <p:sldId id="287" r:id="Ra8999e2da1d047dd"/>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presProps" Target="/ppt/presProps.xml" Id="Reb919c1a61594ae1" /><Relationship Type="http://schemas.openxmlformats.org/officeDocument/2006/relationships/viewProps" Target="/ppt/viewProps.xml" Id="R34c96553e08c419a" /><Relationship Type="http://schemas.openxmlformats.org/officeDocument/2006/relationships/slideMaster" Target="/ppt/slideMasters/slideMaster1.xml" Id="R736cf4020cd444ed" /><Relationship Type="http://schemas.openxmlformats.org/officeDocument/2006/relationships/theme" Target="/ppt/slideMasters/theme/theme1.xml" Id="R36aecb03ae784487" /><Relationship Type="http://schemas.openxmlformats.org/officeDocument/2006/relationships/slideMaster" Target="/ppt/slideMasters/slideMaster2.xml" Id="Rf8b9cdc8164e44cd" /><Relationship Type="http://schemas.openxmlformats.org/officeDocument/2006/relationships/slide" Target="/ppt/slides/slide1.xml" Id="Red372946a22848c7" /><Relationship Type="http://schemas.openxmlformats.org/officeDocument/2006/relationships/slide" Target="/ppt/slides/slide2.xml" Id="R751575caecd54d47" /><Relationship Type="http://schemas.openxmlformats.org/officeDocument/2006/relationships/slide" Target="/ppt/slides/slide3.xml" Id="R7fb53bbee2ff4c2b" /><Relationship Type="http://schemas.openxmlformats.org/officeDocument/2006/relationships/slide" Target="/ppt/slides/slide4.xml" Id="R435872ed7d174eb5" /><Relationship Type="http://schemas.openxmlformats.org/officeDocument/2006/relationships/slide" Target="/ppt/slides/slide5.xml" Id="R2e9517877bfc46b1" /><Relationship Type="http://schemas.openxmlformats.org/officeDocument/2006/relationships/slide" Target="/ppt/slides/slide6.xml" Id="R3f3ed0be0c574199" /><Relationship Type="http://schemas.openxmlformats.org/officeDocument/2006/relationships/slide" Target="/ppt/slides/slide7.xml" Id="R865959d4ec094653" /><Relationship Type="http://schemas.openxmlformats.org/officeDocument/2006/relationships/slide" Target="/ppt/slides/slide8.xml" Id="R47d4699bc3294260" /><Relationship Type="http://schemas.openxmlformats.org/officeDocument/2006/relationships/slide" Target="/ppt/slides/slide9.xml" Id="R411f2e45d2bf4b00" /><Relationship Type="http://schemas.openxmlformats.org/officeDocument/2006/relationships/slide" Target="/ppt/slides/slide10.xml" Id="Rfaf3c844731443c2" /><Relationship Type="http://schemas.openxmlformats.org/officeDocument/2006/relationships/slide" Target="/ppt/slides/slide11.xml" Id="R3f73c7f5e5994d52" /><Relationship Type="http://schemas.openxmlformats.org/officeDocument/2006/relationships/slide" Target="/ppt/slides/slide12.xml" Id="R5ddb88915d79441f" /><Relationship Type="http://schemas.openxmlformats.org/officeDocument/2006/relationships/tableStyles" Target="/ppt/tableStyles.xml" Id="Rce7f67a31fad45bf" /><Relationship Type="http://schemas.openxmlformats.org/officeDocument/2006/relationships/slideMaster" Target="/ppt/slideMasters/slideMaster3.xml" Id="Rb8aaf0cf6dd74f31" /><Relationship Type="http://schemas.openxmlformats.org/officeDocument/2006/relationships/slide" Target="/ppt/slides/slide13.xml" Id="Rdec23f24b6b940da" /><Relationship Type="http://schemas.openxmlformats.org/officeDocument/2006/relationships/slide" Target="/ppt/slides/slide14.xml" Id="R363c34022ef14466" /><Relationship Type="http://schemas.openxmlformats.org/officeDocument/2006/relationships/slide" Target="/ppt/slides/slide15.xml" Id="Re723cf40cf6e46c1" /><Relationship Type="http://schemas.openxmlformats.org/officeDocument/2006/relationships/slide" Target="/ppt/slides/slide16.xml" Id="R13059af650654d42" /><Relationship Type="http://schemas.openxmlformats.org/officeDocument/2006/relationships/slide" Target="/ppt/slides/slide17.xml" Id="R82a8260d623d49d4" /><Relationship Type="http://schemas.openxmlformats.org/officeDocument/2006/relationships/slide" Target="/ppt/slides/slide18.xml" Id="R85a2e1cb5e83434c" /><Relationship Type="http://schemas.openxmlformats.org/officeDocument/2006/relationships/slide" Target="/ppt/slides/slide19.xml" Id="Re51f093b4e2141d6" /><Relationship Type="http://schemas.openxmlformats.org/officeDocument/2006/relationships/slide" Target="/ppt/slides/slide20.xml" Id="R47bd86535ec248c7" /><Relationship Type="http://schemas.openxmlformats.org/officeDocument/2006/relationships/slide" Target="/ppt/slides/slide21.xml" Id="Re682421fbe654277" /><Relationship Type="http://schemas.openxmlformats.org/officeDocument/2006/relationships/slide" Target="/ppt/slides/slide22.xml" Id="Rae189d1f3c9c4f6e" /><Relationship Type="http://schemas.openxmlformats.org/officeDocument/2006/relationships/slide" Target="/ppt/slides/slide23.xml" Id="Rb716831f2d0e4381" /><Relationship Type="http://schemas.openxmlformats.org/officeDocument/2006/relationships/slide" Target="/ppt/slides/slide24.xml" Id="R15eb859d4ed3457b" /><Relationship Type="http://schemas.openxmlformats.org/officeDocument/2006/relationships/slide" Target="/ppt/slides/slide25.xml" Id="R4d93c0aae16749c5" /><Relationship Type="http://schemas.openxmlformats.org/officeDocument/2006/relationships/slide" Target="/ppt/slides/slide26.xml" Id="R86d52f4394014c65" /><Relationship Type="http://schemas.openxmlformats.org/officeDocument/2006/relationships/slide" Target="/ppt/slides/slide27.xml" Id="R25eb0e1f78b14d7a" /><Relationship Type="http://schemas.openxmlformats.org/officeDocument/2006/relationships/slide" Target="/ppt/slides/slide28.xml" Id="R4b3ced3830654ab5" /><Relationship Type="http://schemas.openxmlformats.org/officeDocument/2006/relationships/slide" Target="/ppt/slides/slide29.xml" Id="R7db14ff214c54d66" /><Relationship Type="http://schemas.openxmlformats.org/officeDocument/2006/relationships/slide" Target="/ppt/slides/slide30.xml" Id="R8874c93786a24262" /><Relationship Type="http://schemas.openxmlformats.org/officeDocument/2006/relationships/slide" Target="/ppt/slides/slide31.xml" Id="R713b01e3487a4326" /><Relationship Type="http://schemas.openxmlformats.org/officeDocument/2006/relationships/slide" Target="/ppt/slides/slide32.xml" Id="Ra8999e2da1d047dd" /></Relationships>
</file>

<file path=ppt/graphic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graphics/data1.xml><?xml version="1.0" encoding="utf-8"?>
<dgm:dataModel xmlns:dgm="http://schemas.openxmlformats.org/drawingml/2006/diagram" xmlns:a="http://schemas.openxmlformats.org/drawingml/2006/main">
  <dgm:ptLst>
    <dgm:pt modelId="{88C375B0-5D26-417B-80AC-B3CDBF5A02B2}" type="doc">
      <dgm:prSet loTypeId="urn:microsoft.com/office/officeart/2005/8/layout/chevron1" loCatId="process" qsTypeId="urn:microsoft.com/office/officeart/2005/8/quickstyle/simple3" qsCatId="simple" csTypeId="urn:microsoft.com/office/officeart/2005/8/colors/accent0_1" csCatId="mainScheme" phldr="1"/>
      <dgm:spPr/>
    </dgm:pt>
    <dgm:pt modelId="{B2910435-A315-4744-8BC0-B88F136D679D}">
      <dgm:prSet phldrT="[Text]"/>
      <dgm:spPr/>
      <dgm:t>
        <a:bodyPr/>
        <a:lstStyle/>
        <a:p>
          <a:r>
            <a:rPr lang="en-IN" dirty="0"/>
            <a:t>Website presence </a:t>
          </a:r>
        </a:p>
      </dgm:t>
    </dgm:pt>
    <dgm:pt modelId="{34B7AFA8-0D92-47CA-971C-C7E4AC4DA46A}" type="parTrans" cxnId="{2EB45C9B-DD5B-4460-B201-3CC8F7AF72EE}">
      <dgm:prSet/>
      <dgm:spPr/>
      <dgm:t>
        <a:bodyPr/>
        <a:lstStyle/>
        <a:p>
          <a:endParaRPr lang="en-IN"/>
        </a:p>
      </dgm:t>
    </dgm:pt>
    <dgm:pt modelId="{E5590EEE-F7BC-473C-8094-7BB6543EDE3F}" type="sibTrans" cxnId="{2EB45C9B-DD5B-4460-B201-3CC8F7AF72EE}">
      <dgm:prSet/>
      <dgm:spPr/>
      <dgm:t>
        <a:bodyPr/>
        <a:lstStyle/>
        <a:p>
          <a:endParaRPr lang="en-IN"/>
        </a:p>
      </dgm:t>
    </dgm:pt>
    <dgm:pt modelId="{1E67E387-22C8-4C97-8F9B-8D7F827EEE7F}">
      <dgm:prSet phldrT="[Text]"/>
      <dgm:spPr/>
      <dgm:t>
        <a:bodyPr/>
        <a:lstStyle/>
        <a:p>
          <a:r>
            <a:rPr lang="en-IN" dirty="0"/>
            <a:t>Social media campaign </a:t>
          </a:r>
        </a:p>
      </dgm:t>
    </dgm:pt>
    <dgm:pt modelId="{8107FE17-D148-4F08-80D1-3E8FEC739959}" type="parTrans" cxnId="{FBB4C586-0D13-455F-88C5-D2736C0E9471}">
      <dgm:prSet/>
      <dgm:spPr/>
      <dgm:t>
        <a:bodyPr/>
        <a:lstStyle/>
        <a:p>
          <a:endParaRPr lang="en-IN"/>
        </a:p>
      </dgm:t>
    </dgm:pt>
    <dgm:pt modelId="{832B0D44-510E-4DDF-AB3A-736AC07F88D9}" type="sibTrans" cxnId="{FBB4C586-0D13-455F-88C5-D2736C0E9471}">
      <dgm:prSet/>
      <dgm:spPr/>
      <dgm:t>
        <a:bodyPr/>
        <a:lstStyle/>
        <a:p>
          <a:endParaRPr lang="en-IN"/>
        </a:p>
      </dgm:t>
    </dgm:pt>
    <dgm:pt modelId="{8C93FB11-6DE2-4CA4-878E-8A9DC5EDD388}">
      <dgm:prSet phldrT="[Text]"/>
      <dgm:spPr/>
      <dgm:t>
        <a:bodyPr/>
        <a:lstStyle/>
        <a:p>
          <a:r>
            <a:rPr lang="en-IN" dirty="0"/>
            <a:t>Strategic outreach </a:t>
          </a:r>
        </a:p>
      </dgm:t>
    </dgm:pt>
    <dgm:pt modelId="{EA069DE4-B90B-4632-B3FC-978F8FE2AD9F}" type="parTrans" cxnId="{21D41EE9-CFB4-4226-A033-95C1E931FC50}">
      <dgm:prSet/>
      <dgm:spPr/>
      <dgm:t>
        <a:bodyPr/>
        <a:lstStyle/>
        <a:p>
          <a:endParaRPr lang="en-IN"/>
        </a:p>
      </dgm:t>
    </dgm:pt>
    <dgm:pt modelId="{437FE181-D6EE-4F6F-BCB3-9B3536097D40}" type="sibTrans" cxnId="{21D41EE9-CFB4-4226-A033-95C1E931FC50}">
      <dgm:prSet/>
      <dgm:spPr/>
      <dgm:t>
        <a:bodyPr/>
        <a:lstStyle/>
        <a:p>
          <a:endParaRPr lang="en-IN"/>
        </a:p>
      </dgm:t>
    </dgm:pt>
    <dgm:pt modelId="{A3C8675A-81F1-4EB9-A114-5C82945E4A44}">
      <dgm:prSet phldrT="[Text]"/>
      <dgm:spPr/>
      <dgm:t>
        <a:bodyPr/>
        <a:lstStyle/>
        <a:p>
          <a:r>
            <a:rPr lang="en-IN" dirty="0"/>
            <a:t>Efficient </a:t>
          </a:r>
          <a:r>
            <a:rPr lang="en-IN" dirty="0" err="1"/>
            <a:t>Onboardprocess</a:t>
          </a:r>
          <a:r>
            <a:rPr lang="en-IN" dirty="0"/>
            <a:t> </a:t>
          </a:r>
        </a:p>
      </dgm:t>
    </dgm:pt>
    <dgm:pt modelId="{36ED1B18-9DA6-44DC-BF4D-E6B1AA54F9E9}" type="parTrans" cxnId="{E5BCAE75-72EA-4314-BAA0-5C276B43923A}">
      <dgm:prSet/>
      <dgm:spPr/>
      <dgm:t>
        <a:bodyPr/>
        <a:lstStyle/>
        <a:p>
          <a:endParaRPr lang="en-IN"/>
        </a:p>
      </dgm:t>
    </dgm:pt>
    <dgm:pt modelId="{6C3D5C89-DE90-4D7D-8044-4EBCB5499694}" type="sibTrans" cxnId="{E5BCAE75-72EA-4314-BAA0-5C276B43923A}">
      <dgm:prSet/>
      <dgm:spPr/>
      <dgm:t>
        <a:bodyPr/>
        <a:lstStyle/>
        <a:p>
          <a:endParaRPr lang="en-IN"/>
        </a:p>
      </dgm:t>
    </dgm:pt>
    <dgm:pt modelId="{08BBD33E-5FAB-4ECD-94EE-4EB2764E89FB}" type="pres">
      <dgm:prSet presAssocID="{88C375B0-5D26-417B-80AC-B3CDBF5A02B2}" presName="Name0" presStyleCnt="0">
        <dgm:presLayoutVars>
          <dgm:dir/>
          <dgm:animLvl val="lvl"/>
          <dgm:resizeHandles val="exact"/>
        </dgm:presLayoutVars>
      </dgm:prSet>
      <dgm:spPr/>
    </dgm:pt>
    <dgm:pt modelId="{9AEF07DB-DD18-467C-BB3A-475B8477BAE5}" type="pres">
      <dgm:prSet presAssocID="{B2910435-A315-4744-8BC0-B88F136D679D}" presName="parTxOnly" presStyleLbl="node1" presStyleIdx="0" presStyleCnt="4" custLinFactY="-85975" custLinFactNeighborX="-4081" custLinFactNeighborY="-100000">
        <dgm:presLayoutVars>
          <dgm:chMax val="0"/>
          <dgm:chPref val="0"/>
          <dgm:bulletEnabled val="1"/>
        </dgm:presLayoutVars>
      </dgm:prSet>
      <dgm:spPr/>
    </dgm:pt>
    <dgm:pt modelId="{C135EAF6-1C96-4EDE-9ADF-5DBD2144E844}" type="pres">
      <dgm:prSet presAssocID="{E5590EEE-F7BC-473C-8094-7BB6543EDE3F}" presName="parTxOnlySpace" presStyleCnt="0"/>
      <dgm:spPr/>
    </dgm:pt>
    <dgm:pt modelId="{7830C1A5-592F-4C95-91A2-AE5C968D336C}" type="pres">
      <dgm:prSet presAssocID="{1E67E387-22C8-4C97-8F9B-8D7F827EEE7F}" presName="parTxOnly" presStyleLbl="node1" presStyleIdx="1" presStyleCnt="4" custLinFactX="-80408" custLinFactNeighborX="-100000" custLinFactNeighborY="-61817">
        <dgm:presLayoutVars>
          <dgm:chMax val="0"/>
          <dgm:chPref val="0"/>
          <dgm:bulletEnabled val="1"/>
        </dgm:presLayoutVars>
      </dgm:prSet>
      <dgm:spPr/>
    </dgm:pt>
    <dgm:pt modelId="{1CDF49A4-871B-4ED7-A49D-F97D8744C081}" type="pres">
      <dgm:prSet presAssocID="{832B0D44-510E-4DDF-AB3A-736AC07F88D9}" presName="parTxOnlySpace" presStyleCnt="0"/>
      <dgm:spPr/>
    </dgm:pt>
    <dgm:pt modelId="{F15DC539-7D28-4190-A92F-15D9C5010C78}" type="pres">
      <dgm:prSet presAssocID="{8C93FB11-6DE2-4CA4-878E-8A9DC5EDD388}" presName="parTxOnly" presStyleLbl="node1" presStyleIdx="2" presStyleCnt="4" custLinFactX="-160408" custLinFactNeighborX="-200000" custLinFactNeighborY="68913">
        <dgm:presLayoutVars>
          <dgm:chMax val="0"/>
          <dgm:chPref val="0"/>
          <dgm:bulletEnabled val="1"/>
        </dgm:presLayoutVars>
      </dgm:prSet>
      <dgm:spPr/>
    </dgm:pt>
    <dgm:pt modelId="{C315B40E-23FA-4DE8-A59F-44909929F974}" type="pres">
      <dgm:prSet presAssocID="{437FE181-D6EE-4F6F-BCB3-9B3536097D40}" presName="parTxOnlySpace" presStyleCnt="0"/>
      <dgm:spPr/>
    </dgm:pt>
    <dgm:pt modelId="{4980B6A1-175E-483B-B80C-25C25BE7404E}" type="pres">
      <dgm:prSet presAssocID="{A3C8675A-81F1-4EB9-A114-5C82945E4A44}" presName="parTxOnly" presStyleLbl="node1" presStyleIdx="3" presStyleCnt="4" custLinFactX="-238250" custLinFactY="91558" custLinFactNeighborX="-300000" custLinFactNeighborY="100000">
        <dgm:presLayoutVars>
          <dgm:chMax val="0"/>
          <dgm:chPref val="0"/>
          <dgm:bulletEnabled val="1"/>
        </dgm:presLayoutVars>
      </dgm:prSet>
      <dgm:spPr/>
    </dgm:pt>
  </dgm:ptLst>
  <dgm:cxnLst>
    <dgm:cxn modelId="{2398AB20-B786-4D59-9892-F02E0B7F7FFD}" type="presOf" srcId="{8C93FB11-6DE2-4CA4-878E-8A9DC5EDD388}" destId="{F15DC539-7D28-4190-A92F-15D9C5010C78}" srcOrd="0" destOrd="0" presId="urn:microsoft.com/office/officeart/2005/8/layout/chevron1"/>
    <dgm:cxn modelId="{E5BCAE75-72EA-4314-BAA0-5C276B43923A}" srcId="{88C375B0-5D26-417B-80AC-B3CDBF5A02B2}" destId="{A3C8675A-81F1-4EB9-A114-5C82945E4A44}" srcOrd="3" destOrd="0" parTransId="{36ED1B18-9DA6-44DC-BF4D-E6B1AA54F9E9}" sibTransId="{6C3D5C89-DE90-4D7D-8044-4EBCB5499694}"/>
    <dgm:cxn modelId="{BC569E59-AF6D-4AB0-A0FA-BF0F159C959B}" type="presOf" srcId="{1E67E387-22C8-4C97-8F9B-8D7F827EEE7F}" destId="{7830C1A5-592F-4C95-91A2-AE5C968D336C}" srcOrd="0" destOrd="0" presId="urn:microsoft.com/office/officeart/2005/8/layout/chevron1"/>
    <dgm:cxn modelId="{FBB4C586-0D13-455F-88C5-D2736C0E9471}" srcId="{88C375B0-5D26-417B-80AC-B3CDBF5A02B2}" destId="{1E67E387-22C8-4C97-8F9B-8D7F827EEE7F}" srcOrd="1" destOrd="0" parTransId="{8107FE17-D148-4F08-80D1-3E8FEC739959}" sibTransId="{832B0D44-510E-4DDF-AB3A-736AC07F88D9}"/>
    <dgm:cxn modelId="{2EB45C9B-DD5B-4460-B201-3CC8F7AF72EE}" srcId="{88C375B0-5D26-417B-80AC-B3CDBF5A02B2}" destId="{B2910435-A315-4744-8BC0-B88F136D679D}" srcOrd="0" destOrd="0" parTransId="{34B7AFA8-0D92-47CA-971C-C7E4AC4DA46A}" sibTransId="{E5590EEE-F7BC-473C-8094-7BB6543EDE3F}"/>
    <dgm:cxn modelId="{A523E79D-8CA5-4799-8FF1-B4D908BCAB46}" type="presOf" srcId="{88C375B0-5D26-417B-80AC-B3CDBF5A02B2}" destId="{08BBD33E-5FAB-4ECD-94EE-4EB2764E89FB}" srcOrd="0" destOrd="0" presId="urn:microsoft.com/office/officeart/2005/8/layout/chevron1"/>
    <dgm:cxn modelId="{98D7299F-7A36-4EB0-B9FB-66EBCBA27726}" type="presOf" srcId="{B2910435-A315-4744-8BC0-B88F136D679D}" destId="{9AEF07DB-DD18-467C-BB3A-475B8477BAE5}" srcOrd="0" destOrd="0" presId="urn:microsoft.com/office/officeart/2005/8/layout/chevron1"/>
    <dgm:cxn modelId="{21D41EE9-CFB4-4226-A033-95C1E931FC50}" srcId="{88C375B0-5D26-417B-80AC-B3CDBF5A02B2}" destId="{8C93FB11-6DE2-4CA4-878E-8A9DC5EDD388}" srcOrd="2" destOrd="0" parTransId="{EA069DE4-B90B-4632-B3FC-978F8FE2AD9F}" sibTransId="{437FE181-D6EE-4F6F-BCB3-9B3536097D40}"/>
    <dgm:cxn modelId="{74E38EFF-E750-44E8-96DD-38FC251C28FE}" type="presOf" srcId="{A3C8675A-81F1-4EB9-A114-5C82945E4A44}" destId="{4980B6A1-175E-483B-B80C-25C25BE7404E}" srcOrd="0" destOrd="0" presId="urn:microsoft.com/office/officeart/2005/8/layout/chevron1"/>
    <dgm:cxn modelId="{ECD8DC7F-C9E7-4BF4-B774-F4F1FAE6116C}" type="presParOf" srcId="{08BBD33E-5FAB-4ECD-94EE-4EB2764E89FB}" destId="{9AEF07DB-DD18-467C-BB3A-475B8477BAE5}" srcOrd="0" destOrd="0" presId="urn:microsoft.com/office/officeart/2005/8/layout/chevron1"/>
    <dgm:cxn modelId="{DB430457-47D4-46C4-8F0E-1ACC6BD235EC}" type="presParOf" srcId="{08BBD33E-5FAB-4ECD-94EE-4EB2764E89FB}" destId="{C135EAF6-1C96-4EDE-9ADF-5DBD2144E844}" srcOrd="1" destOrd="0" presId="urn:microsoft.com/office/officeart/2005/8/layout/chevron1"/>
    <dgm:cxn modelId="{19568980-660F-4408-9DD5-99FFB321F5F1}" type="presParOf" srcId="{08BBD33E-5FAB-4ECD-94EE-4EB2764E89FB}" destId="{7830C1A5-592F-4C95-91A2-AE5C968D336C}" srcOrd="2" destOrd="0" presId="urn:microsoft.com/office/officeart/2005/8/layout/chevron1"/>
    <dgm:cxn modelId="{80F9B812-416F-451C-BC48-E97BB8AAC547}" type="presParOf" srcId="{08BBD33E-5FAB-4ECD-94EE-4EB2764E89FB}" destId="{1CDF49A4-871B-4ED7-A49D-F97D8744C081}" srcOrd="3" destOrd="0" presId="urn:microsoft.com/office/officeart/2005/8/layout/chevron1"/>
    <dgm:cxn modelId="{47EACEE5-67DD-484B-BC42-6E7155356FE8}" type="presParOf" srcId="{08BBD33E-5FAB-4ECD-94EE-4EB2764E89FB}" destId="{F15DC539-7D28-4190-A92F-15D9C5010C78}" srcOrd="4" destOrd="0" presId="urn:microsoft.com/office/officeart/2005/8/layout/chevron1"/>
    <dgm:cxn modelId="{98C7F18F-AB90-4789-911D-38D7489E6483}" type="presParOf" srcId="{08BBD33E-5FAB-4ECD-94EE-4EB2764E89FB}" destId="{C315B40E-23FA-4DE8-A59F-44909929F974}" srcOrd="5" destOrd="0" presId="urn:microsoft.com/office/officeart/2005/8/layout/chevron1"/>
    <dgm:cxn modelId="{2B90A612-FF93-47F9-AD3E-CB0806AB70AD}" type="presParOf" srcId="{08BBD33E-5FAB-4ECD-94EE-4EB2764E89FB}" destId="{4980B6A1-175E-483B-B80C-25C25BE7404E}"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graphic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graphic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b6d0df57f04f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5a5f7039b0784a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a82d035a23c248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02d4ed88587347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3.xml" Id="R5832a1c307fe4f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3.xml" Id="R2df7efce050d4e1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3.xml" Id="R61a54409324f4be3"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261351-F90B-D54A-F3B3-6A9FC754B912}"/>
              </a:ext>
            </a:extLst>
          </p:cNvPr>
          <p:cNvSpPr>
            <a:spLocks noGrp="1"/>
          </p:cNvSpPr>
          <p:nvPr>
            <p:ph type="dt" sz="half" idx="10"/>
          </p:nvPr>
        </p:nvSpPr>
        <p:spPr/>
        <p:txBody>
          <a:bodyPr/>
          <a:lstStyle/>
          <a:p>
            <a:fld id="{CC5022DA-14EC-448D-86A8-B5792003B856}" type="datetimeFigureOut">
              <a:rPr lang="en-IN"/>
              <a:t>29-05-2025</a:t>
            </a:fld>
            <a:endParaRPr lang="en-IN"/>
          </a:p>
        </p:txBody>
      </p:sp>
      <p:sp>
        <p:nvSpPr>
          <p:cNvPr id="3" name="Footer Placeholder 2">
            <a:extLst>
              <a:ext uri="{FF2B5EF4-FFF2-40B4-BE49-F238E27FC236}">
                <a16:creationId xmlns:a16="http://schemas.microsoft.com/office/drawing/2014/main" id="{06EA1FAB-E44C-8AB9-2FA0-D9F62CD060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4EFCCF-9009-9ECA-F54D-6C57F8BBA6B6}"/>
              </a:ext>
            </a:extLst>
          </p:cNvPr>
          <p:cNvSpPr>
            <a:spLocks noGrp="1"/>
          </p:cNvSpPr>
          <p:nvPr>
            <p:ph type="sldNum" sz="quarter" idx="12"/>
          </p:nvPr>
        </p:nvSpPr>
        <p:spPr/>
        <p:txBody>
          <a:bodyPr/>
          <a:lstStyle/>
          <a:p>
            <a:fld id="{1518B646-0E73-48CF-88CC-D7AAC266E633}" type="slidenum">
              <a:rPr lang="en-IN"/>
              <a:t>‹#›</a:t>
            </a:fld>
            <a:endParaRPr lang="en-IN"/>
          </a:p>
        </p:txBody>
      </p:sp>
    </p:spTree>
    <p:extLst>
      <p:ext uri="{BB962C8B-B14F-4D97-AF65-F5344CB8AC3E}">
        <p14:creationId xmlns:p14="http://schemas.microsoft.com/office/powerpoint/2010/main" val="633699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8715BB-71E8-E3FD-1B11-108039FEC705}"/>
              </a:ext>
            </a:extLst>
          </p:cNvPr>
          <p:cNvSpPr>
            <a:spLocks noGrp="1"/>
          </p:cNvSpPr>
          <p:nvPr>
            <p:ph type="dt" sz="half" idx="10"/>
          </p:nvPr>
        </p:nvSpPr>
        <p:spPr/>
        <p:txBody>
          <a:bodyPr/>
          <a:lstStyle/>
          <a:p>
            <a:fld id="{A10AAC08-AABB-4050-A0BC-6D45FCF6A550}" type="datetimeFigureOut">
              <a:rPr lang="en-IN"/>
              <a:t>13-05-2025</a:t>
            </a:fld>
            <a:endParaRPr lang="en-IN"/>
          </a:p>
        </p:txBody>
      </p:sp>
      <p:sp>
        <p:nvSpPr>
          <p:cNvPr id="3" name="Footer Placeholder 2">
            <a:extLst>
              <a:ext uri="{FF2B5EF4-FFF2-40B4-BE49-F238E27FC236}">
                <a16:creationId xmlns:a16="http://schemas.microsoft.com/office/drawing/2014/main" id="{7E283529-AEA0-A605-8A8E-D5E0357638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F3E2815-8EEF-202F-7CCB-DD325C776F6A}"/>
              </a:ext>
            </a:extLst>
          </p:cNvPr>
          <p:cNvSpPr>
            <a:spLocks noGrp="1"/>
          </p:cNvSpPr>
          <p:nvPr>
            <p:ph type="sldNum" sz="quarter" idx="12"/>
          </p:nvPr>
        </p:nvSpPr>
        <p:spPr/>
        <p:txBody>
          <a:bodyPr/>
          <a:lstStyle/>
          <a:p>
            <a:fld id="{42FDEEBB-E6B4-429C-9B56-9C4731FB4700}" type="slidenum">
              <a:rPr lang="en-IN"/>
              <a:t>‹#›</a:t>
            </a:fld>
            <a:endParaRPr lang="en-IN"/>
          </a:p>
        </p:txBody>
      </p:sp>
    </p:spTree>
    <p:extLst>
      <p:ext uri="{BB962C8B-B14F-4D97-AF65-F5344CB8AC3E}">
        <p14:creationId xmlns:p14="http://schemas.microsoft.com/office/powerpoint/2010/main" val="3669098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9CDA6-BE44-397B-6859-82A41D0523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D4A716-6A7B-9B94-1959-CB2F52B002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773B20-8618-52BC-AA7D-F02A4BACF255}"/>
              </a:ext>
            </a:extLst>
          </p:cNvPr>
          <p:cNvSpPr>
            <a:spLocks noGrp="1"/>
          </p:cNvSpPr>
          <p:nvPr>
            <p:ph type="dt" sz="half" idx="10"/>
          </p:nvPr>
        </p:nvSpPr>
        <p:spPr/>
        <p:txBody>
          <a:bodyPr/>
          <a:lstStyle/>
          <a:p>
            <a:fld id="{A10AAC08-AABB-4050-A0BC-6D45FCF6A550}" type="datetimeFigureOut">
              <a:rPr lang="en-IN"/>
              <a:t>13-05-2025</a:t>
            </a:fld>
            <a:endParaRPr lang="en-IN"/>
          </a:p>
        </p:txBody>
      </p:sp>
      <p:sp>
        <p:nvSpPr>
          <p:cNvPr id="5" name="Footer Placeholder 4">
            <a:extLst>
              <a:ext uri="{FF2B5EF4-FFF2-40B4-BE49-F238E27FC236}">
                <a16:creationId xmlns:a16="http://schemas.microsoft.com/office/drawing/2014/main" id="{C2FFD300-57BB-4D44-9FEE-05D2410032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F998FF-1AEF-997F-DC4E-B30CC19181F5}"/>
              </a:ext>
            </a:extLst>
          </p:cNvPr>
          <p:cNvSpPr>
            <a:spLocks noGrp="1"/>
          </p:cNvSpPr>
          <p:nvPr>
            <p:ph type="sldNum" sz="quarter" idx="12"/>
          </p:nvPr>
        </p:nvSpPr>
        <p:spPr/>
        <p:txBody>
          <a:bodyPr/>
          <a:lstStyle/>
          <a:p>
            <a:fld id="{42FDEEBB-E6B4-429C-9B56-9C4731FB4700}" type="slidenum">
              <a:rPr lang="en-IN"/>
              <a:t>‹#›</a:t>
            </a:fld>
            <a:endParaRPr lang="en-IN"/>
          </a:p>
        </p:txBody>
      </p:sp>
    </p:spTree>
    <p:extLst>
      <p:ext uri="{BB962C8B-B14F-4D97-AF65-F5344CB8AC3E}">
        <p14:creationId xmlns:p14="http://schemas.microsoft.com/office/powerpoint/2010/main" val="380032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16AC7-A401-511E-C084-DC23BBC47A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9BAB859-F24F-8A11-F8BB-A1C437B520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1E72EBB-61B1-A003-A53C-6C3F162B3E84}"/>
              </a:ext>
            </a:extLst>
          </p:cNvPr>
          <p:cNvSpPr>
            <a:spLocks noGrp="1"/>
          </p:cNvSpPr>
          <p:nvPr>
            <p:ph type="dt" sz="half" idx="10"/>
          </p:nvPr>
        </p:nvSpPr>
        <p:spPr/>
        <p:txBody>
          <a:bodyPr/>
          <a:lstStyle/>
          <a:p>
            <a:fld id="{A10AAC08-AABB-4050-A0BC-6D45FCF6A550}" type="datetimeFigureOut">
              <a:rPr lang="en-IN"/>
              <a:t>13-05-2025</a:t>
            </a:fld>
            <a:endParaRPr lang="en-IN"/>
          </a:p>
        </p:txBody>
      </p:sp>
      <p:sp>
        <p:nvSpPr>
          <p:cNvPr id="5" name="Footer Placeholder 4">
            <a:extLst>
              <a:ext uri="{FF2B5EF4-FFF2-40B4-BE49-F238E27FC236}">
                <a16:creationId xmlns:a16="http://schemas.microsoft.com/office/drawing/2014/main" id="{41140600-9159-E25E-89F6-D692E9C14A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CA3BCC-EABE-FEF0-6395-16F8A58F0101}"/>
              </a:ext>
            </a:extLst>
          </p:cNvPr>
          <p:cNvSpPr>
            <a:spLocks noGrp="1"/>
          </p:cNvSpPr>
          <p:nvPr>
            <p:ph type="sldNum" sz="quarter" idx="12"/>
          </p:nvPr>
        </p:nvSpPr>
        <p:spPr/>
        <p:txBody>
          <a:bodyPr/>
          <a:lstStyle/>
          <a:p>
            <a:fld id="{42FDEEBB-E6B4-429C-9B56-9C4731FB4700}" type="slidenum">
              <a:rPr lang="en-IN"/>
              <a:t>‹#›</a:t>
            </a:fld>
            <a:endParaRPr lang="en-IN"/>
          </a:p>
        </p:txBody>
      </p:sp>
    </p:spTree>
    <p:extLst>
      <p:ext uri="{BB962C8B-B14F-4D97-AF65-F5344CB8AC3E}">
        <p14:creationId xmlns:p14="http://schemas.microsoft.com/office/powerpoint/2010/main" val="3079043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B1E67F-4BB4-10E9-D85B-4178F24C53FD}"/>
              </a:ext>
            </a:extLst>
          </p:cNvPr>
          <p:cNvSpPr>
            <a:spLocks noGrp="1"/>
          </p:cNvSpPr>
          <p:nvPr>
            <p:ph type="dt" sz="half" idx="10"/>
          </p:nvPr>
        </p:nvSpPr>
        <p:spPr/>
        <p:txBody>
          <a:bodyPr/>
          <a:lstStyle/>
          <a:p>
            <a:fld id="{AF0D07DC-D174-4D75-B439-AB1B9B354DE1}" type="datetimeFigureOut">
              <a:rPr lang="en-IN"/>
              <a:t>14-05-2025</a:t>
            </a:fld>
            <a:endParaRPr lang="en-IN"/>
          </a:p>
        </p:txBody>
      </p:sp>
      <p:sp>
        <p:nvSpPr>
          <p:cNvPr id="3" name="Footer Placeholder 2">
            <a:extLst>
              <a:ext uri="{FF2B5EF4-FFF2-40B4-BE49-F238E27FC236}">
                <a16:creationId xmlns:a16="http://schemas.microsoft.com/office/drawing/2014/main" id="{D5498A33-F6A5-9A5B-B4DE-B54D1C876A9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1009E6-FC88-D0BF-EC2C-CCEEEEF00A98}"/>
              </a:ext>
            </a:extLst>
          </p:cNvPr>
          <p:cNvSpPr>
            <a:spLocks noGrp="1"/>
          </p:cNvSpPr>
          <p:nvPr>
            <p:ph type="sldNum" sz="quarter" idx="12"/>
          </p:nvPr>
        </p:nvSpPr>
        <p:spPr/>
        <p:txBody>
          <a:bodyPr/>
          <a:lstStyle/>
          <a:p>
            <a:fld id="{07161BB7-3D57-4D5C-84E7-724DF2F707E7}" type="slidenum">
              <a:rPr lang="en-IN"/>
              <a:t>‹#›</a:t>
            </a:fld>
            <a:endParaRPr lang="en-IN"/>
          </a:p>
        </p:txBody>
      </p:sp>
    </p:spTree>
    <p:extLst>
      <p:ext uri="{BB962C8B-B14F-4D97-AF65-F5344CB8AC3E}">
        <p14:creationId xmlns:p14="http://schemas.microsoft.com/office/powerpoint/2010/main" val="3541832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03D41-918C-CC29-E236-CA131A8192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91A57F-8E51-0D10-797C-DDC316FCA7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2EAC1CA-D9ED-AB18-9486-29CBAB5E740A}"/>
              </a:ext>
            </a:extLst>
          </p:cNvPr>
          <p:cNvSpPr>
            <a:spLocks noGrp="1"/>
          </p:cNvSpPr>
          <p:nvPr>
            <p:ph type="dt" sz="half" idx="10"/>
          </p:nvPr>
        </p:nvSpPr>
        <p:spPr/>
        <p:txBody>
          <a:bodyPr/>
          <a:lstStyle/>
          <a:p>
            <a:fld id="{AF0D07DC-D174-4D75-B439-AB1B9B354DE1}" type="datetimeFigureOut">
              <a:rPr lang="en-IN"/>
              <a:t>14-05-2025</a:t>
            </a:fld>
            <a:endParaRPr lang="en-IN"/>
          </a:p>
        </p:txBody>
      </p:sp>
      <p:sp>
        <p:nvSpPr>
          <p:cNvPr id="5" name="Footer Placeholder 4">
            <a:extLst>
              <a:ext uri="{FF2B5EF4-FFF2-40B4-BE49-F238E27FC236}">
                <a16:creationId xmlns:a16="http://schemas.microsoft.com/office/drawing/2014/main" id="{265FB98F-B580-D65C-AEA8-270C263FE3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E1DE19-12D8-C722-7585-B85A68DBE28D}"/>
              </a:ext>
            </a:extLst>
          </p:cNvPr>
          <p:cNvSpPr>
            <a:spLocks noGrp="1"/>
          </p:cNvSpPr>
          <p:nvPr>
            <p:ph type="sldNum" sz="quarter" idx="12"/>
          </p:nvPr>
        </p:nvSpPr>
        <p:spPr/>
        <p:txBody>
          <a:bodyPr/>
          <a:lstStyle/>
          <a:p>
            <a:fld id="{07161BB7-3D57-4D5C-84E7-724DF2F707E7}" type="slidenum">
              <a:rPr lang="en-IN"/>
              <a:t>‹#›</a:t>
            </a:fld>
            <a:endParaRPr lang="en-IN"/>
          </a:p>
        </p:txBody>
      </p:sp>
    </p:spTree>
    <p:extLst>
      <p:ext uri="{BB962C8B-B14F-4D97-AF65-F5344CB8AC3E}">
        <p14:creationId xmlns:p14="http://schemas.microsoft.com/office/powerpoint/2010/main" val="4037539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82833-3AC1-B304-4F5C-7719D7B18C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7D87B1D-1D95-3304-63D1-76DD46A7A6B9}"/>
              </a:ext>
            </a:extLst>
          </p:cNvPr>
          <p:cNvSpPr>
            <a:spLocks noGrp="1"/>
          </p:cNvSpPr>
          <p:nvPr>
            <p:ph type="dt" sz="half" idx="10"/>
          </p:nvPr>
        </p:nvSpPr>
        <p:spPr/>
        <p:txBody>
          <a:bodyPr/>
          <a:lstStyle/>
          <a:p>
            <a:fld id="{AF0D07DC-D174-4D75-B439-AB1B9B354DE1}" type="datetimeFigureOut">
              <a:rPr lang="en-IN"/>
              <a:t>14-05-2025</a:t>
            </a:fld>
            <a:endParaRPr lang="en-IN"/>
          </a:p>
        </p:txBody>
      </p:sp>
      <p:sp>
        <p:nvSpPr>
          <p:cNvPr id="4" name="Footer Placeholder 3">
            <a:extLst>
              <a:ext uri="{FF2B5EF4-FFF2-40B4-BE49-F238E27FC236}">
                <a16:creationId xmlns:a16="http://schemas.microsoft.com/office/drawing/2014/main" id="{AD702DDE-A6E4-BF9C-0B2A-5C90BFC443F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A11CC8-94EE-F049-78E1-800111A8B254}"/>
              </a:ext>
            </a:extLst>
          </p:cNvPr>
          <p:cNvSpPr>
            <a:spLocks noGrp="1"/>
          </p:cNvSpPr>
          <p:nvPr>
            <p:ph type="sldNum" sz="quarter" idx="12"/>
          </p:nvPr>
        </p:nvSpPr>
        <p:spPr/>
        <p:txBody>
          <a:bodyPr/>
          <a:lstStyle/>
          <a:p>
            <a:fld id="{07161BB7-3D57-4D5C-84E7-724DF2F707E7}" type="slidenum">
              <a:rPr lang="en-IN"/>
              <a:t>‹#›</a:t>
            </a:fld>
            <a:endParaRPr lang="en-IN"/>
          </a:p>
        </p:txBody>
      </p:sp>
    </p:spTree>
    <p:extLst>
      <p:ext uri="{BB962C8B-B14F-4D97-AF65-F5344CB8AC3E}">
        <p14:creationId xmlns:p14="http://schemas.microsoft.com/office/powerpoint/2010/main" val="1879943099"/>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1.xml" Id="Rdedd75df0a5c4f05" /><Relationship Type="http://schemas.openxmlformats.org/officeDocument/2006/relationships/slideLayout" Target="/ppt/slideLayouts/slideLayout1.xml" Id="R98897152ae8e465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2.xml" Id="R3afed87fc93d4a95" /><Relationship Type="http://schemas.openxmlformats.org/officeDocument/2006/relationships/slideLayout" Target="/ppt/slideLayouts/slideLayout2.xml" Id="R8bc17bf3a6224ac8" /><Relationship Type="http://schemas.openxmlformats.org/officeDocument/2006/relationships/slideLayout" Target="/ppt/slideLayouts/slideLayout3.xml" Id="R1e9bf52608654487" /><Relationship Type="http://schemas.openxmlformats.org/officeDocument/2006/relationships/slideLayout" Target="/ppt/slideLayouts/slideLayout4.xml" Id="Radad9d227fa44e96"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3.xml" Id="Rc90d355df8b24a16" /><Relationship Type="http://schemas.openxmlformats.org/officeDocument/2006/relationships/slideLayout" Target="/ppt/slideLayouts/slideLayout5.xml" Id="R306f567172be49f6" /><Relationship Type="http://schemas.openxmlformats.org/officeDocument/2006/relationships/slideLayout" Target="/ppt/slideLayouts/slideLayout6.xml" Id="R44539c850cb34aba" /><Relationship Type="http://schemas.openxmlformats.org/officeDocument/2006/relationships/slideLayout" Target="/ppt/slideLayouts/slideLayout7.xml" Id="R8ed092c2d3794bd8" /></Relationships>
</file>

<file path=ppt/slideMasters/slideMaster1.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681201-B778-1EEB-CC80-0112B18920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19FD57-5576-CF73-2B9F-0E743D716B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2A5FCA-09AC-683C-AD82-4DB5E72CB8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5022DA-14EC-448D-86A8-B5792003B856}" type="datetimeFigureOut">
              <a:rPr lang="en-IN"/>
              <a:t>29-05-2025</a:t>
            </a:fld>
            <a:endParaRPr lang="en-IN"/>
          </a:p>
        </p:txBody>
      </p:sp>
      <p:sp>
        <p:nvSpPr>
          <p:cNvPr id="5" name="Footer Placeholder 4">
            <a:extLst>
              <a:ext uri="{FF2B5EF4-FFF2-40B4-BE49-F238E27FC236}">
                <a16:creationId xmlns:a16="http://schemas.microsoft.com/office/drawing/2014/main" id="{E8C45357-115B-9C9F-6464-53BE290F45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26AEDAB-69F0-74AB-2458-4655390937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18B646-0E73-48CF-88CC-D7AAC266E633}" type="slidenum">
              <a:rPr lang="en-IN"/>
              <a:t>‹#›</a:t>
            </a:fld>
            <a:endParaRPr lang="en-IN"/>
          </a:p>
        </p:txBody>
      </p:sp>
    </p:spTree>
    <p:extLst>
      <p:ext uri="{BB962C8B-B14F-4D97-AF65-F5344CB8AC3E}">
        <p14:creationId xmlns:p14="http://schemas.microsoft.com/office/powerpoint/2010/main" val="3091603436"/>
      </p:ext>
    </p:extLst>
  </p:cSld>
  <p:clrMap bg1="lt1" tx1="dk1" bg2="lt2" tx2="dk2" accent1="accent1" accent2="accent2" accent3="accent3" accent4="accent4" accent5="accent5" accent6="accent6" hlink="hlink" folHlink="folHlink"/>
  <p:sldLayoutIdLst>
    <p:sldLayoutId id="2147483649" r:id="R98897152ae8e465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5C57C-2084-F79B-813A-38108CC194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36610C-1324-0B9D-5912-244B05611B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DEF2BF-E383-0033-AD70-D5CCE87E9F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0AAC08-AABB-4050-A0BC-6D45FCF6A550}" type="datetimeFigureOut">
              <a:rPr lang="en-IN"/>
              <a:t>13-05-2025</a:t>
            </a:fld>
            <a:endParaRPr lang="en-IN"/>
          </a:p>
        </p:txBody>
      </p:sp>
      <p:sp>
        <p:nvSpPr>
          <p:cNvPr id="5" name="Footer Placeholder 4">
            <a:extLst>
              <a:ext uri="{FF2B5EF4-FFF2-40B4-BE49-F238E27FC236}">
                <a16:creationId xmlns:a16="http://schemas.microsoft.com/office/drawing/2014/main" id="{9550CB11-E528-BD7D-CE54-8BFAA50BC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80ABFE9-0435-4F1F-368C-D377895EC7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FDEEBB-E6B4-429C-9B56-9C4731FB4700}" type="slidenum">
              <a:rPr lang="en-IN"/>
              <a:t>‹#›</a:t>
            </a:fld>
            <a:endParaRPr lang="en-IN"/>
          </a:p>
        </p:txBody>
      </p:sp>
    </p:spTree>
    <p:extLst>
      <p:ext uri="{BB962C8B-B14F-4D97-AF65-F5344CB8AC3E}">
        <p14:creationId xmlns:p14="http://schemas.microsoft.com/office/powerpoint/2010/main" val="3755155291"/>
      </p:ext>
    </p:extLst>
  </p:cSld>
  <p:clrMap bg1="lt1" tx1="dk1" bg2="lt2" tx2="dk2" accent1="accent1" accent2="accent2" accent3="accent3" accent4="accent4" accent5="accent5" accent6="accent6" hlink="hlink" folHlink="folHlink"/>
  <p:sldLayoutIdLst>
    <p:sldLayoutId id="2147483651" r:id="R8bc17bf3a6224ac8"/>
    <p:sldLayoutId id="2147483652" r:id="R1e9bf52608654487"/>
    <p:sldLayoutId id="2147483653" r:id="Radad9d227fa44e9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4D4F44-FB2F-E66E-DC6B-AB0336E680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8B02F7-613F-2A62-1B79-B834849F35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0D7C15-EFB0-654A-2EDB-E772FF5D90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0D07DC-D174-4D75-B439-AB1B9B354DE1}" type="datetimeFigureOut">
              <a:rPr lang="en-IN"/>
              <a:t>14-05-2025</a:t>
            </a:fld>
            <a:endParaRPr lang="en-IN"/>
          </a:p>
        </p:txBody>
      </p:sp>
      <p:sp>
        <p:nvSpPr>
          <p:cNvPr id="5" name="Footer Placeholder 4">
            <a:extLst>
              <a:ext uri="{FF2B5EF4-FFF2-40B4-BE49-F238E27FC236}">
                <a16:creationId xmlns:a16="http://schemas.microsoft.com/office/drawing/2014/main" id="{9B22DD1C-9BB7-60BD-4641-3B910D4926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7F5BD0-9D57-ABE3-8C02-448E92EFD3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161BB7-3D57-4D5C-84E7-724DF2F707E7}" type="slidenum">
              <a:rPr lang="en-IN"/>
              <a:t>‹#›</a:t>
            </a:fld>
            <a:endParaRPr lang="en-IN"/>
          </a:p>
        </p:txBody>
      </p:sp>
    </p:spTree>
    <p:extLst>
      <p:ext uri="{BB962C8B-B14F-4D97-AF65-F5344CB8AC3E}">
        <p14:creationId xmlns:p14="http://schemas.microsoft.com/office/powerpoint/2010/main" val="3733431924"/>
      </p:ext>
    </p:extLst>
  </p:cSld>
  <p:clrMap bg1="lt1" tx1="dk1" bg2="lt2" tx2="dk2" accent1="accent1" accent2="accent2" accent3="accent3" accent4="accent4" accent5="accent5" accent6="accent6" hlink="hlink" folHlink="folHlink"/>
  <p:sldLayoutIdLst>
    <p:sldLayoutId id="2147483655" r:id="R306f567172be49f6"/>
    <p:sldLayoutId id="2147483656" r:id="R44539c850cb34aba"/>
    <p:sldLayoutId id="2147483657" r:id="R8ed092c2d3794b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png" Id="Ree3b4d87c66b4327" /><Relationship Type="http://schemas.openxmlformats.org/officeDocument/2006/relationships/slideLayout" Target="/ppt/slideLayouts/slideLayout1.xml" Id="Rfecda05a51e64175" /></Relationships>
</file>

<file path=ppt/slides/_rels/slide2.xml.rels>&#65279;<?xml version="1.0" encoding="utf-8"?><Relationships xmlns="http://schemas.openxmlformats.org/package/2006/relationships"><Relationship Type="http://schemas.openxmlformats.org/officeDocument/2006/relationships/image" Target="/ppt/media/image.png" Id="Rd3788355dc9747a5" /><Relationship Type="http://schemas.openxmlformats.org/officeDocument/2006/relationships/slideLayout" Target="/ppt/slideLayouts/slideLayout1.xml" Id="R8bf7791386bb4147" /></Relationships>
</file>

<file path=ppt/slides/_rels/slide3.xml.rels>&#65279;<?xml version="1.0" encoding="utf-8"?><Relationships xmlns="http://schemas.openxmlformats.org/package/2006/relationships"><Relationship Type="http://schemas.openxmlformats.org/officeDocument/2006/relationships/image" Target="/ppt/media/image.png" Id="R3b3c273f883a4eb7" /><Relationship Type="http://schemas.openxmlformats.org/officeDocument/2006/relationships/slideLayout" Target="/ppt/slideLayouts/slideLayout1.xml" Id="Rc6dce9f036084fda" /></Relationships>
</file>

<file path=ppt/slides/_rels/slide4.xml.rels>&#65279;<?xml version="1.0" encoding="utf-8"?><Relationships xmlns="http://schemas.openxmlformats.org/package/2006/relationships"><Relationship Type="http://schemas.openxmlformats.org/officeDocument/2006/relationships/image" Target="/ppt/media/image.png" Id="R8c27fec4610b4358" /><Relationship Type="http://schemas.openxmlformats.org/officeDocument/2006/relationships/slideLayout" Target="/ppt/slideLayouts/slideLayout1.xml" Id="Rafdf143607164f97" /></Relationships>
</file>

<file path=ppt/slides/_rels/slide5.xml.rels>&#65279;<?xml version="1.0" encoding="utf-8"?><Relationships xmlns="http://schemas.openxmlformats.org/package/2006/relationships"><Relationship Type="http://schemas.openxmlformats.org/officeDocument/2006/relationships/image" Target="/ppt/media/image.png" Id="R0dc05be9b7a44785" /><Relationship Type="http://schemas.openxmlformats.org/officeDocument/2006/relationships/slideLayout" Target="/ppt/slideLayouts/slideLayout1.xml" Id="R27544b718b234905" /></Relationships>
</file>

<file path=ppt/slides/_rels/slide6.xml.rels>&#65279;<?xml version="1.0" encoding="utf-8"?><Relationships xmlns="http://schemas.openxmlformats.org/package/2006/relationships"><Relationship Type="http://schemas.openxmlformats.org/officeDocument/2006/relationships/image" Target="/ppt/media/image.png" Id="Ra6ac33b315624594" /><Relationship Type="http://schemas.openxmlformats.org/officeDocument/2006/relationships/slideLayout" Target="/ppt/slideLayouts/slideLayout4.xml" Id="Rf690744703e446bf" /></Relationships>
</file>

<file path=ppt/slides/_rels/slide7.xml.rels>&#65279;<?xml version="1.0" encoding="utf-8"?><Relationships xmlns="http://schemas.openxmlformats.org/package/2006/relationships"><Relationship Type="http://schemas.openxmlformats.org/officeDocument/2006/relationships/image" Target="/ppt/media/image.png" Id="R919f06f94b764168" /><Relationship Type="http://schemas.openxmlformats.org/officeDocument/2006/relationships/slideLayout" Target="/ppt/slideLayouts/slideLayout2.xml" Id="R0d45c277f69a4951" /></Relationships>
</file>

<file path=ppt/slides/_rels/slide8.xml.rels>&#65279;<?xml version="1.0" encoding="utf-8"?><Relationships xmlns="http://schemas.openxmlformats.org/package/2006/relationships"><Relationship Type="http://schemas.openxmlformats.org/officeDocument/2006/relationships/image" Target="/ppt/media/image.png" Id="R1b1a3bed99094652" /><Relationship Type="http://schemas.openxmlformats.org/officeDocument/2006/relationships/slideLayout" Target="/ppt/slideLayouts/slideLayout2.xml" Id="Rfc740d2ac03747b4" /></Relationships>
</file>

<file path=ppt/slides/_rels/slide9.xml.rels>&#65279;<?xml version="1.0" encoding="utf-8"?><Relationships xmlns="http://schemas.openxmlformats.org/package/2006/relationships"><Relationship Type="http://schemas.openxmlformats.org/officeDocument/2006/relationships/image" Target="/ppt/media/image.png" Id="Rb8631b95ee314c4b" /><Relationship Type="http://schemas.openxmlformats.org/officeDocument/2006/relationships/slideLayout" Target="/ppt/slideLayouts/slideLayout2.xml" Id="R162311c53e5841d1" /></Relationships>
</file>

<file path=ppt/slides/_rels/slide10.xml.rels>&#65279;<?xml version="1.0" encoding="utf-8"?><Relationships xmlns="http://schemas.openxmlformats.org/package/2006/relationships"><Relationship Type="http://schemas.openxmlformats.org/officeDocument/2006/relationships/image" Target="/ppt/media/image.png" Id="Re50b6f653bdc4aad" /><Relationship Type="http://schemas.openxmlformats.org/officeDocument/2006/relationships/slideLayout" Target="/ppt/slideLayouts/slideLayout3.xml" Id="R402f5af1dc4441e5" /></Relationships>
</file>

<file path=ppt/slides/_rels/slide11.xml.rels>&#65279;<?xml version="1.0" encoding="utf-8"?><Relationships xmlns="http://schemas.openxmlformats.org/package/2006/relationships"><Relationship Type="http://schemas.openxmlformats.org/officeDocument/2006/relationships/image" Target="/ppt/media/image.png" Id="Rf0b16279d4e34837" /><Relationship Type="http://schemas.openxmlformats.org/officeDocument/2006/relationships/slideLayout" Target="/ppt/slideLayouts/slideLayout3.xml" Id="R100e0cd7baca49c7" /></Relationships>
</file>

<file path=ppt/slides/_rels/slide12.xml.rels>&#65279;<?xml version="1.0" encoding="utf-8"?><Relationships xmlns="http://schemas.openxmlformats.org/package/2006/relationships"><Relationship Type="http://schemas.openxmlformats.org/officeDocument/2006/relationships/image" Target="/ppt/media/image.jpg" Id="Ra021ddb7774648d5" /><Relationship Type="http://schemas.openxmlformats.org/officeDocument/2006/relationships/image" Target="/ppt/media/image.png" Id="R6203e95544f3423d" /><Relationship Type="http://schemas.openxmlformats.org/officeDocument/2006/relationships/slideLayout" Target="/ppt/slideLayouts/slideLayout2.xml" Id="R6a70b15de93646cc" /></Relationships>
</file>

<file path=ppt/slides/_rels/slide13.xml.rels>&#65279;<?xml version="1.0" encoding="utf-8"?><Relationships xmlns="http://schemas.openxmlformats.org/package/2006/relationships"><Relationship Type="http://schemas.openxmlformats.org/officeDocument/2006/relationships/image" Target="/ppt/media/image.png" Id="R10da6ff644a84c26" /><Relationship Type="http://schemas.openxmlformats.org/officeDocument/2006/relationships/slideLayout" Target="/ppt/slideLayouts/slideLayout6.xml" Id="R36b73bc1837941f6" /></Relationships>
</file>

<file path=ppt/slides/_rels/slide14.xml.rels>&#65279;<?xml version="1.0" encoding="utf-8"?><Relationships xmlns="http://schemas.openxmlformats.org/package/2006/relationships"><Relationship Type="http://schemas.openxmlformats.org/officeDocument/2006/relationships/image" Target="/ppt/media/image.png" Id="R0a882e5363484b67" /><Relationship Type="http://schemas.openxmlformats.org/officeDocument/2006/relationships/image" Target="/ppt/media/image2.png" Id="R94456d7539a845c7" /><Relationship Type="http://schemas.microsoft.com/office/2007/relationships/hdphoto" Target="/ppt/slides/udata/data.wdp" Id="R9d246bc1aba7482f" /><Relationship Type="http://schemas.openxmlformats.org/officeDocument/2006/relationships/slideLayout" Target="/ppt/slideLayouts/slideLayout5.xml" Id="Rebb38b67ced041dd" /></Relationships>
</file>

<file path=ppt/slides/_rels/slide15.xml.rels>&#65279;<?xml version="1.0" encoding="utf-8"?><Relationships xmlns="http://schemas.openxmlformats.org/package/2006/relationships"><Relationship Type="http://schemas.openxmlformats.org/officeDocument/2006/relationships/image" Target="/ppt/media/image.png" Id="Rbe97ef3910394844" /><Relationship Type="http://schemas.openxmlformats.org/officeDocument/2006/relationships/image" Target="/ppt/media/image2.png" Id="Rb0fa58d0d3474475" /><Relationship Type="http://schemas.microsoft.com/office/2007/relationships/hdphoto" Target="/ppt/slides/udata/data2.wdp" Id="Rd339633f2d8646a7" /><Relationship Type="http://schemas.openxmlformats.org/officeDocument/2006/relationships/slideLayout" Target="/ppt/slideLayouts/slideLayout5.xml" Id="Rc3903615d99c4e6f" /></Relationships>
</file>

<file path=ppt/slides/_rels/slide16.xml.rels>&#65279;<?xml version="1.0" encoding="utf-8"?><Relationships xmlns="http://schemas.openxmlformats.org/package/2006/relationships"><Relationship Type="http://schemas.openxmlformats.org/officeDocument/2006/relationships/image" Target="/ppt/media/image.png" Id="R110a2fd4c9a94176" /><Relationship Type="http://schemas.openxmlformats.org/officeDocument/2006/relationships/image" Target="/ppt/media/image3.png" Id="Raa9fcc1ee0b74d82" /><Relationship Type="http://schemas.openxmlformats.org/officeDocument/2006/relationships/image" Target="/ppt/media/image4.png" Id="R2a0b2b9036c04cec" /><Relationship Type="http://schemas.microsoft.com/office/2007/relationships/hdphoto" Target="/ppt/slides/udata/data3.wdp" Id="Rdacbe3f8f4f74268" /><Relationship Type="http://schemas.openxmlformats.org/officeDocument/2006/relationships/slideLayout" Target="/ppt/slideLayouts/slideLayout5.xml" Id="Rd18f7bd4cefa4564" /></Relationships>
</file>

<file path=ppt/slides/_rels/slide17.xml.rels><?xml version="1.0" encoding="utf-8" standalone="no" ?><Relationships xmlns="http://schemas.openxmlformats.org/package/2006/relationships"><Relationship Id="R322c64564c7e45ac" Target="/ppt/media/image.png" Type="http://schemas.openxmlformats.org/officeDocument/2006/relationships/image"/><Relationship Id="R006b52fe2a5447d5" Target="/ppt/media/image3.png" Type="http://schemas.openxmlformats.org/officeDocument/2006/relationships/image"/><Relationship Id="R8ec2b1c55c094bfd" Target="/ppt/media/image4.png" Type="http://schemas.openxmlformats.org/officeDocument/2006/relationships/image"/><Relationship Id="R6c34de024c754a15" Target="/ppt/media/image5.jpeg" Type="http://schemas.openxmlformats.org/officeDocument/2006/relationships/image"/><Relationship Id="R7d64f1d63eb44ab2" Target="/ppt/slides/udata/data4.wdp" Type="http://schemas.microsoft.com/office/2007/relationships/hdphoto"/><Relationship Id="R52fe39e8c76c4309" Target="/ppt/slideLayouts/slideLayout5.xml" Type="http://schemas.openxmlformats.org/officeDocument/2006/relationships/slideLayout"/></Relationships>
</file>

<file path=ppt/slides/_rels/slide18.xml.rels>&#65279;<?xml version="1.0" encoding="utf-8"?><Relationships xmlns="http://schemas.openxmlformats.org/package/2006/relationships"><Relationship Type="http://schemas.openxmlformats.org/officeDocument/2006/relationships/image" Target="/ppt/media/image.png" Id="Rc5261fd12f544e8e" /><Relationship Type="http://schemas.openxmlformats.org/officeDocument/2006/relationships/slideLayout" Target="/ppt/slideLayouts/slideLayout7.xml" Id="Redd7911ce5c949c8" /></Relationships>
</file>

<file path=ppt/slides/_rels/slide19.xml.rels>&#65279;<?xml version="1.0" encoding="utf-8"?><Relationships xmlns="http://schemas.openxmlformats.org/package/2006/relationships"><Relationship Type="http://schemas.openxmlformats.org/officeDocument/2006/relationships/image" Target="/ppt/media/image.png" Id="R8a8141d78cb44823" /><Relationship Type="http://schemas.openxmlformats.org/officeDocument/2006/relationships/slideLayout" Target="/ppt/slideLayouts/slideLayout7.xml" Id="Rd27b06ef25a54090" /></Relationships>
</file>

<file path=ppt/slides/_rels/slide20.xml.rels>&#65279;<?xml version="1.0" encoding="utf-8"?><Relationships xmlns="http://schemas.openxmlformats.org/package/2006/relationships"><Relationship Type="http://schemas.openxmlformats.org/officeDocument/2006/relationships/image" Target="/ppt/media/image.png" Id="R98abed725a3d46d6" /><Relationship Type="http://schemas.openxmlformats.org/officeDocument/2006/relationships/slideLayout" Target="/ppt/slideLayouts/slideLayout7.xml" Id="R42d5ccbd3a8c49a2" /></Relationships>
</file>

<file path=ppt/slides/_rels/slide21.xml.rels>&#65279;<?xml version="1.0" encoding="utf-8"?><Relationships xmlns="http://schemas.openxmlformats.org/package/2006/relationships"><Relationship Type="http://schemas.openxmlformats.org/officeDocument/2006/relationships/image" Target="/ppt/media/image.png" Id="Ra6b46f9bbad2423c" /><Relationship Type="http://schemas.openxmlformats.org/officeDocument/2006/relationships/image" Target="/ppt/media/image2.jpg" Id="R0d3809665a204707" /><Relationship Type="http://schemas.openxmlformats.org/officeDocument/2006/relationships/image" Target="/ppt/media/image3.jpg" Id="R03864041282c4232" /><Relationship Type="http://schemas.openxmlformats.org/officeDocument/2006/relationships/image" Target="/ppt/media/image4.jpg" Id="Ra473e0c9a8f34586" /><Relationship Type="http://schemas.openxmlformats.org/officeDocument/2006/relationships/slideLayout" Target="/ppt/slideLayouts/slideLayout7.xml" Id="R06583c79e09245b0" /></Relationships>
</file>

<file path=ppt/slides/_rels/slide22.xml.rels>&#65279;<?xml version="1.0" encoding="utf-8"?><Relationships xmlns="http://schemas.openxmlformats.org/package/2006/relationships"><Relationship Type="http://schemas.openxmlformats.org/officeDocument/2006/relationships/image" Target="/ppt/media/image.png" Id="R5b5901a14ebd4a95" /><Relationship Type="http://schemas.openxmlformats.org/officeDocument/2006/relationships/image" Target="/ppt/media/image5.jpg" Id="Ra43d4f49e2c54b5d" /><Relationship Type="http://schemas.openxmlformats.org/officeDocument/2006/relationships/slideLayout" Target="/ppt/slideLayouts/slideLayout7.xml" Id="R51350fd7410d467e" /></Relationships>
</file>

<file path=ppt/slides/_rels/slide23.xml.rels>&#65279;<?xml version="1.0" encoding="utf-8"?><Relationships xmlns="http://schemas.openxmlformats.org/package/2006/relationships"><Relationship Type="http://schemas.openxmlformats.org/officeDocument/2006/relationships/image" Target="/ppt/media/image.png" Id="R39a3fef919974749" /><Relationship Type="http://schemas.openxmlformats.org/officeDocument/2006/relationships/image" Target="/ppt/media/image3.jpg" Id="R6f946ae2e1214543" /><Relationship Type="http://schemas.openxmlformats.org/officeDocument/2006/relationships/image" Target="/ppt/media/image4.jpg" Id="Ra1718f5d7da0475d" /><Relationship Type="http://schemas.openxmlformats.org/officeDocument/2006/relationships/slideLayout" Target="/ppt/slideLayouts/slideLayout7.xml" Id="Re55f46c1c3704f88" /></Relationships>
</file>

<file path=ppt/slides/_rels/slide24.xml.rels>&#65279;<?xml version="1.0" encoding="utf-8"?><Relationships xmlns="http://schemas.openxmlformats.org/package/2006/relationships"><Relationship Type="http://schemas.openxmlformats.org/officeDocument/2006/relationships/image" Target="/ppt/media/image4.jpg" Id="Re6e45201710746cd" /><Relationship Type="http://schemas.openxmlformats.org/officeDocument/2006/relationships/image" Target="/ppt/media/image.png" Id="R6a286b4cdc704e2f" /><Relationship Type="http://schemas.openxmlformats.org/officeDocument/2006/relationships/slideLayout" Target="/ppt/slideLayouts/slideLayout7.xml" Id="R78c4bbf6ec2d4331" /></Relationships>
</file>

<file path=ppt/slides/_rels/slide25.xml.rels>&#65279;<?xml version="1.0" encoding="utf-8"?><Relationships xmlns="http://schemas.openxmlformats.org/package/2006/relationships"><Relationship Type="http://schemas.openxmlformats.org/officeDocument/2006/relationships/image" Target="/ppt/media/image.png" Id="Rba29e2dc40684bf8" /><Relationship Type="http://schemas.openxmlformats.org/officeDocument/2006/relationships/image" Target="/ppt/media/image5.jpg" Id="R715e1d07ea1648a7" /><Relationship Type="http://schemas.openxmlformats.org/officeDocument/2006/relationships/diagramData" Target="/ppt/graphics/data1.xml" Id="R859a7a3abfe64938" /><Relationship Type="http://schemas.openxmlformats.org/officeDocument/2006/relationships/diagramLayout" Target="/ppt/graphics/layout1.xml" Id="Rbcdefdb0311a4d48" /><Relationship Type="http://schemas.openxmlformats.org/officeDocument/2006/relationships/diagramQuickStyle" Target="/ppt/graphics/quickStyle1.xml" Id="R887b76d9196f4c8b" /><Relationship Type="http://schemas.openxmlformats.org/officeDocument/2006/relationships/diagramColors" Target="/ppt/graphics/colors1.xml" Id="R91a981d4d5f84452" /><Relationship Type="http://schemas.openxmlformats.org/officeDocument/2006/relationships/slideLayout" Target="/ppt/slideLayouts/slideLayout7.xml" Id="R02f689a01c4d4820" /></Relationships>
</file>

<file path=ppt/slides/_rels/slide26.xml.rels>&#65279;<?xml version="1.0" encoding="utf-8"?><Relationships xmlns="http://schemas.openxmlformats.org/package/2006/relationships"><Relationship Type="http://schemas.openxmlformats.org/officeDocument/2006/relationships/image" Target="/ppt/media/image.png" Id="Rb39982b01fe94216" /><Relationship Type="http://schemas.openxmlformats.org/officeDocument/2006/relationships/slideLayout" Target="/ppt/slideLayouts/slideLayout5.xml" Id="Rd694263230f74a55" /></Relationships>
</file>

<file path=ppt/slides/_rels/slide27.xml.rels>&#65279;<?xml version="1.0" encoding="utf-8"?><Relationships xmlns="http://schemas.openxmlformats.org/package/2006/relationships"><Relationship Type="http://schemas.openxmlformats.org/officeDocument/2006/relationships/image" Target="/ppt/media/image.png" Id="Racbbb17b78da4906" /><Relationship Type="http://schemas.openxmlformats.org/officeDocument/2006/relationships/slideLayout" Target="/ppt/slideLayouts/slideLayout5.xml" Id="R6e16c0e07a68404f" /></Relationships>
</file>

<file path=ppt/slides/_rels/slide28.xml.rels>&#65279;<?xml version="1.0" encoding="utf-8"?><Relationships xmlns="http://schemas.openxmlformats.org/package/2006/relationships"><Relationship Type="http://schemas.openxmlformats.org/officeDocument/2006/relationships/image" Target="/ppt/media/image.png" Id="R6df5dbd9429a4fae" /><Relationship Type="http://schemas.openxmlformats.org/officeDocument/2006/relationships/slideLayout" Target="/ppt/slideLayouts/slideLayout5.xml" Id="R92551baa9dc74891" /></Relationships>
</file>

<file path=ppt/slides/_rels/slide29.xml.rels>&#65279;<?xml version="1.0" encoding="utf-8"?><Relationships xmlns="http://schemas.openxmlformats.org/package/2006/relationships"><Relationship Type="http://schemas.openxmlformats.org/officeDocument/2006/relationships/image" Target="/ppt/media/image.png" Id="R3b59185e05e043ba" /><Relationship Type="http://schemas.openxmlformats.org/officeDocument/2006/relationships/slideLayout" Target="/ppt/slideLayouts/slideLayout5.xml" Id="R8ae25a1c344f415f" /></Relationships>
</file>

<file path=ppt/slides/_rels/slide30.xml.rels>&#65279;<?xml version="1.0" encoding="utf-8"?><Relationships xmlns="http://schemas.openxmlformats.org/package/2006/relationships"><Relationship Type="http://schemas.openxmlformats.org/officeDocument/2006/relationships/image" Target="/ppt/media/image.png" Id="R830ca17203444c8a" /><Relationship Type="http://schemas.openxmlformats.org/officeDocument/2006/relationships/slideLayout" Target="/ppt/slideLayouts/slideLayout5.xml" Id="R59ce07acd9504912" /></Relationships>
</file>

<file path=ppt/slides/_rels/slide31.xml.rels>&#65279;<?xml version="1.0" encoding="utf-8"?><Relationships xmlns="http://schemas.openxmlformats.org/package/2006/relationships"><Relationship Type="http://schemas.openxmlformats.org/officeDocument/2006/relationships/image" Target="/ppt/media/image6.jpg" Id="Redd5118032ce4d6d" /><Relationship Type="http://schemas.openxmlformats.org/officeDocument/2006/relationships/image" Target="/ppt/media/image.png" Id="R99a1b78dccbd41f3" /><Relationship Type="http://schemas.openxmlformats.org/officeDocument/2006/relationships/slideLayout" Target="/ppt/slideLayouts/slideLayout5.xml" Id="R7aa564fd1ee04886" /></Relationships>
</file>

<file path=ppt/slides/_rels/slide32.xml.rels>&#65279;<?xml version="1.0" encoding="utf-8"?><Relationships xmlns="http://schemas.openxmlformats.org/package/2006/relationships"><Relationship Type="http://schemas.openxmlformats.org/officeDocument/2006/relationships/image" Target="/ppt/media/image.png" Id="Rdc322ef4f6b245da" /><Relationship Type="http://schemas.openxmlformats.org/officeDocument/2006/relationships/slideLayout" Target="/ppt/slideLayouts/slideLayout5.xml" Id="Rc932fb8342a645f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1EC24E-A510-783F-700E-BFF4E24F14B2}"/>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0F9F712D-C95B-9748-B7CC-C4486394EDBF}"/>
              </a:ext>
            </a:extLst>
          </p:cNvPr>
          <p:cNvPicPr>
            <a:picLocks noChangeAspect="1"/>
          </p:cNvPicPr>
          <p:nvPr/>
        </p:nvPicPr>
        <p:blipFill>
          <a:blip r:embed="Ree3b4d87c66b4327">
            <a:extLst>
              <a:ext uri="{28A0092B-C50C-407E-A947-70E740481C1C}">
                <a14:useLocalDpi xmlns:a14="http://schemas.microsoft.com/office/drawing/2010/main" val="0"/>
              </a:ext>
            </a:extLst>
          </a:blip>
          <a:stretch>
            <a:fillRect/>
          </a:stretch>
        </p:blipFill>
        <p:spPr>
          <a:xfrm>
            <a:off x="10501843" y="-169606"/>
            <a:ext cx="1531849" cy="1769806"/>
          </a:xfrm>
          <a:prstGeom prst="rect">
            <a:avLst/>
          </a:prstGeom>
        </p:spPr>
      </p:pic>
      <p:sp>
        <p:nvSpPr>
          <p:cNvPr id="4" name="TextBox 3">
            <a:extLst>
              <a:ext uri="{FF2B5EF4-FFF2-40B4-BE49-F238E27FC236}">
                <a16:creationId xmlns:a16="http://schemas.microsoft.com/office/drawing/2014/main" id="{6A091713-BBD6-E976-F51D-99ADEE0E4579}"/>
              </a:ext>
            </a:extLst>
          </p:cNvPr>
          <p:cNvSpPr txBox="1"/>
          <p:nvPr/>
        </p:nvSpPr>
        <p:spPr>
          <a:xfrm>
            <a:off x="550606" y="757084"/>
            <a:ext cx="9951237" cy="4708981"/>
          </a:xfrm>
          <a:prstGeom prst="rect">
            <a:avLst/>
          </a:prstGeom>
          <a:noFill/>
        </p:spPr>
        <p:txBody>
          <a:bodyPr wrap="square" rtlCol="0">
            <a:spAutoFit/>
          </a:bodyPr>
          <a:lstStyle/>
          <a:p>
            <a:r>
              <a:rPr lang="en-IN" sz="10000" dirty="0">
                <a:latin typeface="Arial Black" panose="020B0A04020102020204" pitchFamily="34" charset="0"/>
              </a:rPr>
              <a:t>Cyber Safety And Well being </a:t>
            </a:r>
          </a:p>
        </p:txBody>
      </p:sp>
      <p:sp>
        <p:nvSpPr>
          <p:cNvPr id="5" name="TextBox 4">
            <a:extLst>
              <a:ext uri="{FF2B5EF4-FFF2-40B4-BE49-F238E27FC236}">
                <a16:creationId xmlns:a16="http://schemas.microsoft.com/office/drawing/2014/main" id="{6238D855-8B44-74F1-B048-674183825093}"/>
              </a:ext>
            </a:extLst>
          </p:cNvPr>
          <p:cNvSpPr txBox="1"/>
          <p:nvPr/>
        </p:nvSpPr>
        <p:spPr>
          <a:xfrm>
            <a:off x="550606" y="5389889"/>
            <a:ext cx="6449962" cy="369332"/>
          </a:xfrm>
          <a:prstGeom prst="rect">
            <a:avLst/>
          </a:prstGeom>
          <a:noFill/>
        </p:spPr>
        <p:txBody>
          <a:bodyPr wrap="square" rtlCol="0">
            <a:spAutoFit/>
          </a:bodyPr>
          <a:lstStyle/>
          <a:p>
            <a:r>
              <a:rPr lang="en-IN" dirty="0"/>
              <a:t>2</a:t>
            </a:r>
            <a:r>
              <a:rPr lang="en-IN" baseline="30000" dirty="0"/>
              <a:t>nd</a:t>
            </a:r>
            <a:r>
              <a:rPr lang="en-IN" dirty="0"/>
              <a:t> Master Class – Activity list </a:t>
            </a:r>
          </a:p>
        </p:txBody>
      </p:sp>
    </p:spTree>
    <p:extLst>
      <p:ext uri="{BB962C8B-B14F-4D97-AF65-F5344CB8AC3E}">
        <p14:creationId xmlns:p14="http://schemas.microsoft.com/office/powerpoint/2010/main" val="38670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0624E-A311-13BE-59A9-79AEA560BA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5734CA5-0471-0E4F-79C6-53A8D37A59E0}"/>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D383378C-C40D-7A15-80C2-23BFCF79EF7B}"/>
              </a:ext>
            </a:extLst>
          </p:cNvPr>
          <p:cNvPicPr>
            <a:picLocks noChangeAspect="1"/>
          </p:cNvPicPr>
          <p:nvPr/>
        </p:nvPicPr>
        <p:blipFill>
          <a:blip r:embed="Rd3788355dc9747a5">
            <a:extLst>
              <a:ext uri="{28A0092B-C50C-407E-A947-70E740481C1C}">
                <a14:useLocalDpi xmlns:a14="http://schemas.microsoft.com/office/drawing/2010/main" val="0"/>
              </a:ext>
            </a:extLst>
          </a:blip>
          <a:stretch>
            <a:fillRect/>
          </a:stretch>
        </p:blipFill>
        <p:spPr>
          <a:xfrm>
            <a:off x="10501843" y="-169606"/>
            <a:ext cx="1531849" cy="1769806"/>
          </a:xfrm>
          <a:prstGeom prst="rect">
            <a:avLst/>
          </a:prstGeom>
        </p:spPr>
      </p:pic>
      <p:sp>
        <p:nvSpPr>
          <p:cNvPr id="7" name="Freeform: Shape 6">
            <a:extLst>
              <a:ext uri="{FF2B5EF4-FFF2-40B4-BE49-F238E27FC236}">
                <a16:creationId xmlns:a16="http://schemas.microsoft.com/office/drawing/2014/main" id="{572F4FD9-E92A-3BF4-C8DF-F053693E8DFE}"/>
              </a:ext>
            </a:extLst>
          </p:cNvPr>
          <p:cNvSpPr/>
          <p:nvPr/>
        </p:nvSpPr>
        <p:spPr>
          <a:xfrm>
            <a:off x="442452" y="344129"/>
            <a:ext cx="11484077" cy="6194323"/>
          </a:xfrm>
          <a:custGeom>
            <a:avLst/>
            <a:gdLst>
              <a:gd name="connsiteX0" fmla="*/ 0 w 11484077"/>
              <a:gd name="connsiteY0" fmla="*/ 0 h 6194323"/>
              <a:gd name="connsiteX1" fmla="*/ 9802761 w 11484077"/>
              <a:gd name="connsiteY1" fmla="*/ 0 h 6194323"/>
              <a:gd name="connsiteX2" fmla="*/ 9802761 w 11484077"/>
              <a:gd name="connsiteY2" fmla="*/ 1061884 h 6194323"/>
              <a:gd name="connsiteX3" fmla="*/ 11484077 w 11484077"/>
              <a:gd name="connsiteY3" fmla="*/ 1061884 h 6194323"/>
              <a:gd name="connsiteX4" fmla="*/ 11484077 w 11484077"/>
              <a:gd name="connsiteY4" fmla="*/ 6194323 h 6194323"/>
              <a:gd name="connsiteX5" fmla="*/ 9802761 w 11484077"/>
              <a:gd name="connsiteY5" fmla="*/ 6194323 h 6194323"/>
              <a:gd name="connsiteX6" fmla="*/ 0 w 11484077"/>
              <a:gd name="connsiteY6" fmla="*/ 6194323 h 619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84077" h="6194323">
                <a:moveTo>
                  <a:pt x="0" y="0"/>
                </a:moveTo>
                <a:lnTo>
                  <a:pt x="9802761" y="0"/>
                </a:lnTo>
                <a:lnTo>
                  <a:pt x="9802761" y="1061884"/>
                </a:lnTo>
                <a:lnTo>
                  <a:pt x="11484077" y="1061884"/>
                </a:lnTo>
                <a:lnTo>
                  <a:pt x="11484077" y="6194323"/>
                </a:lnTo>
                <a:lnTo>
                  <a:pt x="9802761" y="6194323"/>
                </a:lnTo>
                <a:lnTo>
                  <a:pt x="0" y="6194323"/>
                </a:lnTo>
                <a:close/>
              </a:path>
            </a:pathLst>
          </a:cu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5" name="TextBox 4">
            <a:extLst>
              <a:ext uri="{FF2B5EF4-FFF2-40B4-BE49-F238E27FC236}">
                <a16:creationId xmlns:a16="http://schemas.microsoft.com/office/drawing/2014/main" id="{BFBB5091-7F70-2DA2-0C59-CABA34079A17}"/>
              </a:ext>
            </a:extLst>
          </p:cNvPr>
          <p:cNvSpPr txBox="1"/>
          <p:nvPr/>
        </p:nvSpPr>
        <p:spPr>
          <a:xfrm>
            <a:off x="678426" y="658761"/>
            <a:ext cx="9016180" cy="5724644"/>
          </a:xfrm>
          <a:prstGeom prst="rect">
            <a:avLst/>
          </a:prstGeom>
          <a:noFill/>
        </p:spPr>
        <p:txBody>
          <a:bodyPr wrap="square" rtlCol="0">
            <a:spAutoFit/>
          </a:bodyPr>
          <a:lstStyle/>
          <a:p>
            <a:r>
              <a:rPr lang="en-IN" sz="2400" b="1" dirty="0">
                <a:solidFill>
                  <a:schemeClr val="bg1"/>
                </a:solidFill>
                <a:latin typeface="Arial Black" panose="020B0A04020102020204" pitchFamily="34" charset="0"/>
              </a:rPr>
              <a:t>ACTIVITY 1-  Digital Superhero </a:t>
            </a:r>
          </a:p>
          <a:p>
            <a:endParaRPr lang="en-IN" dirty="0">
              <a:solidFill>
                <a:schemeClr val="bg1"/>
              </a:solidFill>
            </a:endParaRPr>
          </a:p>
          <a:p>
            <a:endParaRPr lang="en-IN" dirty="0">
              <a:solidFill>
                <a:schemeClr val="bg1"/>
              </a:solidFill>
            </a:endParaRPr>
          </a:p>
          <a:p>
            <a:r>
              <a:rPr lang="en-IN" dirty="0">
                <a:solidFill>
                  <a:schemeClr val="bg1"/>
                </a:solidFill>
                <a:latin typeface="Bahnschrift SemiLight SemiConde" panose="020B0502040204020203" pitchFamily="34" charset="0"/>
              </a:rPr>
              <a:t>Description : </a:t>
            </a:r>
          </a:p>
          <a:p>
            <a:r>
              <a:rPr lang="en-US" dirty="0">
                <a:solidFill>
                  <a:schemeClr val="bg1"/>
                </a:solidFill>
                <a:latin typeface="Bahnschrift SemiLight SemiConde" panose="020B0502040204020203" pitchFamily="34" charset="0"/>
              </a:rPr>
              <a:t>A fun, imaginative, and hands-on activity where students create a superhero who protects the internet and promotes cyber safety and well-being. Each student gets to invent a character who battles online threats like cyberbullying, fake news, screen addiction, and more. Interns draw their superhero, give them a name, superpowers, a mission, and even a backstory. They then present their heroes to the class and display them in a “Cyber Hero Gallery.” The activity encourages storytelling, creativity, and empathy — while reinforcing important lessons about responsible online behavior.</a:t>
            </a:r>
            <a:r>
              <a:rPr lang="en-IN" dirty="0">
                <a:solidFill>
                  <a:schemeClr val="bg1"/>
                </a:solidFill>
                <a:latin typeface="Bahnschrift SemiLight SemiConde" panose="020B0502040204020203" pitchFamily="34" charset="0"/>
              </a:rPr>
              <a:t> </a:t>
            </a:r>
          </a:p>
          <a:p>
            <a:endParaRPr lang="en-IN" dirty="0">
              <a:solidFill>
                <a:schemeClr val="bg1"/>
              </a:solidFill>
              <a:latin typeface="Bahnschrift SemiLight SemiConde" panose="020B0502040204020203" pitchFamily="34" charset="0"/>
            </a:endParaRPr>
          </a:p>
          <a:p>
            <a:endParaRPr lang="en-IN" dirty="0">
              <a:solidFill>
                <a:schemeClr val="bg1"/>
              </a:solidFill>
              <a:latin typeface="Bahnschrift SemiLight SemiConde" panose="020B0502040204020203" pitchFamily="34" charset="0"/>
            </a:endParaRPr>
          </a:p>
          <a:p>
            <a:endParaRPr lang="en-IN" dirty="0">
              <a:solidFill>
                <a:schemeClr val="bg1"/>
              </a:solidFill>
              <a:latin typeface="Bahnschrift SemiLight SemiConde" panose="020B0502040204020203" pitchFamily="34" charset="0"/>
            </a:endParaRPr>
          </a:p>
          <a:p>
            <a:r>
              <a:rPr lang="en-US" dirty="0">
                <a:solidFill>
                  <a:schemeClr val="bg1"/>
                </a:solidFill>
                <a:latin typeface="Bahnschrift SemiLight SemiConde" panose="020B0502040204020203" pitchFamily="34" charset="0"/>
              </a:rPr>
              <a:t>Learning Outcomes:</a:t>
            </a:r>
          </a:p>
          <a:p>
            <a:r>
              <a:rPr lang="en-US" dirty="0">
                <a:solidFill>
                  <a:schemeClr val="bg1"/>
                </a:solidFill>
                <a:latin typeface="Bahnschrift SemiLight SemiConde" panose="020B0502040204020203" pitchFamily="34" charset="0"/>
              </a:rPr>
              <a:t>By the end of this activity, intern will  understand key digital risks such as cyberbullying, misinformation, and screen over use. Demonstrate creative thinking and empathy in designing a hero to combat those risks. Recognize traits of a responsible digital citizen and how to model positive online </a:t>
            </a:r>
            <a:r>
              <a:rPr lang="en-US" dirty="0" err="1">
                <a:solidFill>
                  <a:schemeClr val="bg1"/>
                </a:solidFill>
                <a:latin typeface="Bahnschrift SemiLight SemiConde" panose="020B0502040204020203" pitchFamily="34" charset="0"/>
              </a:rPr>
              <a:t>behaviour</a:t>
            </a:r>
            <a:r>
              <a:rPr lang="en-US" dirty="0">
                <a:solidFill>
                  <a:schemeClr val="bg1"/>
                </a:solidFill>
                <a:latin typeface="Bahnschrift SemiLight SemiConde" panose="020B0502040204020203" pitchFamily="34" charset="0"/>
              </a:rPr>
              <a:t>. Practice communication and presentation skills in a fun, peer-supported environment.</a:t>
            </a:r>
            <a:endParaRPr lang="en-IN" dirty="0">
              <a:solidFill>
                <a:schemeClr val="bg1"/>
              </a:solidFill>
              <a:latin typeface="Bahnschrift SemiLight SemiConde" panose="020B0502040204020203" pitchFamily="34" charset="0"/>
            </a:endParaRPr>
          </a:p>
        </p:txBody>
      </p:sp>
    </p:spTree>
    <p:extLst>
      <p:ext uri="{BB962C8B-B14F-4D97-AF65-F5344CB8AC3E}">
        <p14:creationId xmlns:p14="http://schemas.microsoft.com/office/powerpoint/2010/main" val="2849741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9B4FB-76DF-EF67-ACEC-FEE277B4900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8073499-81A2-A581-79C6-19040CCA9837}"/>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23866F96-4427-F5A3-F481-29C469C08B3F}"/>
              </a:ext>
            </a:extLst>
          </p:cNvPr>
          <p:cNvPicPr>
            <a:picLocks noChangeAspect="1"/>
          </p:cNvPicPr>
          <p:nvPr/>
        </p:nvPicPr>
        <p:blipFill>
          <a:blip r:embed="R3b3c273f883a4eb7">
            <a:extLst>
              <a:ext uri="{28A0092B-C50C-407E-A947-70E740481C1C}">
                <a14:useLocalDpi xmlns:a14="http://schemas.microsoft.com/office/drawing/2010/main" val="0"/>
              </a:ext>
            </a:extLst>
          </a:blip>
          <a:stretch>
            <a:fillRect/>
          </a:stretch>
        </p:blipFill>
        <p:spPr>
          <a:xfrm>
            <a:off x="10501843" y="-169606"/>
            <a:ext cx="1531849" cy="1769806"/>
          </a:xfrm>
          <a:prstGeom prst="rect">
            <a:avLst/>
          </a:prstGeom>
        </p:spPr>
      </p:pic>
      <p:sp>
        <p:nvSpPr>
          <p:cNvPr id="6" name="Freeform: Shape 5">
            <a:extLst>
              <a:ext uri="{FF2B5EF4-FFF2-40B4-BE49-F238E27FC236}">
                <a16:creationId xmlns:a16="http://schemas.microsoft.com/office/drawing/2014/main" id="{738DD4B3-A638-1BC3-E1AD-0DA4ADD7A697}"/>
              </a:ext>
            </a:extLst>
          </p:cNvPr>
          <p:cNvSpPr/>
          <p:nvPr/>
        </p:nvSpPr>
        <p:spPr>
          <a:xfrm>
            <a:off x="403123" y="514637"/>
            <a:ext cx="11630569" cy="5968181"/>
          </a:xfrm>
          <a:custGeom>
            <a:avLst/>
            <a:gdLst>
              <a:gd name="connsiteX0" fmla="*/ 0 w 11630569"/>
              <a:gd name="connsiteY0" fmla="*/ 0 h 5968181"/>
              <a:gd name="connsiteX1" fmla="*/ 9940412 w 11630569"/>
              <a:gd name="connsiteY1" fmla="*/ 0 h 5968181"/>
              <a:gd name="connsiteX2" fmla="*/ 9940412 w 11630569"/>
              <a:gd name="connsiteY2" fmla="*/ 934065 h 5968181"/>
              <a:gd name="connsiteX3" fmla="*/ 11630569 w 11630569"/>
              <a:gd name="connsiteY3" fmla="*/ 934065 h 5968181"/>
              <a:gd name="connsiteX4" fmla="*/ 11630569 w 11630569"/>
              <a:gd name="connsiteY4" fmla="*/ 5968181 h 5968181"/>
              <a:gd name="connsiteX5" fmla="*/ 9940412 w 11630569"/>
              <a:gd name="connsiteY5" fmla="*/ 5968181 h 5968181"/>
              <a:gd name="connsiteX6" fmla="*/ 0 w 11630569"/>
              <a:gd name="connsiteY6" fmla="*/ 5968181 h 59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0569" h="5968181">
                <a:moveTo>
                  <a:pt x="0" y="0"/>
                </a:moveTo>
                <a:lnTo>
                  <a:pt x="9940412" y="0"/>
                </a:lnTo>
                <a:lnTo>
                  <a:pt x="9940412" y="934065"/>
                </a:lnTo>
                <a:lnTo>
                  <a:pt x="11630569" y="934065"/>
                </a:lnTo>
                <a:lnTo>
                  <a:pt x="11630569" y="5968181"/>
                </a:lnTo>
                <a:lnTo>
                  <a:pt x="9940412" y="5968181"/>
                </a:lnTo>
                <a:lnTo>
                  <a:pt x="0" y="5968181"/>
                </a:lnTo>
                <a:close/>
              </a:path>
            </a:pathLst>
          </a:cu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 name="TextBox 6">
            <a:extLst>
              <a:ext uri="{FF2B5EF4-FFF2-40B4-BE49-F238E27FC236}">
                <a16:creationId xmlns:a16="http://schemas.microsoft.com/office/drawing/2014/main" id="{FEAFDBA2-5ACF-B2A4-D85D-CC25061FD10F}"/>
              </a:ext>
            </a:extLst>
          </p:cNvPr>
          <p:cNvSpPr txBox="1"/>
          <p:nvPr/>
        </p:nvSpPr>
        <p:spPr>
          <a:xfrm>
            <a:off x="609599" y="769469"/>
            <a:ext cx="1927124" cy="1015663"/>
          </a:xfrm>
          <a:prstGeom prst="rect">
            <a:avLst/>
          </a:prstGeom>
          <a:noFill/>
        </p:spPr>
        <p:txBody>
          <a:bodyPr wrap="square" rtlCol="0">
            <a:spAutoFit/>
          </a:bodyPr>
          <a:lstStyle/>
          <a:p>
            <a:r>
              <a:rPr lang="en-IN" sz="2400" b="1" dirty="0">
                <a:solidFill>
                  <a:schemeClr val="bg1"/>
                </a:solidFill>
                <a:latin typeface="Arial Black" panose="020B0A04020102020204" pitchFamily="34" charset="0"/>
              </a:rPr>
              <a:t>Guideline</a:t>
            </a:r>
            <a:r>
              <a:rPr lang="en-IN" dirty="0">
                <a:solidFill>
                  <a:schemeClr val="bg1"/>
                </a:solidFill>
                <a:latin typeface="Arial Black" panose="020B0A04020102020204" pitchFamily="34" charset="0"/>
              </a:rPr>
              <a:t> </a:t>
            </a:r>
          </a:p>
          <a:p>
            <a:endParaRPr lang="en-IN" dirty="0">
              <a:solidFill>
                <a:schemeClr val="bg1"/>
              </a:solidFill>
              <a:latin typeface="Arial Black" panose="020B0A04020102020204" pitchFamily="34" charset="0"/>
            </a:endParaRPr>
          </a:p>
          <a:p>
            <a:endParaRPr lang="en-IN" dirty="0">
              <a:solidFill>
                <a:schemeClr val="bg1"/>
              </a:solidFill>
              <a:latin typeface="Arial Black" panose="020B0A04020102020204" pitchFamily="34" charset="0"/>
            </a:endParaRPr>
          </a:p>
        </p:txBody>
      </p:sp>
      <p:sp>
        <p:nvSpPr>
          <p:cNvPr id="14" name="Rectangle 7">
            <a:extLst>
              <a:ext uri="{FF2B5EF4-FFF2-40B4-BE49-F238E27FC236}">
                <a16:creationId xmlns:a16="http://schemas.microsoft.com/office/drawing/2014/main" id="{9B70DCE5-BEC1-8117-FC06-E6FDB4B8729E}"/>
              </a:ext>
            </a:extLst>
          </p:cNvPr>
          <p:cNvSpPr>
            <a:spLocks noChangeArrowheads="1"/>
          </p:cNvSpPr>
          <p:nvPr/>
        </p:nvSpPr>
        <p:spPr bwMode="auto">
          <a:xfrm>
            <a:off x="609599" y="1287217"/>
            <a:ext cx="10424649"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Introduce the concept of a Digital Superhero who protects the online world.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Ask students to think about online dangers and how a superhero might fight them.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Provide drawing materials or allow students to use a drawing app.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Ask students 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Draw their superhero.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Name their superhero.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Complete a superhero profile with:</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Origin story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Powers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Mission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Weakness (optional)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Have students present their superhero to the class or in small groups.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Create a display space titled “Cyber Hero Gallery” and post all superhero drawings and profiles.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Allow students to view and appreciate each other’s 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Optional: Let students vote for fun categories like “Most Creative Power” or “Best Mission.”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Optional: In pairs, students create a short comic strip where their superheroes team up to defeat an online villain.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Bahnschrift SemiLight SemiConde" panose="020B0502040204020203" pitchFamily="34" charset="0"/>
              </a:rPr>
              <a:t>End with a short reflection or group discussion on what they learned about </a:t>
            </a: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being </a:t>
            </a:r>
            <a:r>
              <a:rPr kumimoji="0" lang="en-US" altLang="en-US" sz="1800" b="0" i="0" u="none" strike="noStrike" cap="none" normalizeH="0" baseline="0" dirty="0">
                <a:ln>
                  <a:noFill/>
                </a:ln>
                <a:solidFill>
                  <a:schemeClr val="tx1"/>
                </a:solidFill>
                <a:effectLst/>
                <a:latin typeface="Arial" panose="020B0604020202020204" pitchFamily="34" charset="0"/>
              </a:rPr>
              <a:t>safe and kind online.</a:t>
            </a:r>
          </a:p>
        </p:txBody>
      </p:sp>
    </p:spTree>
    <p:extLst>
      <p:ext uri="{BB962C8B-B14F-4D97-AF65-F5344CB8AC3E}">
        <p14:creationId xmlns:p14="http://schemas.microsoft.com/office/powerpoint/2010/main" val="775689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54AB1-0B86-E21C-C6A2-9985E790CD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E196CF-A5D7-4B68-3B4F-24816D22A27D}"/>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81F34DB9-D1A5-C5A6-7754-DBE282B2FD01}"/>
              </a:ext>
            </a:extLst>
          </p:cNvPr>
          <p:cNvPicPr>
            <a:picLocks noChangeAspect="1"/>
          </p:cNvPicPr>
          <p:nvPr/>
        </p:nvPicPr>
        <p:blipFill>
          <a:blip r:embed="R8c27fec4610b4358">
            <a:extLst>
              <a:ext uri="{28A0092B-C50C-407E-A947-70E740481C1C}">
                <a14:useLocalDpi xmlns:a14="http://schemas.microsoft.com/office/drawing/2010/main" val="0"/>
              </a:ext>
            </a:extLst>
          </a:blip>
          <a:stretch>
            <a:fillRect/>
          </a:stretch>
        </p:blipFill>
        <p:spPr>
          <a:xfrm>
            <a:off x="10501843" y="-169606"/>
            <a:ext cx="1531849" cy="1769806"/>
          </a:xfrm>
          <a:prstGeom prst="rect">
            <a:avLst/>
          </a:prstGeom>
        </p:spPr>
      </p:pic>
      <p:sp>
        <p:nvSpPr>
          <p:cNvPr id="6" name="Freeform: Shape 5">
            <a:extLst>
              <a:ext uri="{FF2B5EF4-FFF2-40B4-BE49-F238E27FC236}">
                <a16:creationId xmlns:a16="http://schemas.microsoft.com/office/drawing/2014/main" id="{817D85A3-A010-790E-838C-DE62A868304A}"/>
              </a:ext>
            </a:extLst>
          </p:cNvPr>
          <p:cNvSpPr/>
          <p:nvPr/>
        </p:nvSpPr>
        <p:spPr>
          <a:xfrm>
            <a:off x="216805" y="275303"/>
            <a:ext cx="11758389" cy="6282813"/>
          </a:xfrm>
          <a:custGeom>
            <a:avLst/>
            <a:gdLst>
              <a:gd name="connsiteX0" fmla="*/ 0 w 11758389"/>
              <a:gd name="connsiteY0" fmla="*/ 0 h 6282813"/>
              <a:gd name="connsiteX1" fmla="*/ 10226540 w 11758389"/>
              <a:gd name="connsiteY1" fmla="*/ 0 h 6282813"/>
              <a:gd name="connsiteX2" fmla="*/ 10226540 w 11758389"/>
              <a:gd name="connsiteY2" fmla="*/ 1229032 h 6282813"/>
              <a:gd name="connsiteX3" fmla="*/ 11758389 w 11758389"/>
              <a:gd name="connsiteY3" fmla="*/ 1229032 h 6282813"/>
              <a:gd name="connsiteX4" fmla="*/ 11758389 w 11758389"/>
              <a:gd name="connsiteY4" fmla="*/ 6282813 h 6282813"/>
              <a:gd name="connsiteX5" fmla="*/ 10226540 w 11758389"/>
              <a:gd name="connsiteY5" fmla="*/ 6282813 h 6282813"/>
              <a:gd name="connsiteX6" fmla="*/ 0 w 11758389"/>
              <a:gd name="connsiteY6" fmla="*/ 6282813 h 628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8389" h="6282813">
                <a:moveTo>
                  <a:pt x="0" y="0"/>
                </a:moveTo>
                <a:lnTo>
                  <a:pt x="10226540" y="0"/>
                </a:lnTo>
                <a:lnTo>
                  <a:pt x="10226540" y="1229032"/>
                </a:lnTo>
                <a:lnTo>
                  <a:pt x="11758389" y="1229032"/>
                </a:lnTo>
                <a:lnTo>
                  <a:pt x="11758389" y="6282813"/>
                </a:lnTo>
                <a:lnTo>
                  <a:pt x="10226540" y="6282813"/>
                </a:lnTo>
                <a:lnTo>
                  <a:pt x="0" y="6282813"/>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 name="TextBox 6">
            <a:extLst>
              <a:ext uri="{FF2B5EF4-FFF2-40B4-BE49-F238E27FC236}">
                <a16:creationId xmlns:a16="http://schemas.microsoft.com/office/drawing/2014/main" id="{9A8141B3-832F-3835-C443-A93651195B83}"/>
              </a:ext>
            </a:extLst>
          </p:cNvPr>
          <p:cNvSpPr txBox="1"/>
          <p:nvPr/>
        </p:nvSpPr>
        <p:spPr>
          <a:xfrm>
            <a:off x="339957" y="421859"/>
            <a:ext cx="10038735" cy="5539978"/>
          </a:xfrm>
          <a:prstGeom prst="rect">
            <a:avLst/>
          </a:prstGeom>
          <a:noFill/>
        </p:spPr>
        <p:txBody>
          <a:bodyPr wrap="square" rtlCol="0">
            <a:spAutoFit/>
          </a:bodyPr>
          <a:lstStyle/>
          <a:p>
            <a:r>
              <a:rPr lang="en-IN" sz="2800" b="1" dirty="0">
                <a:latin typeface="Arial Black" panose="020B0A04020102020204" pitchFamily="34" charset="0"/>
              </a:rPr>
              <a:t>ACTIVITY 2 - </a:t>
            </a:r>
            <a:r>
              <a:rPr lang="en-US" sz="2800" b="1" dirty="0">
                <a:latin typeface="Arial Black" panose="020B0A04020102020204" pitchFamily="34" charset="0"/>
              </a:rPr>
              <a:t>Inside Out of the Internet</a:t>
            </a:r>
          </a:p>
          <a:p>
            <a:endParaRPr lang="en-US" sz="2400" b="1" dirty="0"/>
          </a:p>
          <a:p>
            <a:r>
              <a:rPr lang="en-US" sz="2000" b="1" dirty="0">
                <a:latin typeface="Bahnschrift SemiLight SemiConde" panose="020B0502040204020203" pitchFamily="34" charset="0"/>
              </a:rPr>
              <a:t>Description:</a:t>
            </a:r>
          </a:p>
          <a:p>
            <a:pPr>
              <a:buNone/>
            </a:pPr>
            <a:r>
              <a:rPr lang="en-US" sz="2000" dirty="0">
                <a:latin typeface="Bahnschrift SemiLight SemiConde" panose="020B0502040204020203" pitchFamily="34" charset="0"/>
              </a:rPr>
              <a:t>a lively, movement-based activity where students respond to common online experiences by moving to one of five emoji zones that represent different emotions. This engaging format helps interns reflect on how digital interactions impact their feelings, encourages open discussion about screen time and online behavior, and promotes positive coping strategies for cyber stress.</a:t>
            </a:r>
          </a:p>
          <a:p>
            <a:r>
              <a:rPr lang="en-US" sz="2000" dirty="0">
                <a:latin typeface="Bahnschrift SemiLight SemiConde" panose="020B0502040204020203" pitchFamily="34" charset="0"/>
              </a:rPr>
              <a:t>The activity transforms everyday online scenarios into emotional learning moments, using emojis as tools for expression, empathy, and communication.</a:t>
            </a:r>
          </a:p>
          <a:p>
            <a:endParaRPr lang="en-US" sz="2000" dirty="0">
              <a:latin typeface="Bahnschrift SemiLight SemiConde" panose="020B0502040204020203" pitchFamily="34" charset="0"/>
            </a:endParaRPr>
          </a:p>
          <a:p>
            <a:r>
              <a:rPr lang="en-US" sz="2000" dirty="0">
                <a:latin typeface="Bahnschrift SemiLight SemiConde" panose="020B0502040204020203" pitchFamily="34" charset="0"/>
              </a:rPr>
              <a:t>Learning outcomes </a:t>
            </a:r>
          </a:p>
          <a:p>
            <a:r>
              <a:rPr lang="en-US" sz="2000" dirty="0">
                <a:latin typeface="Bahnschrift SemiLight SemiConde" panose="020B0502040204020203" pitchFamily="34" charset="0"/>
              </a:rPr>
              <a:t>Identify and express emotional responses to online situations.</a:t>
            </a:r>
          </a:p>
          <a:p>
            <a:r>
              <a:rPr lang="en-US" sz="2000" dirty="0">
                <a:latin typeface="Bahnschrift SemiLight SemiConde" panose="020B0502040204020203" pitchFamily="34" charset="0"/>
              </a:rPr>
              <a:t>Develop emotional awareness about screen time and digital interactions.</a:t>
            </a:r>
          </a:p>
          <a:p>
            <a:r>
              <a:rPr lang="en-US" sz="2000" dirty="0">
                <a:latin typeface="Bahnschrift SemiLight SemiConde" panose="020B0502040204020203" pitchFamily="34" charset="0"/>
              </a:rPr>
              <a:t>Learn and share healthy coping strategies for digital stress or negative experiences.</a:t>
            </a:r>
          </a:p>
          <a:p>
            <a:r>
              <a:rPr lang="en-US" sz="2000" dirty="0">
                <a:latin typeface="Bahnschrift SemiLight SemiConde" panose="020B0502040204020203" pitchFamily="34" charset="0"/>
              </a:rPr>
              <a:t>Build empathy and peer connection through shared reflection.</a:t>
            </a:r>
          </a:p>
          <a:p>
            <a:endParaRPr lang="en-US" dirty="0"/>
          </a:p>
          <a:p>
            <a:endParaRPr lang="en-IN" sz="2400" b="1" dirty="0"/>
          </a:p>
        </p:txBody>
      </p:sp>
    </p:spTree>
    <p:extLst>
      <p:ext uri="{BB962C8B-B14F-4D97-AF65-F5344CB8AC3E}">
        <p14:creationId xmlns:p14="http://schemas.microsoft.com/office/powerpoint/2010/main" val="1554547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003B3-83DE-EF46-09FF-ED8BE59791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9275941-4FFF-82CC-E8C1-EA6A12637638}"/>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F45D26EC-D785-1D22-E88E-1EE0C47DC039}"/>
              </a:ext>
            </a:extLst>
          </p:cNvPr>
          <p:cNvPicPr>
            <a:picLocks noChangeAspect="1"/>
          </p:cNvPicPr>
          <p:nvPr/>
        </p:nvPicPr>
        <p:blipFill>
          <a:blip r:embed="R0dc05be9b7a44785">
            <a:extLst>
              <a:ext uri="{28A0092B-C50C-407E-A947-70E740481C1C}">
                <a14:useLocalDpi xmlns:a14="http://schemas.microsoft.com/office/drawing/2010/main" val="0"/>
              </a:ext>
            </a:extLst>
          </a:blip>
          <a:stretch>
            <a:fillRect/>
          </a:stretch>
        </p:blipFill>
        <p:spPr>
          <a:xfrm>
            <a:off x="10501843" y="-169606"/>
            <a:ext cx="1531849" cy="1769806"/>
          </a:xfrm>
          <a:prstGeom prst="rect">
            <a:avLst/>
          </a:prstGeom>
        </p:spPr>
      </p:pic>
      <p:sp>
        <p:nvSpPr>
          <p:cNvPr id="4" name="Freeform: Shape 3">
            <a:extLst>
              <a:ext uri="{FF2B5EF4-FFF2-40B4-BE49-F238E27FC236}">
                <a16:creationId xmlns:a16="http://schemas.microsoft.com/office/drawing/2014/main" id="{D9959432-9D57-CE79-18BE-F4CF34536D29}"/>
              </a:ext>
            </a:extLst>
          </p:cNvPr>
          <p:cNvSpPr/>
          <p:nvPr/>
        </p:nvSpPr>
        <p:spPr>
          <a:xfrm>
            <a:off x="275303" y="275302"/>
            <a:ext cx="11758389" cy="6282813"/>
          </a:xfrm>
          <a:custGeom>
            <a:avLst/>
            <a:gdLst>
              <a:gd name="connsiteX0" fmla="*/ 0 w 11758389"/>
              <a:gd name="connsiteY0" fmla="*/ 0 h 6282813"/>
              <a:gd name="connsiteX1" fmla="*/ 10226540 w 11758389"/>
              <a:gd name="connsiteY1" fmla="*/ 0 h 6282813"/>
              <a:gd name="connsiteX2" fmla="*/ 10226540 w 11758389"/>
              <a:gd name="connsiteY2" fmla="*/ 1229032 h 6282813"/>
              <a:gd name="connsiteX3" fmla="*/ 11758389 w 11758389"/>
              <a:gd name="connsiteY3" fmla="*/ 1229032 h 6282813"/>
              <a:gd name="connsiteX4" fmla="*/ 11758389 w 11758389"/>
              <a:gd name="connsiteY4" fmla="*/ 6282813 h 6282813"/>
              <a:gd name="connsiteX5" fmla="*/ 10226540 w 11758389"/>
              <a:gd name="connsiteY5" fmla="*/ 6282813 h 6282813"/>
              <a:gd name="connsiteX6" fmla="*/ 0 w 11758389"/>
              <a:gd name="connsiteY6" fmla="*/ 6282813 h 628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8389" h="6282813">
                <a:moveTo>
                  <a:pt x="0" y="0"/>
                </a:moveTo>
                <a:lnTo>
                  <a:pt x="10226540" y="0"/>
                </a:lnTo>
                <a:lnTo>
                  <a:pt x="10226540" y="1229032"/>
                </a:lnTo>
                <a:lnTo>
                  <a:pt x="11758389" y="1229032"/>
                </a:lnTo>
                <a:lnTo>
                  <a:pt x="11758389" y="6282813"/>
                </a:lnTo>
                <a:lnTo>
                  <a:pt x="10226540" y="6282813"/>
                </a:lnTo>
                <a:lnTo>
                  <a:pt x="0" y="6282813"/>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Black" panose="020B0A04020102020204" pitchFamily="34" charset="0"/>
              </a:rPr>
              <a:t>Guideline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Black" panose="020B0A040201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Set up 5 large emoji posters in different corners or areas of the room:</a:t>
            </a:r>
            <a:br>
              <a:rPr kumimoji="0" lang="en-US" altLang="en-US" sz="1800" b="0" i="0" u="none" strike="noStrike" cap="none" normalizeH="0" baseline="0" dirty="0">
                <a:ln>
                  <a:noFill/>
                </a:ln>
                <a:solidFill>
                  <a:schemeClr val="tx1"/>
                </a:solidFill>
                <a:effectLst/>
                <a:latin typeface="Bahnschrift SemiLight SemiConde" panose="020B0502040204020203" pitchFamily="34" charset="0"/>
              </a:rPr>
            </a:b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 (Happy), 😐 (Neutral), 😞 (Sad), 😡 (Angry), 😱 (Scared/Shocked)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Gather the students in the center of the room.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Read aloud one </a:t>
            </a:r>
            <a:r>
              <a:rPr kumimoji="0" lang="en-US" altLang="en-US" sz="1800" b="0" i="1" u="none" strike="noStrike" cap="none" normalizeH="0" baseline="0" dirty="0">
                <a:ln>
                  <a:noFill/>
                </a:ln>
                <a:solidFill>
                  <a:schemeClr val="tx1"/>
                </a:solidFill>
                <a:effectLst/>
                <a:latin typeface="Bahnschrift SemiLight SemiConde" panose="020B0502040204020203" pitchFamily="34" charset="0"/>
              </a:rPr>
              <a:t>Scenario Card</a:t>
            </a: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 at a time (e.g., “You received 100 likes on your photo,” or “Someone left a mean comment on your post”).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After each scenario, ask students to move to the emoji zone that best matches how they would feel in that situation.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Once everyone has chosen a zone, allow brief sharing from each zone — a few students can explain </a:t>
            </a:r>
            <a:r>
              <a:rPr kumimoji="0" lang="en-US" altLang="en-US" sz="1800" b="0" i="1" u="none" strike="noStrike" cap="none" normalizeH="0" baseline="0" dirty="0">
                <a:ln>
                  <a:noFill/>
                </a:ln>
                <a:solidFill>
                  <a:schemeClr val="tx1"/>
                </a:solidFill>
                <a:effectLst/>
                <a:latin typeface="Bahnschrift SemiLight SemiConde" panose="020B0502040204020203" pitchFamily="34" charset="0"/>
              </a:rPr>
              <a:t>why</a:t>
            </a: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 they chose that feeling.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Repeat with 8–10 different scenarios, changing the pace with optional music or a bell between rounds.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After the last scenario, hand out </a:t>
            </a:r>
            <a:r>
              <a:rPr kumimoji="0" lang="en-US" altLang="en-US" sz="1800" b="0" i="1" u="none" strike="noStrike" cap="none" normalizeH="0" baseline="0" dirty="0">
                <a:ln>
                  <a:noFill/>
                </a:ln>
                <a:solidFill>
                  <a:schemeClr val="tx1"/>
                </a:solidFill>
                <a:effectLst/>
                <a:latin typeface="Bahnschrift SemiLight SemiConde" panose="020B0502040204020203" pitchFamily="34" charset="0"/>
              </a:rPr>
              <a:t>“Digital Rescue Tool”</a:t>
            </a: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 cards — each with a coping strategy (e.g., “Take a break from the screen,” “Talk to a friend,” “Block and report”).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Ask </a:t>
            </a:r>
            <a:r>
              <a:rPr kumimoji="0" lang="en-US" altLang="en-US" sz="1800" b="0" i="0" u="none" strike="noStrike" cap="none" normalizeH="0" baseline="0">
                <a:ln>
                  <a:noFill/>
                </a:ln>
                <a:solidFill>
                  <a:schemeClr val="tx1"/>
                </a:solidFill>
                <a:effectLst/>
                <a:latin typeface="Bahnschrift SemiLight SemiConde" panose="020B0502040204020203" pitchFamily="34" charset="0"/>
              </a:rPr>
              <a:t>each intern </a:t>
            </a: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to pick a card they feel could help them handle a tough online moment, and invite volunteers to share how or when they might use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Optional: Hand out Cyber Wellness badges or stickers as recognition for thoughtful participation.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ahnschrift SemiLight SemiConde" panose="020B0502040204020203" pitchFamily="34" charset="0"/>
              </a:rPr>
              <a:t>Optional: As a final reflection, students can write or draw a quick note on a sticky note about one thing they’ll do to stay mentally healthy online and post it on a "Well-being Wall.“</a:t>
            </a:r>
          </a:p>
        </p:txBody>
      </p:sp>
    </p:spTree>
    <p:extLst>
      <p:ext uri="{BB962C8B-B14F-4D97-AF65-F5344CB8AC3E}">
        <p14:creationId xmlns:p14="http://schemas.microsoft.com/office/powerpoint/2010/main" val="2139509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DA0671-F5C8-EE6D-044F-CC09DD2F9BAD}"/>
              </a:ext>
            </a:extLst>
          </p:cNvPr>
          <p:cNvSpPr/>
          <p:nvPr/>
        </p:nvSpPr>
        <p:spPr>
          <a:xfrm>
            <a:off x="-1"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98FA6AD-978F-5F3E-C44C-BC4E4FF7200C}"/>
              </a:ext>
            </a:extLst>
          </p:cNvPr>
          <p:cNvSpPr>
            <a:spLocks noGrp="1"/>
          </p:cNvSpPr>
          <p:nvPr>
            <p:ph type="ctrTitle"/>
          </p:nvPr>
        </p:nvSpPr>
        <p:spPr>
          <a:xfrm>
            <a:off x="2528662" y="331759"/>
            <a:ext cx="7134675" cy="1214100"/>
          </a:xfrm>
        </p:spPr>
        <p:txBody>
          <a:bodyPr>
            <a:normAutofit fontScale="90000"/>
          </a:bodyPr>
          <a:lstStyle/>
          <a:p>
            <a:r>
              <a:rPr lang="en-IN" dirty="0"/>
              <a:t> </a:t>
            </a:r>
            <a:r>
              <a:rPr lang="en-IN" sz="4400" dirty="0">
                <a:solidFill>
                  <a:schemeClr val="bg1"/>
                </a:solidFill>
                <a:latin typeface="Gill Sans Ultra Bold Condensed" panose="020B0A06020104020203" pitchFamily="34" charset="0"/>
              </a:rPr>
              <a:t>South Zone </a:t>
            </a:r>
            <a:br>
              <a:rPr lang="en-IN" sz="4400" dirty="0">
                <a:latin typeface="Gill Sans Ultra Bold Condensed" panose="020B0A06020104020203" pitchFamily="34" charset="0"/>
              </a:rPr>
            </a:br>
            <a:r>
              <a:rPr lang="en-IN" sz="4400" dirty="0">
                <a:latin typeface="Gill Sans Ultra Bold Condensed" panose="020B0A06020104020203" pitchFamily="34" charset="0"/>
              </a:rPr>
              <a:t> May , June - Highlights </a:t>
            </a:r>
          </a:p>
        </p:txBody>
      </p:sp>
      <p:pic>
        <p:nvPicPr>
          <p:cNvPr id="5" name="Picture 4">
            <a:extLst>
              <a:ext uri="{FF2B5EF4-FFF2-40B4-BE49-F238E27FC236}">
                <a16:creationId xmlns:a16="http://schemas.microsoft.com/office/drawing/2014/main" id="{0D6505A3-4518-D4DC-32B7-CF2EE1281BF8}"/>
              </a:ext>
            </a:extLst>
          </p:cNvPr>
          <p:cNvPicPr>
            <a:picLocks noChangeAspect="1"/>
          </p:cNvPicPr>
          <p:nvPr/>
        </p:nvPicPr>
        <p:blipFill>
          <a:blip r:embed="Ra6ac33b315624594">
            <a:extLst>
              <a:ext uri="{28A0092B-C50C-407E-A947-70E740481C1C}">
                <a14:useLocalDpi xmlns:a14="http://schemas.microsoft.com/office/drawing/2010/main" val="0"/>
              </a:ext>
            </a:extLst>
          </a:blip>
          <a:stretch>
            <a:fillRect/>
          </a:stretch>
        </p:blipFill>
        <p:spPr>
          <a:xfrm>
            <a:off x="10312477" y="0"/>
            <a:ext cx="1531849" cy="1769806"/>
          </a:xfrm>
          <a:prstGeom prst="rect">
            <a:avLst/>
          </a:prstGeom>
        </p:spPr>
      </p:pic>
      <p:sp>
        <p:nvSpPr>
          <p:cNvPr id="6" name="Rectangle 1">
            <a:extLst>
              <a:ext uri="{FF2B5EF4-FFF2-40B4-BE49-F238E27FC236}">
                <a16:creationId xmlns:a16="http://schemas.microsoft.com/office/drawing/2014/main" id="{C52D8AAB-6289-9BF6-494B-5072B8A6CFAC}"/>
              </a:ext>
            </a:extLst>
          </p:cNvPr>
          <p:cNvSpPr>
            <a:spLocks noChangeArrowheads="1"/>
          </p:cNvSpPr>
          <p:nvPr/>
        </p:nvSpPr>
        <p:spPr bwMode="auto">
          <a:xfrm>
            <a:off x="525151" y="2598003"/>
            <a:ext cx="862464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Fundraising Triumph</a:t>
            </a:r>
            <a:r>
              <a:rPr kumimoji="0" lang="en-US" altLang="en-US" sz="2400" b="0" i="0" u="none" strike="noStrike" cap="none" normalizeH="0" baseline="0" dirty="0">
                <a:ln>
                  <a:noFill/>
                </a:ln>
                <a:solidFill>
                  <a:schemeClr val="tx1"/>
                </a:solidFill>
                <a:effectLst/>
              </a:rPr>
              <a:t>: A dynamic force of 53 volunteers and interns raised ₹2.2 lakhs, powering our mission forward.</a:t>
            </a:r>
          </a:p>
        </p:txBody>
      </p:sp>
      <p:sp>
        <p:nvSpPr>
          <p:cNvPr id="3" name="TextBox 2">
            <a:extLst>
              <a:ext uri="{FF2B5EF4-FFF2-40B4-BE49-F238E27FC236}">
                <a16:creationId xmlns:a16="http://schemas.microsoft.com/office/drawing/2014/main" id="{4B9B86CC-C30D-93A2-C1A5-638A592CB9E9}"/>
              </a:ext>
            </a:extLst>
          </p:cNvPr>
          <p:cNvSpPr txBox="1"/>
          <p:nvPr/>
        </p:nvSpPr>
        <p:spPr>
          <a:xfrm>
            <a:off x="609601" y="3746091"/>
            <a:ext cx="7354528" cy="1846659"/>
          </a:xfrm>
          <a:prstGeom prst="rect">
            <a:avLst/>
          </a:prstGeom>
          <a:noFill/>
        </p:spPr>
        <p:txBody>
          <a:bodyPr wrap="square" rtlCol="0">
            <a:spAutoFit/>
          </a:bodyPr>
          <a:lstStyle/>
          <a:p>
            <a:r>
              <a:rPr lang="en-US" sz="2400" b="1" dirty="0"/>
              <a:t>Young Changemakers in the Making</a:t>
            </a:r>
            <a:r>
              <a:rPr lang="en-US" sz="2400" dirty="0"/>
              <a:t> – Our vibrant collaboration with DPS North through </a:t>
            </a:r>
            <a:r>
              <a:rPr lang="en-US" sz="2400" b="1" i="1" dirty="0"/>
              <a:t>Children For Children</a:t>
            </a:r>
            <a:r>
              <a:rPr lang="en-US" sz="2400" b="1" dirty="0"/>
              <a:t> </a:t>
            </a:r>
            <a:r>
              <a:rPr lang="en-US" sz="2400" dirty="0"/>
              <a:t>brought child rights conversations to classrooms, nurturing awareness and empathy early on.</a:t>
            </a:r>
            <a:endParaRPr kumimoji="0" lang="en-US" altLang="en-US" sz="2400" b="0" i="0" u="none" strike="noStrike" cap="none" normalizeH="0" baseline="0" dirty="0">
              <a:ln>
                <a:noFill/>
              </a:ln>
              <a:solidFill>
                <a:schemeClr val="tx1"/>
              </a:solidFill>
              <a:effectLst/>
            </a:endParaRPr>
          </a:p>
          <a:p>
            <a:endParaRPr lang="en-IN" dirty="0"/>
          </a:p>
        </p:txBody>
      </p:sp>
    </p:spTree>
    <p:extLst>
      <p:ext uri="{BB962C8B-B14F-4D97-AF65-F5344CB8AC3E}">
        <p14:creationId xmlns:p14="http://schemas.microsoft.com/office/powerpoint/2010/main" val="1771197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D1D2FF0-C8A4-1511-357E-FA58993941E6}"/>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rapezoid 3">
            <a:extLst>
              <a:ext uri="{FF2B5EF4-FFF2-40B4-BE49-F238E27FC236}">
                <a16:creationId xmlns:a16="http://schemas.microsoft.com/office/drawing/2014/main" id="{501966E9-A557-1558-BAE0-819E420198D1}"/>
              </a:ext>
            </a:extLst>
          </p:cNvPr>
          <p:cNvSpPr/>
          <p:nvPr/>
        </p:nvSpPr>
        <p:spPr>
          <a:xfrm>
            <a:off x="4989868" y="904567"/>
            <a:ext cx="2472816" cy="2058629"/>
          </a:xfrm>
          <a:prstGeom prst="trapezoid">
            <a:avLst>
              <a:gd name="adj" fmla="val 61363"/>
            </a:avLst>
          </a:prstGeom>
          <a:solidFill>
            <a:srgbClr val="FFD806"/>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rapezoid 4">
            <a:extLst>
              <a:ext uri="{FF2B5EF4-FFF2-40B4-BE49-F238E27FC236}">
                <a16:creationId xmlns:a16="http://schemas.microsoft.com/office/drawing/2014/main" id="{57FD3195-5FE1-5AB0-EA63-F2EDD2A8C404}"/>
              </a:ext>
            </a:extLst>
          </p:cNvPr>
          <p:cNvSpPr/>
          <p:nvPr/>
        </p:nvSpPr>
        <p:spPr>
          <a:xfrm>
            <a:off x="4041058" y="3301180"/>
            <a:ext cx="4365524" cy="1221659"/>
          </a:xfrm>
          <a:prstGeom prst="trapezoid">
            <a:avLst>
              <a:gd name="adj" fmla="val 61363"/>
            </a:avLst>
          </a:prstGeom>
          <a:solidFill>
            <a:srgbClr val="FFD80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rapezoid 5">
            <a:extLst>
              <a:ext uri="{FF2B5EF4-FFF2-40B4-BE49-F238E27FC236}">
                <a16:creationId xmlns:a16="http://schemas.microsoft.com/office/drawing/2014/main" id="{5616C71C-1B81-697C-C9A7-0B810B81841C}"/>
              </a:ext>
            </a:extLst>
          </p:cNvPr>
          <p:cNvSpPr/>
          <p:nvPr/>
        </p:nvSpPr>
        <p:spPr>
          <a:xfrm>
            <a:off x="2959508" y="5004619"/>
            <a:ext cx="6518787" cy="1317522"/>
          </a:xfrm>
          <a:prstGeom prst="trapezoid">
            <a:avLst>
              <a:gd name="adj" fmla="val 61363"/>
            </a:avLst>
          </a:prstGeom>
          <a:solidFill>
            <a:srgbClr val="FFD80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Parallelogram 6">
            <a:extLst>
              <a:ext uri="{FF2B5EF4-FFF2-40B4-BE49-F238E27FC236}">
                <a16:creationId xmlns:a16="http://schemas.microsoft.com/office/drawing/2014/main" id="{08F7DF90-4C45-8DAF-84F6-BE5B509853F7}"/>
              </a:ext>
            </a:extLst>
          </p:cNvPr>
          <p:cNvSpPr/>
          <p:nvPr/>
        </p:nvSpPr>
        <p:spPr>
          <a:xfrm>
            <a:off x="4208206" y="4522839"/>
            <a:ext cx="3598607" cy="511306"/>
          </a:xfrm>
          <a:prstGeom prst="parallelogram">
            <a:avLst>
              <a:gd name="adj" fmla="val 300511"/>
            </a:avLst>
          </a:prstGeom>
          <a:solidFill>
            <a:srgbClr val="FFD80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Parallelogram 7">
            <a:extLst>
              <a:ext uri="{FF2B5EF4-FFF2-40B4-BE49-F238E27FC236}">
                <a16:creationId xmlns:a16="http://schemas.microsoft.com/office/drawing/2014/main" id="{7BB972E7-A8E5-8823-E616-268F84EF3DEB}"/>
              </a:ext>
            </a:extLst>
          </p:cNvPr>
          <p:cNvSpPr/>
          <p:nvPr/>
        </p:nvSpPr>
        <p:spPr>
          <a:xfrm>
            <a:off x="4989868" y="2963195"/>
            <a:ext cx="2222089" cy="367511"/>
          </a:xfrm>
          <a:prstGeom prst="parallelogram">
            <a:avLst>
              <a:gd name="adj" fmla="val 300511"/>
            </a:avLst>
          </a:prstGeom>
          <a:solidFill>
            <a:srgbClr val="FFD80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61406464-96AC-4D41-42C7-BE1B055D0285}"/>
              </a:ext>
            </a:extLst>
          </p:cNvPr>
          <p:cNvSpPr txBox="1"/>
          <p:nvPr/>
        </p:nvSpPr>
        <p:spPr>
          <a:xfrm>
            <a:off x="4463846" y="3428999"/>
            <a:ext cx="3598607" cy="1477328"/>
          </a:xfrm>
          <a:prstGeom prst="rect">
            <a:avLst/>
          </a:prstGeom>
          <a:noFill/>
        </p:spPr>
        <p:txBody>
          <a:bodyPr wrap="square" rtlCol="0">
            <a:spAutoFit/>
          </a:bodyPr>
          <a:lstStyle/>
          <a:p>
            <a:pPr algn="ctr"/>
            <a:r>
              <a:rPr kumimoji="0" lang="en-US" altLang="en-US" sz="1800" b="1" i="0" u="none" strike="noStrike" cap="none" normalizeH="0" baseline="0" dirty="0">
                <a:ln>
                  <a:noFill/>
                </a:ln>
                <a:solidFill>
                  <a:schemeClr val="tx1"/>
                </a:solidFill>
                <a:effectLst/>
              </a:rPr>
              <a:t>Fundraising Triumph</a:t>
            </a:r>
            <a:r>
              <a:rPr kumimoji="0" lang="en-US" altLang="en-US" sz="1800" b="0" i="0" u="none" strike="noStrike" cap="none" normalizeH="0" baseline="0" dirty="0">
                <a:ln>
                  <a:noFill/>
                </a:ln>
                <a:solidFill>
                  <a:schemeClr val="tx1"/>
                </a:solidFill>
                <a:effectLst/>
              </a:rPr>
              <a:t>: A dynamic force of 53 volunteers and interns raised </a:t>
            </a:r>
            <a:r>
              <a:rPr kumimoji="0" lang="en-US" altLang="en-US" sz="1800" b="1" i="0" u="none" strike="noStrike" cap="none" normalizeH="0" baseline="0" dirty="0">
                <a:ln>
                  <a:noFill/>
                </a:ln>
                <a:solidFill>
                  <a:schemeClr val="tx1"/>
                </a:solidFill>
                <a:effectLst/>
              </a:rPr>
              <a:t>₹2.2 lakhs</a:t>
            </a:r>
            <a:r>
              <a:rPr kumimoji="0" lang="en-US" altLang="en-US" sz="1800" b="0" i="0" u="none" strike="noStrike" cap="none" normalizeH="0" baseline="0" dirty="0">
                <a:ln>
                  <a:noFill/>
                </a:ln>
                <a:solidFill>
                  <a:schemeClr val="tx1"/>
                </a:solidFill>
                <a:effectLst/>
              </a:rPr>
              <a:t>, powering our mission forward.</a:t>
            </a:r>
          </a:p>
          <a:p>
            <a:r>
              <a:rPr lang="en-IN" dirty="0"/>
              <a:t> </a:t>
            </a:r>
          </a:p>
        </p:txBody>
      </p:sp>
      <p:sp>
        <p:nvSpPr>
          <p:cNvPr id="10" name="TextBox 9">
            <a:extLst>
              <a:ext uri="{FF2B5EF4-FFF2-40B4-BE49-F238E27FC236}">
                <a16:creationId xmlns:a16="http://schemas.microsoft.com/office/drawing/2014/main" id="{2DB1A8BC-325E-442E-5AB3-AE5A746384E5}"/>
              </a:ext>
            </a:extLst>
          </p:cNvPr>
          <p:cNvSpPr txBox="1"/>
          <p:nvPr/>
        </p:nvSpPr>
        <p:spPr>
          <a:xfrm>
            <a:off x="3510116" y="5034145"/>
            <a:ext cx="5506065" cy="1477328"/>
          </a:xfrm>
          <a:prstGeom prst="rect">
            <a:avLst/>
          </a:prstGeom>
          <a:noFill/>
        </p:spPr>
        <p:txBody>
          <a:bodyPr wrap="square" rtlCol="0">
            <a:spAutoFit/>
          </a:bodyPr>
          <a:lstStyle/>
          <a:p>
            <a:pPr algn="ctr"/>
            <a:r>
              <a:rPr lang="en-US" sz="1800" b="1" dirty="0"/>
              <a:t>Young Changemakers in the Making</a:t>
            </a:r>
            <a:r>
              <a:rPr lang="en-US" sz="1800" dirty="0"/>
              <a:t> – Our vibrant collaboration with DPS North through </a:t>
            </a:r>
            <a:r>
              <a:rPr lang="en-US" sz="1800" b="1" i="1" dirty="0"/>
              <a:t>Children For Children</a:t>
            </a:r>
            <a:r>
              <a:rPr lang="en-US" sz="1800" b="1" dirty="0"/>
              <a:t> </a:t>
            </a:r>
            <a:r>
              <a:rPr lang="en-US" sz="1800" dirty="0"/>
              <a:t>brought child rights conversations to classrooms, nurturing awareness and empathy early on.</a:t>
            </a:r>
            <a:endParaRPr kumimoji="0" lang="en-US" altLang="en-US" sz="1800" b="0" i="0" u="none" strike="noStrike" cap="none" normalizeH="0" baseline="0" dirty="0">
              <a:ln>
                <a:noFill/>
              </a:ln>
              <a:solidFill>
                <a:schemeClr val="tx1"/>
              </a:solidFill>
              <a:effectLst/>
            </a:endParaRPr>
          </a:p>
          <a:p>
            <a:endParaRPr lang="en-IN" dirty="0"/>
          </a:p>
        </p:txBody>
      </p:sp>
      <p:sp>
        <p:nvSpPr>
          <p:cNvPr id="11" name="TextBox 10">
            <a:extLst>
              <a:ext uri="{FF2B5EF4-FFF2-40B4-BE49-F238E27FC236}">
                <a16:creationId xmlns:a16="http://schemas.microsoft.com/office/drawing/2014/main" id="{FDA7E5CA-4ECD-150A-B50B-3FBEBF2524E2}"/>
              </a:ext>
            </a:extLst>
          </p:cNvPr>
          <p:cNvSpPr txBox="1"/>
          <p:nvPr/>
        </p:nvSpPr>
        <p:spPr>
          <a:xfrm>
            <a:off x="5152103" y="1696645"/>
            <a:ext cx="2222090" cy="1077218"/>
          </a:xfrm>
          <a:prstGeom prst="rect">
            <a:avLst/>
          </a:prstGeom>
          <a:noFill/>
        </p:spPr>
        <p:txBody>
          <a:bodyPr wrap="square" rtlCol="0">
            <a:spAutoFit/>
          </a:bodyPr>
          <a:lstStyle/>
          <a:p>
            <a:pPr algn="ctr"/>
            <a:r>
              <a:rPr lang="en-IN" sz="3200" dirty="0">
                <a:latin typeface="Gill Sans MT Condensed" panose="020B0506020104020203" pitchFamily="34" charset="0"/>
              </a:rPr>
              <a:t>May , June </a:t>
            </a:r>
          </a:p>
          <a:p>
            <a:pPr algn="ctr"/>
            <a:r>
              <a:rPr lang="en-IN" sz="3200" dirty="0">
                <a:latin typeface="Gill Sans MT Condensed" panose="020B0506020104020203" pitchFamily="34" charset="0"/>
              </a:rPr>
              <a:t> Highlights</a:t>
            </a:r>
          </a:p>
        </p:txBody>
      </p:sp>
      <p:pic>
        <p:nvPicPr>
          <p:cNvPr id="12" name="Picture 11">
            <a:extLst>
              <a:ext uri="{FF2B5EF4-FFF2-40B4-BE49-F238E27FC236}">
                <a16:creationId xmlns:a16="http://schemas.microsoft.com/office/drawing/2014/main" id="{62FF25F3-40B3-0CEF-CC82-2BC1F3CC83B7}"/>
              </a:ext>
            </a:extLst>
          </p:cNvPr>
          <p:cNvPicPr>
            <a:picLocks noChangeAspect="1"/>
          </p:cNvPicPr>
          <p:nvPr/>
        </p:nvPicPr>
        <p:blipFill>
          <a:blip r:embed="R919f06f94b764168">
            <a:extLst>
              <a:ext uri="{28A0092B-C50C-407E-A947-70E740481C1C}">
                <a14:useLocalDpi xmlns:a14="http://schemas.microsoft.com/office/drawing/2010/main" val="0"/>
              </a:ext>
            </a:extLst>
          </a:blip>
          <a:stretch>
            <a:fillRect/>
          </a:stretch>
        </p:blipFill>
        <p:spPr>
          <a:xfrm>
            <a:off x="10538239" y="-73161"/>
            <a:ext cx="1531849" cy="1769806"/>
          </a:xfrm>
          <a:prstGeom prst="rect">
            <a:avLst/>
          </a:prstGeom>
          <a:ln>
            <a:solidFill>
              <a:schemeClr val="bg1"/>
            </a:solidFill>
          </a:ln>
        </p:spPr>
      </p:pic>
      <p:sp>
        <p:nvSpPr>
          <p:cNvPr id="13" name="TextBox 12">
            <a:extLst>
              <a:ext uri="{FF2B5EF4-FFF2-40B4-BE49-F238E27FC236}">
                <a16:creationId xmlns:a16="http://schemas.microsoft.com/office/drawing/2014/main" id="{F8D61F04-3913-3173-F36F-76C809BA22BC}"/>
              </a:ext>
            </a:extLst>
          </p:cNvPr>
          <p:cNvSpPr txBox="1"/>
          <p:nvPr/>
        </p:nvSpPr>
        <p:spPr>
          <a:xfrm>
            <a:off x="442450" y="317030"/>
            <a:ext cx="3431459" cy="707886"/>
          </a:xfrm>
          <a:prstGeom prst="rect">
            <a:avLst/>
          </a:prstGeom>
          <a:noFill/>
        </p:spPr>
        <p:txBody>
          <a:bodyPr wrap="square" rtlCol="0">
            <a:spAutoFit/>
          </a:bodyPr>
          <a:lstStyle/>
          <a:p>
            <a:r>
              <a:rPr lang="en-IN" sz="4000" dirty="0">
                <a:solidFill>
                  <a:schemeClr val="bg1"/>
                </a:solidFill>
                <a:latin typeface="Gill Sans Ultra Bold Condensed" panose="020B0A06020104020203" pitchFamily="34" charset="0"/>
              </a:rPr>
              <a:t> </a:t>
            </a:r>
            <a:r>
              <a:rPr lang="en-IN" sz="4000" dirty="0">
                <a:solidFill>
                  <a:schemeClr val="bg1"/>
                </a:solidFill>
                <a:latin typeface="Gill Sans MT Condensed" panose="020B0506020104020203" pitchFamily="34" charset="0"/>
              </a:rPr>
              <a:t>South Zone </a:t>
            </a:r>
            <a:endParaRPr lang="en-IN" sz="4000" dirty="0">
              <a:latin typeface="Gill Sans MT Condensed" panose="020B0506020104020203" pitchFamily="34" charset="0"/>
            </a:endParaRPr>
          </a:p>
        </p:txBody>
      </p:sp>
    </p:spTree>
    <p:extLst>
      <p:ext uri="{BB962C8B-B14F-4D97-AF65-F5344CB8AC3E}">
        <p14:creationId xmlns:p14="http://schemas.microsoft.com/office/powerpoint/2010/main" val="2973935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BE02CC-C2C5-FE30-5987-D43723DCE419}"/>
              </a:ext>
            </a:extLst>
          </p:cNvPr>
          <p:cNvSpPr txBox="1"/>
          <p:nvPr/>
        </p:nvSpPr>
        <p:spPr>
          <a:xfrm>
            <a:off x="0" y="-68826"/>
            <a:ext cx="3215149" cy="12403395"/>
          </a:xfrm>
          <a:prstGeom prst="rect">
            <a:avLst/>
          </a:prstGeom>
          <a:noFill/>
        </p:spPr>
        <p:txBody>
          <a:bodyPr wrap="square" rtlCol="0">
            <a:spAutoFit/>
          </a:bodyPr>
          <a:lstStyle/>
          <a:p>
            <a:r>
              <a:rPr lang="en-IN" sz="40000" dirty="0">
                <a:latin typeface="Franklin Gothic Medium Cond" panose="020B0606030402020204" pitchFamily="34" charset="0"/>
              </a:rPr>
              <a:t>1</a:t>
            </a:r>
          </a:p>
          <a:p>
            <a:r>
              <a:rPr lang="en-IN" sz="40000" dirty="0">
                <a:latin typeface="Franklin Gothic Medium Cond" panose="020B0606030402020204" pitchFamily="34" charset="0"/>
              </a:rPr>
              <a:t>2</a:t>
            </a:r>
          </a:p>
        </p:txBody>
      </p:sp>
      <p:sp>
        <p:nvSpPr>
          <p:cNvPr id="3" name="TextBox 2">
            <a:extLst>
              <a:ext uri="{FF2B5EF4-FFF2-40B4-BE49-F238E27FC236}">
                <a16:creationId xmlns:a16="http://schemas.microsoft.com/office/drawing/2014/main" id="{76F6DD3D-B285-C02B-EE83-34F0604B9087}"/>
              </a:ext>
            </a:extLst>
          </p:cNvPr>
          <p:cNvSpPr txBox="1"/>
          <p:nvPr/>
        </p:nvSpPr>
        <p:spPr>
          <a:xfrm>
            <a:off x="2349909" y="314631"/>
            <a:ext cx="2959509" cy="523220"/>
          </a:xfrm>
          <a:prstGeom prst="rect">
            <a:avLst/>
          </a:prstGeom>
          <a:noFill/>
        </p:spPr>
        <p:txBody>
          <a:bodyPr wrap="square" rtlCol="0">
            <a:spAutoFit/>
          </a:bodyPr>
          <a:lstStyle/>
          <a:p>
            <a:r>
              <a:rPr lang="en-IN" sz="2800" b="1" dirty="0"/>
              <a:t>Looking ahead </a:t>
            </a:r>
          </a:p>
        </p:txBody>
      </p:sp>
      <p:sp>
        <p:nvSpPr>
          <p:cNvPr id="7" name="Rectangle 6">
            <a:extLst>
              <a:ext uri="{FF2B5EF4-FFF2-40B4-BE49-F238E27FC236}">
                <a16:creationId xmlns:a16="http://schemas.microsoft.com/office/drawing/2014/main" id="{3A700F6B-F3CB-3400-59FE-4CA8CB69CB05}"/>
              </a:ext>
            </a:extLst>
          </p:cNvPr>
          <p:cNvSpPr/>
          <p:nvPr/>
        </p:nvSpPr>
        <p:spPr>
          <a:xfrm>
            <a:off x="3618271" y="2300748"/>
            <a:ext cx="7226710" cy="1582994"/>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69586BE-0732-A4D3-5573-6B849E310DEE}"/>
              </a:ext>
            </a:extLst>
          </p:cNvPr>
          <p:cNvSpPr txBox="1"/>
          <p:nvPr/>
        </p:nvSpPr>
        <p:spPr>
          <a:xfrm>
            <a:off x="3972231" y="2487561"/>
            <a:ext cx="7069393" cy="1200329"/>
          </a:xfrm>
          <a:prstGeom prst="rect">
            <a:avLst/>
          </a:prstGeom>
          <a:noFill/>
        </p:spPr>
        <p:txBody>
          <a:bodyPr wrap="square" rtlCol="0">
            <a:spAutoFit/>
          </a:bodyPr>
          <a:lstStyle/>
          <a:p>
            <a:r>
              <a:rPr lang="en-US" b="1" dirty="0"/>
              <a:t>Summer Spark</a:t>
            </a:r>
            <a:r>
              <a:rPr lang="en-US" dirty="0"/>
              <a:t>: Rolling out engaging summer camps across 5 PAGs in Bangalore to strengthen volunteer participation and deepen our work with children.</a:t>
            </a:r>
          </a:p>
          <a:p>
            <a:endParaRPr lang="en-IN" dirty="0"/>
          </a:p>
        </p:txBody>
      </p:sp>
      <p:pic>
        <p:nvPicPr>
          <p:cNvPr id="6" name="Picture 5">
            <a:extLst>
              <a:ext uri="{FF2B5EF4-FFF2-40B4-BE49-F238E27FC236}">
                <a16:creationId xmlns:a16="http://schemas.microsoft.com/office/drawing/2014/main" id="{503640D0-577B-7B5C-F0F4-5F1A7EB01D1C}"/>
              </a:ext>
            </a:extLst>
          </p:cNvPr>
          <p:cNvPicPr>
            <a:picLocks noChangeAspect="1"/>
          </p:cNvPicPr>
          <p:nvPr/>
        </p:nvPicPr>
        <p:blipFill>
          <a:blip r:embed="R1b1a3bed99094652">
            <a:extLst>
              <a:ext uri="{28A0092B-C50C-407E-A947-70E740481C1C}">
                <a14:useLocalDpi xmlns:a14="http://schemas.microsoft.com/office/drawing/2010/main" val="0"/>
              </a:ext>
            </a:extLst>
          </a:blip>
          <a:stretch>
            <a:fillRect/>
          </a:stretch>
        </p:blipFill>
        <p:spPr>
          <a:xfrm>
            <a:off x="10538239" y="-73161"/>
            <a:ext cx="1531849" cy="1769806"/>
          </a:xfrm>
          <a:prstGeom prst="rect">
            <a:avLst/>
          </a:prstGeom>
          <a:ln>
            <a:solidFill>
              <a:schemeClr val="bg1"/>
            </a:solidFill>
          </a:ln>
        </p:spPr>
      </p:pic>
    </p:spTree>
    <p:extLst>
      <p:ext uri="{BB962C8B-B14F-4D97-AF65-F5344CB8AC3E}">
        <p14:creationId xmlns:p14="http://schemas.microsoft.com/office/powerpoint/2010/main" val="27302325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FAD3-CEAA-DD17-89A7-8E389B5DFD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0A91848-CAB1-C265-83D4-45623EEACCEA}"/>
              </a:ext>
            </a:extLst>
          </p:cNvPr>
          <p:cNvSpPr txBox="1"/>
          <p:nvPr/>
        </p:nvSpPr>
        <p:spPr>
          <a:xfrm>
            <a:off x="206477" y="-6201698"/>
            <a:ext cx="3215149" cy="12403395"/>
          </a:xfrm>
          <a:prstGeom prst="rect">
            <a:avLst/>
          </a:prstGeom>
          <a:noFill/>
        </p:spPr>
        <p:txBody>
          <a:bodyPr wrap="square" rtlCol="0">
            <a:spAutoFit/>
          </a:bodyPr>
          <a:lstStyle/>
          <a:p>
            <a:r>
              <a:rPr lang="en-IN" sz="40000" dirty="0">
                <a:latin typeface="Franklin Gothic Medium Cond" panose="020B0606030402020204" pitchFamily="34" charset="0"/>
              </a:rPr>
              <a:t>1</a:t>
            </a:r>
          </a:p>
          <a:p>
            <a:r>
              <a:rPr lang="en-IN" sz="40000" dirty="0">
                <a:latin typeface="Franklin Gothic Medium Cond" panose="020B0606030402020204" pitchFamily="34" charset="0"/>
              </a:rPr>
              <a:t>2</a:t>
            </a:r>
          </a:p>
        </p:txBody>
      </p:sp>
      <p:sp>
        <p:nvSpPr>
          <p:cNvPr id="5" name="Rectangle 4">
            <a:extLst>
              <a:ext uri="{FF2B5EF4-FFF2-40B4-BE49-F238E27FC236}">
                <a16:creationId xmlns:a16="http://schemas.microsoft.com/office/drawing/2014/main" id="{94E2A610-229C-B861-4EC1-B39749397DB5}"/>
              </a:ext>
            </a:extLst>
          </p:cNvPr>
          <p:cNvSpPr/>
          <p:nvPr/>
        </p:nvSpPr>
        <p:spPr>
          <a:xfrm>
            <a:off x="4572000" y="2231923"/>
            <a:ext cx="6902245" cy="1848464"/>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75996DA-7CAE-558A-B452-5FBB3A9B71CD}"/>
              </a:ext>
            </a:extLst>
          </p:cNvPr>
          <p:cNvSpPr txBox="1"/>
          <p:nvPr/>
        </p:nvSpPr>
        <p:spPr>
          <a:xfrm>
            <a:off x="4680155" y="2222090"/>
            <a:ext cx="6695767" cy="1754326"/>
          </a:xfrm>
          <a:prstGeom prst="rect">
            <a:avLst/>
          </a:prstGeom>
          <a:noFill/>
        </p:spPr>
        <p:txBody>
          <a:bodyPr wrap="square" rtlCol="0">
            <a:spAutoFit/>
          </a:bodyPr>
          <a:lstStyle/>
          <a:p>
            <a:r>
              <a:rPr lang="en-US" b="1" dirty="0"/>
              <a:t>Growing Our Footprint</a:t>
            </a:r>
            <a:r>
              <a:rPr lang="en-US" dirty="0"/>
              <a:t>: New PAGs coming up in 2 additional Bangalore locations and seeking the green light for expansion into Chennai and Hyderabad.</a:t>
            </a:r>
            <a:br>
              <a:rPr lang="en-US" dirty="0"/>
            </a:br>
            <a:r>
              <a:rPr lang="en-US" i="1" dirty="0"/>
              <a:t>Why it matters?</a:t>
            </a:r>
            <a:r>
              <a:rPr lang="en-US" dirty="0"/>
              <a:t> – More schools, more volunteers, greater impact – especially in our growing hubs of Chennai and Hyderabad.</a:t>
            </a:r>
          </a:p>
          <a:p>
            <a:endParaRPr lang="en-IN" dirty="0"/>
          </a:p>
        </p:txBody>
      </p:sp>
      <p:pic>
        <p:nvPicPr>
          <p:cNvPr id="4" name="Picture 3">
            <a:extLst>
              <a:ext uri="{FF2B5EF4-FFF2-40B4-BE49-F238E27FC236}">
                <a16:creationId xmlns:a16="http://schemas.microsoft.com/office/drawing/2014/main" id="{162CAB6E-6A78-729A-E8C4-1D6F9AE0BC4F}"/>
              </a:ext>
            </a:extLst>
          </p:cNvPr>
          <p:cNvPicPr>
            <a:picLocks noChangeAspect="1"/>
          </p:cNvPicPr>
          <p:nvPr/>
        </p:nvPicPr>
        <p:blipFill>
          <a:blip r:embed="Rb8631b95ee314c4b">
            <a:extLst>
              <a:ext uri="{28A0092B-C50C-407E-A947-70E740481C1C}">
                <a14:useLocalDpi xmlns:a14="http://schemas.microsoft.com/office/drawing/2010/main" val="0"/>
              </a:ext>
            </a:extLst>
          </a:blip>
          <a:stretch>
            <a:fillRect/>
          </a:stretch>
        </p:blipFill>
        <p:spPr>
          <a:xfrm>
            <a:off x="10538239" y="-73161"/>
            <a:ext cx="1531849" cy="1769806"/>
          </a:xfrm>
          <a:prstGeom prst="rect">
            <a:avLst/>
          </a:prstGeom>
          <a:ln>
            <a:solidFill>
              <a:schemeClr val="bg1"/>
            </a:solidFill>
          </a:ln>
        </p:spPr>
      </p:pic>
    </p:spTree>
    <p:extLst>
      <p:ext uri="{BB962C8B-B14F-4D97-AF65-F5344CB8AC3E}">
        <p14:creationId xmlns:p14="http://schemas.microsoft.com/office/powerpoint/2010/main" val="38054384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5D6E4-E0E8-B4F2-8D77-071E896CBDD1}"/>
              </a:ext>
            </a:extLst>
          </p:cNvPr>
          <p:cNvSpPr>
            <a:spLocks noGrp="1"/>
          </p:cNvSpPr>
          <p:nvPr>
            <p:ph type="title"/>
          </p:nvPr>
        </p:nvSpPr>
        <p:spPr>
          <a:xfrm>
            <a:off x="838200" y="344129"/>
            <a:ext cx="8512277" cy="1346559"/>
          </a:xfrm>
        </p:spPr>
        <p:txBody>
          <a:bodyPr/>
          <a:lstStyle/>
          <a:p>
            <a:r>
              <a:rPr lang="en-IN" dirty="0">
                <a:latin typeface="Gill Sans Ultra Bold Condensed" panose="020B0A06020104020203" pitchFamily="34" charset="0"/>
              </a:rPr>
              <a:t>Looking ahead </a:t>
            </a:r>
          </a:p>
        </p:txBody>
      </p:sp>
      <p:sp>
        <p:nvSpPr>
          <p:cNvPr id="5" name="Rectangle 4">
            <a:extLst>
              <a:ext uri="{FF2B5EF4-FFF2-40B4-BE49-F238E27FC236}">
                <a16:creationId xmlns:a16="http://schemas.microsoft.com/office/drawing/2014/main" id="{CD85C4BD-1E78-386B-CC6F-F2B96A899E36}"/>
              </a:ext>
            </a:extLst>
          </p:cNvPr>
          <p:cNvSpPr/>
          <p:nvPr/>
        </p:nvSpPr>
        <p:spPr>
          <a:xfrm>
            <a:off x="0" y="3531004"/>
            <a:ext cx="12192000" cy="3326995"/>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054F8E00-5970-6216-A518-A60E8DA8E9C8}"/>
              </a:ext>
            </a:extLst>
          </p:cNvPr>
          <p:cNvSpPr>
            <a:spLocks noGrp="1"/>
          </p:cNvSpPr>
          <p:nvPr>
            <p:ph idx="1"/>
          </p:nvPr>
        </p:nvSpPr>
        <p:spPr>
          <a:xfrm>
            <a:off x="838200" y="1484671"/>
            <a:ext cx="10515600" cy="5029200"/>
          </a:xfrm>
        </p:spPr>
        <p:txBody>
          <a:bodyPr/>
          <a:lstStyle/>
          <a:p>
            <a:pPr>
              <a:buNone/>
            </a:pPr>
            <a:endParaRPr lang="en-US" dirty="0"/>
          </a:p>
          <a:p>
            <a:pPr>
              <a:buFont typeface="Arial" panose="020B0604020202020204" pitchFamily="34" charset="0"/>
              <a:buChar char="•"/>
            </a:pPr>
            <a:r>
              <a:rPr lang="en-US" dirty="0"/>
              <a:t> </a:t>
            </a:r>
            <a:r>
              <a:rPr lang="en-US" b="1" dirty="0"/>
              <a:t>Summer Spark</a:t>
            </a:r>
            <a:r>
              <a:rPr lang="en-US" dirty="0"/>
              <a:t>: Rolling out engaging summer camps across 5 PAGs in Bangalore to strengthen volunteer participation and deepen our work with children.</a:t>
            </a:r>
          </a:p>
          <a:p>
            <a:pPr marL="0" indent="0">
              <a:buNone/>
            </a:pPr>
            <a:endParaRPr lang="en-US" dirty="0"/>
          </a:p>
          <a:p>
            <a:pPr>
              <a:buFont typeface="Arial" panose="020B0604020202020204" pitchFamily="34" charset="0"/>
              <a:buChar char="•"/>
            </a:pPr>
            <a:r>
              <a:rPr lang="en-US" dirty="0"/>
              <a:t> </a:t>
            </a:r>
            <a:r>
              <a:rPr lang="en-US" b="1" dirty="0"/>
              <a:t>Growing Our Footprint</a:t>
            </a:r>
            <a:r>
              <a:rPr lang="en-US" dirty="0"/>
              <a:t>: New PAGs coming up in 2 additional Bangalore locations and seeking the green light for expansion into Chennai and Hyderabad.</a:t>
            </a:r>
            <a:br>
              <a:rPr lang="en-US" dirty="0"/>
            </a:br>
            <a:r>
              <a:rPr lang="en-US" i="1" dirty="0"/>
              <a:t>Why it matters?</a:t>
            </a:r>
            <a:r>
              <a:rPr lang="en-US" dirty="0"/>
              <a:t> – More schools, more volunteers, greater impact – especially in our growing hubs of Chennai and Hyderabad.</a:t>
            </a:r>
          </a:p>
          <a:p>
            <a:pPr marL="0" indent="0">
              <a:buNone/>
            </a:pPr>
            <a:endParaRPr lang="en-IN" dirty="0"/>
          </a:p>
        </p:txBody>
      </p:sp>
      <p:pic>
        <p:nvPicPr>
          <p:cNvPr id="4" name="Picture 3">
            <a:extLst>
              <a:ext uri="{FF2B5EF4-FFF2-40B4-BE49-F238E27FC236}">
                <a16:creationId xmlns:a16="http://schemas.microsoft.com/office/drawing/2014/main" id="{3B9FF834-F1CD-79C2-2968-6A62BC3DEA90}"/>
              </a:ext>
            </a:extLst>
          </p:cNvPr>
          <p:cNvPicPr>
            <a:picLocks noChangeAspect="1"/>
          </p:cNvPicPr>
          <p:nvPr/>
        </p:nvPicPr>
        <p:blipFill>
          <a:blip r:embed="Re50b6f653bdc4aad">
            <a:extLst>
              <a:ext uri="{28A0092B-C50C-407E-A947-70E740481C1C}">
                <a14:useLocalDpi xmlns:a14="http://schemas.microsoft.com/office/drawing/2010/main" val="0"/>
              </a:ext>
            </a:extLst>
          </a:blip>
          <a:stretch>
            <a:fillRect/>
          </a:stretch>
        </p:blipFill>
        <p:spPr>
          <a:xfrm>
            <a:off x="10391450" y="-14692"/>
            <a:ext cx="1476086" cy="1705380"/>
          </a:xfrm>
          <a:prstGeom prst="rect">
            <a:avLst/>
          </a:prstGeom>
        </p:spPr>
      </p:pic>
    </p:spTree>
    <p:extLst>
      <p:ext uri="{BB962C8B-B14F-4D97-AF65-F5344CB8AC3E}">
        <p14:creationId xmlns:p14="http://schemas.microsoft.com/office/powerpoint/2010/main" val="922920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A19F853-3596-8B9E-3AD5-6F0E088C6BA6}"/>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24410B8-6734-6B71-2429-CF8AECB025AB}"/>
              </a:ext>
            </a:extLst>
          </p:cNvPr>
          <p:cNvSpPr>
            <a:spLocks noGrp="1"/>
          </p:cNvSpPr>
          <p:nvPr>
            <p:ph type="title"/>
          </p:nvPr>
        </p:nvSpPr>
        <p:spPr>
          <a:xfrm>
            <a:off x="3545758" y="372572"/>
            <a:ext cx="5100484" cy="1325563"/>
          </a:xfrm>
        </p:spPr>
        <p:txBody>
          <a:bodyPr>
            <a:normAutofit/>
          </a:bodyPr>
          <a:lstStyle/>
          <a:p>
            <a:r>
              <a:rPr lang="en-US" b="1" dirty="0">
                <a:latin typeface="Gill Sans Ultra Bold Condensed" panose="020B0A06020104020203" pitchFamily="34" charset="0"/>
              </a:rPr>
              <a:t>A Grateful Salute</a:t>
            </a:r>
            <a:br>
              <a:rPr lang="en-US" dirty="0"/>
            </a:br>
            <a:endParaRPr lang="en-IN" dirty="0"/>
          </a:p>
        </p:txBody>
      </p:sp>
      <p:sp>
        <p:nvSpPr>
          <p:cNvPr id="3" name="Content Placeholder 2">
            <a:extLst>
              <a:ext uri="{FF2B5EF4-FFF2-40B4-BE49-F238E27FC236}">
                <a16:creationId xmlns:a16="http://schemas.microsoft.com/office/drawing/2014/main" id="{665AC07E-B4F4-FD2A-7932-08CED79AE4DB}"/>
              </a:ext>
            </a:extLst>
          </p:cNvPr>
          <p:cNvSpPr>
            <a:spLocks noGrp="1"/>
          </p:cNvSpPr>
          <p:nvPr>
            <p:ph idx="1"/>
          </p:nvPr>
        </p:nvSpPr>
        <p:spPr>
          <a:xfrm>
            <a:off x="1145458" y="5529221"/>
            <a:ext cx="9901083" cy="479711"/>
          </a:xfrm>
        </p:spPr>
        <p:txBody>
          <a:bodyPr>
            <a:normAutofit/>
          </a:bodyPr>
          <a:lstStyle/>
          <a:p>
            <a:pPr marL="0" indent="0">
              <a:buNone/>
            </a:pPr>
            <a:r>
              <a:rPr lang="en-US" sz="2000" dirty="0"/>
              <a:t>  Every smile you sparked, every hour you gave – it mattered. Thank you for being the change.</a:t>
            </a:r>
            <a:endParaRPr lang="en-IN" sz="2000" dirty="0"/>
          </a:p>
        </p:txBody>
      </p:sp>
      <p:pic>
        <p:nvPicPr>
          <p:cNvPr id="4" name="Picture 3">
            <a:extLst>
              <a:ext uri="{FF2B5EF4-FFF2-40B4-BE49-F238E27FC236}">
                <a16:creationId xmlns:a16="http://schemas.microsoft.com/office/drawing/2014/main" id="{40CF98BB-028D-9154-1881-984CC4264B71}"/>
              </a:ext>
            </a:extLst>
          </p:cNvPr>
          <p:cNvPicPr>
            <a:picLocks noChangeAspect="1"/>
          </p:cNvPicPr>
          <p:nvPr/>
        </p:nvPicPr>
        <p:blipFill>
          <a:blip r:embed="Rf0b16279d4e34837">
            <a:extLst>
              <a:ext uri="{28A0092B-C50C-407E-A947-70E740481C1C}">
                <a14:useLocalDpi xmlns:a14="http://schemas.microsoft.com/office/drawing/2010/main" val="0"/>
              </a:ext>
            </a:extLst>
          </a:blip>
          <a:stretch>
            <a:fillRect/>
          </a:stretch>
        </p:blipFill>
        <p:spPr>
          <a:xfrm>
            <a:off x="10385004" y="-14692"/>
            <a:ext cx="1482531" cy="1712827"/>
          </a:xfrm>
          <a:prstGeom prst="rect">
            <a:avLst/>
          </a:prstGeom>
        </p:spPr>
      </p:pic>
      <p:sp>
        <p:nvSpPr>
          <p:cNvPr id="6" name="Rectangle 5">
            <a:extLst>
              <a:ext uri="{FF2B5EF4-FFF2-40B4-BE49-F238E27FC236}">
                <a16:creationId xmlns:a16="http://schemas.microsoft.com/office/drawing/2014/main" id="{46792F64-A38F-EF8D-972D-80E655C3E669}"/>
              </a:ext>
            </a:extLst>
          </p:cNvPr>
          <p:cNvSpPr/>
          <p:nvPr/>
        </p:nvSpPr>
        <p:spPr>
          <a:xfrm>
            <a:off x="1634613" y="1246626"/>
            <a:ext cx="8361722" cy="391323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99769589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31145F-4AB2-EAE8-1471-53B273335F46}"/>
              </a:ext>
            </a:extLst>
          </p:cNvPr>
          <p:cNvPicPr>
            <a:picLocks noChangeAspect="1"/>
          </p:cNvPicPr>
          <p:nvPr/>
        </p:nvPicPr>
        <p:blipFill>
          <a:blip r:embed="Ra021ddb7774648d5">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8129016"/>
          </a:xfrm>
          <a:prstGeom prst="rect">
            <a:avLst/>
          </a:prstGeom>
        </p:spPr>
      </p:pic>
      <p:graphicFrame>
        <p:nvGraphicFramePr>
          <p:cNvPr id="2" name="Table 1">
            <a:extLst>
              <a:ext uri="{FF2B5EF4-FFF2-40B4-BE49-F238E27FC236}">
                <a16:creationId xmlns:a16="http://schemas.microsoft.com/office/drawing/2014/main" id="{93603EBF-8301-5F73-D363-08045E7C55CD}"/>
              </a:ext>
            </a:extLst>
          </p:cNvPr>
          <p:cNvGraphicFramePr>
            <a:graphicFrameLocks noGrp="1"/>
          </p:cNvGraphicFramePr>
          <p:nvPr>
            <p:extLst>
              <p:ext uri="{D42A27DB-BD31-4B8C-83A1-F6EECF244321}">
                <p14:modId xmlns:p14="http://schemas.microsoft.com/office/powerpoint/2010/main" val="1387510474"/>
              </p:ext>
            </p:extLst>
          </p:nvPr>
        </p:nvGraphicFramePr>
        <p:xfrm>
          <a:off x="0" y="0"/>
          <a:ext cx="12192000" cy="7197215"/>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704484724"/>
                    </a:ext>
                  </a:extLst>
                </a:gridCol>
                <a:gridCol w="2032000">
                  <a:extLst>
                    <a:ext uri="{9D8B030D-6E8A-4147-A177-3AD203B41FA5}">
                      <a16:colId xmlns:a16="http://schemas.microsoft.com/office/drawing/2014/main" val="166896227"/>
                    </a:ext>
                  </a:extLst>
                </a:gridCol>
                <a:gridCol w="2032000">
                  <a:extLst>
                    <a:ext uri="{9D8B030D-6E8A-4147-A177-3AD203B41FA5}">
                      <a16:colId xmlns:a16="http://schemas.microsoft.com/office/drawing/2014/main" val="1458717709"/>
                    </a:ext>
                  </a:extLst>
                </a:gridCol>
                <a:gridCol w="2032000">
                  <a:extLst>
                    <a:ext uri="{9D8B030D-6E8A-4147-A177-3AD203B41FA5}">
                      <a16:colId xmlns:a16="http://schemas.microsoft.com/office/drawing/2014/main" val="3296853786"/>
                    </a:ext>
                  </a:extLst>
                </a:gridCol>
                <a:gridCol w="2032000">
                  <a:extLst>
                    <a:ext uri="{9D8B030D-6E8A-4147-A177-3AD203B41FA5}">
                      <a16:colId xmlns:a16="http://schemas.microsoft.com/office/drawing/2014/main" val="2431034826"/>
                    </a:ext>
                  </a:extLst>
                </a:gridCol>
                <a:gridCol w="2032000">
                  <a:extLst>
                    <a:ext uri="{9D8B030D-6E8A-4147-A177-3AD203B41FA5}">
                      <a16:colId xmlns:a16="http://schemas.microsoft.com/office/drawing/2014/main" val="1163093859"/>
                    </a:ext>
                  </a:extLst>
                </a:gridCol>
              </a:tblGrid>
              <a:tr h="1439443">
                <a:tc>
                  <a:txBody>
                    <a:bodyPr/>
                    <a:lstStyle/>
                    <a:p>
                      <a:endParaRPr lang="en-IN"/>
                    </a:p>
                  </a:txBody>
                  <a:tcP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p>
                  </a:txBody>
                  <a:tcP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134320"/>
                  </a:ext>
                </a:extLst>
              </a:tr>
              <a:tr h="1439443">
                <a:tc>
                  <a:txBody>
                    <a:bodyPr/>
                    <a:lstStyle/>
                    <a:p>
                      <a:endParaRPr lang="en-IN"/>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4220661"/>
                  </a:ext>
                </a:extLst>
              </a:tr>
              <a:tr h="1439443">
                <a:tc>
                  <a:txBody>
                    <a:bodyPr/>
                    <a:lstStyle/>
                    <a:p>
                      <a:endParaRPr lang="en-IN" dirty="0"/>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9255662"/>
                  </a:ext>
                </a:extLst>
              </a:tr>
              <a:tr h="1439443">
                <a:tc gridSpan="6">
                  <a:txBody>
                    <a:bodyPr/>
                    <a:lstStyle/>
                    <a:p>
                      <a:pPr algn="ctr"/>
                      <a:r>
                        <a:rPr lang="en-US" sz="1800" dirty="0"/>
                        <a:t> </a:t>
                      </a:r>
                      <a:endParaRPr lang="en-US" sz="2400" dirty="0"/>
                    </a:p>
                    <a:p>
                      <a:pPr algn="ctr"/>
                      <a:r>
                        <a:rPr lang="en-US" sz="2400" dirty="0"/>
                        <a:t>Every smile you sparked, every hour you gave – it mattered. Thank you for being the change</a:t>
                      </a:r>
                    </a:p>
                    <a:p>
                      <a:pPr algn="ctr"/>
                      <a:r>
                        <a:rPr lang="en-US" sz="2400" dirty="0"/>
                        <a:t> </a:t>
                      </a:r>
                      <a:endParaRPr lang="en-IN" sz="2400" dirty="0"/>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dirty="0"/>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90588"/>
                  </a:ext>
                </a:extLst>
              </a:tr>
              <a:tr h="1439443">
                <a:tc>
                  <a:txBody>
                    <a:bodyPr/>
                    <a:lstStyle/>
                    <a:p>
                      <a:endParaRPr lang="en-IN"/>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dirty="0"/>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6994492"/>
                  </a:ext>
                </a:extLst>
              </a:tr>
            </a:tbl>
          </a:graphicData>
        </a:graphic>
      </p:graphicFrame>
      <p:pic>
        <p:nvPicPr>
          <p:cNvPr id="5" name="Picture 4">
            <a:extLst>
              <a:ext uri="{FF2B5EF4-FFF2-40B4-BE49-F238E27FC236}">
                <a16:creationId xmlns:a16="http://schemas.microsoft.com/office/drawing/2014/main" id="{75E8C25F-4D47-149A-B82C-F60390E3605C}"/>
              </a:ext>
            </a:extLst>
          </p:cNvPr>
          <p:cNvPicPr>
            <a:picLocks noChangeAspect="1"/>
          </p:cNvPicPr>
          <p:nvPr/>
        </p:nvPicPr>
        <p:blipFill>
          <a:blip r:embed="R6203e95544f3423d">
            <a:extLst>
              <a:ext uri="{28A0092B-C50C-407E-A947-70E740481C1C}">
                <a14:useLocalDpi xmlns:a14="http://schemas.microsoft.com/office/drawing/2010/main" val="0"/>
              </a:ext>
            </a:extLst>
          </a:blip>
          <a:stretch>
            <a:fillRect/>
          </a:stretch>
        </p:blipFill>
        <p:spPr>
          <a:xfrm>
            <a:off x="10385004" y="-14692"/>
            <a:ext cx="1482531" cy="1712827"/>
          </a:xfrm>
          <a:prstGeom prst="rect">
            <a:avLst/>
          </a:prstGeom>
        </p:spPr>
      </p:pic>
    </p:spTree>
    <p:extLst>
      <p:ext uri="{BB962C8B-B14F-4D97-AF65-F5344CB8AC3E}">
        <p14:creationId xmlns:p14="http://schemas.microsoft.com/office/powerpoint/2010/main" val="2941816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51B9-4773-9374-2BA8-ABA0DDFF7C81}"/>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FBD1BB4-B293-EB68-F057-BEC70EEA9768}"/>
              </a:ext>
            </a:extLst>
          </p:cNvPr>
          <p:cNvSpPr>
            <a:spLocks noGrp="1"/>
          </p:cNvSpPr>
          <p:nvPr>
            <p:ph type="subTitle" idx="1"/>
          </p:nvPr>
        </p:nvSpPr>
        <p:spPr/>
        <p:txBody>
          <a:bodyPr/>
          <a:lstStyle/>
          <a:p>
            <a:endParaRPr lang="en-IN"/>
          </a:p>
        </p:txBody>
      </p:sp>
      <p:sp>
        <p:nvSpPr>
          <p:cNvPr id="4" name="Rectangle 3">
            <a:extLst>
              <a:ext uri="{FF2B5EF4-FFF2-40B4-BE49-F238E27FC236}">
                <a16:creationId xmlns:a16="http://schemas.microsoft.com/office/drawing/2014/main" id="{4EDA0671-F5C8-EE6D-044F-CC09DD2F9BAD}"/>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5" name="Picture 4">
            <a:extLst>
              <a:ext uri="{FF2B5EF4-FFF2-40B4-BE49-F238E27FC236}">
                <a16:creationId xmlns:a16="http://schemas.microsoft.com/office/drawing/2014/main" id="{0D6505A3-4518-D4DC-32B7-CF2EE1281BF8}"/>
              </a:ext>
            </a:extLst>
          </p:cNvPr>
          <p:cNvPicPr>
            <a:picLocks noChangeAspect="1"/>
          </p:cNvPicPr>
          <p:nvPr/>
        </p:nvPicPr>
        <p:blipFill>
          <a:blip r:embed="R10da6ff644a84c26">
            <a:extLst>
              <a:ext uri="{28A0092B-C50C-407E-A947-70E740481C1C}">
                <a14:useLocalDpi xmlns:a14="http://schemas.microsoft.com/office/drawing/2010/main" val="0"/>
              </a:ext>
            </a:extLst>
          </a:blip>
          <a:stretch>
            <a:fillRect/>
          </a:stretch>
        </p:blipFill>
        <p:spPr>
          <a:xfrm>
            <a:off x="10501843" y="-169606"/>
            <a:ext cx="1531849" cy="1769806"/>
          </a:xfrm>
          <a:prstGeom prst="rect">
            <a:avLst/>
          </a:prstGeom>
        </p:spPr>
      </p:pic>
      <p:sp>
        <p:nvSpPr>
          <p:cNvPr id="6" name="TextBox 5">
            <a:extLst>
              <a:ext uri="{FF2B5EF4-FFF2-40B4-BE49-F238E27FC236}">
                <a16:creationId xmlns:a16="http://schemas.microsoft.com/office/drawing/2014/main" id="{E8C0747F-DB22-20DC-A6EA-959D28C25710}"/>
              </a:ext>
            </a:extLst>
          </p:cNvPr>
          <p:cNvSpPr txBox="1"/>
          <p:nvPr/>
        </p:nvSpPr>
        <p:spPr>
          <a:xfrm>
            <a:off x="1238865" y="1769806"/>
            <a:ext cx="10235381" cy="2246769"/>
          </a:xfrm>
          <a:prstGeom prst="rect">
            <a:avLst/>
          </a:prstGeom>
          <a:noFill/>
        </p:spPr>
        <p:txBody>
          <a:bodyPr wrap="square" rtlCol="0">
            <a:spAutoFit/>
          </a:bodyPr>
          <a:lstStyle/>
          <a:p>
            <a:r>
              <a:rPr lang="en-US" sz="9600" dirty="0">
                <a:latin typeface="Bahnschrift SemiBold SemiConden" panose="020B0502040204020203" pitchFamily="34" charset="0"/>
              </a:rPr>
              <a:t>Child Rights and You</a:t>
            </a:r>
          </a:p>
          <a:p>
            <a:r>
              <a:rPr lang="en-US" sz="4400" dirty="0">
                <a:latin typeface="Bahnschrift Condensed" panose="020B0502040204020203" pitchFamily="34" charset="0"/>
              </a:rPr>
              <a:t>Vol cycle- Rec, Orient, Engage, Track</a:t>
            </a:r>
            <a:endParaRPr lang="en-IN" sz="4400" dirty="0">
              <a:latin typeface="Bahnschrift Condensed" panose="020B0502040204020203" pitchFamily="34" charset="0"/>
            </a:endParaRPr>
          </a:p>
        </p:txBody>
      </p:sp>
    </p:spTree>
    <p:extLst>
      <p:ext uri="{BB962C8B-B14F-4D97-AF65-F5344CB8AC3E}">
        <p14:creationId xmlns:p14="http://schemas.microsoft.com/office/powerpoint/2010/main" val="1482172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DA0671-F5C8-EE6D-044F-CC09DD2F9BAD}"/>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0D6505A3-4518-D4DC-32B7-CF2EE1281BF8}"/>
              </a:ext>
            </a:extLst>
          </p:cNvPr>
          <p:cNvPicPr>
            <a:picLocks noChangeAspect="1"/>
          </p:cNvPicPr>
          <p:nvPr/>
        </p:nvPicPr>
        <p:blipFill>
          <a:blip r:embed="R0a882e5363484b67">
            <a:extLst>
              <a:ext uri="{28A0092B-C50C-407E-A947-70E740481C1C}">
                <a14:useLocalDpi xmlns:a14="http://schemas.microsoft.com/office/drawing/2010/main" val="0"/>
              </a:ext>
            </a:extLst>
          </a:blip>
          <a:stretch>
            <a:fillRect/>
          </a:stretch>
        </p:blipFill>
        <p:spPr>
          <a:xfrm>
            <a:off x="10560837" y="-208935"/>
            <a:ext cx="1531849" cy="1769806"/>
          </a:xfrm>
          <a:prstGeom prst="rect">
            <a:avLst/>
          </a:prstGeom>
        </p:spPr>
      </p:pic>
      <p:pic>
        <p:nvPicPr>
          <p:cNvPr id="2050" name="Picture 2" descr="Volunteer at CRY India &amp; Be a Child Rights Champion">
            <a:extLst>
              <a:ext uri="{FF2B5EF4-FFF2-40B4-BE49-F238E27FC236}">
                <a16:creationId xmlns:a16="http://schemas.microsoft.com/office/drawing/2014/main" id="{D28DF7E7-08AF-CD2E-09C6-65C51DC8DA05}"/>
              </a:ext>
            </a:extLst>
          </p:cNvPr>
          <p:cNvPicPr>
            <a:picLocks noChangeAspect="1" noChangeArrowheads="1"/>
          </p:cNvPicPr>
          <p:nvPr/>
        </p:nvPicPr>
        <p:blipFill>
          <a:blip r:embed="R94456d7539a845c7">
            <a:extLst>
              <a:ext uri="{BEBA8EAE-BF5A-486C-A8C5-ECC9F3942E4B}">
                <a14:imgProps xmlns:a14="http://schemas.microsoft.com/office/drawing/2010/main">
                  <a14:imgLayer r:embed="R9d246bc1aba7482f">
                    <a14:imgEffect>
                      <a14:backgroundRemoval t="3574" b="98076" l="1410" r="99024">
                        <a14:foregroundMark x1="52495" y1="14914" x2="42625" y2="6804"/>
                        <a14:foregroundMark x1="42625" y1="6804" x2="31128" y2="11959"/>
                        <a14:foregroundMark x1="31128" y1="11959" x2="33514" y2="15464"/>
                        <a14:foregroundMark x1="44360" y1="16495" x2="64208" y2="10997"/>
                        <a14:foregroundMark x1="64208" y1="10997" x2="67462" y2="10928"/>
                        <a14:foregroundMark x1="67462" y1="11203" x2="51410" y2="5017"/>
                        <a14:foregroundMark x1="51410" y1="5017" x2="45987" y2="8316"/>
                        <a14:foregroundMark x1="36009" y1="7010" x2="60846" y2="3574"/>
                        <a14:foregroundMark x1="60846" y1="3574" x2="71150" y2="12165"/>
                        <a14:foregroundMark x1="71150" y1="12165" x2="68221" y2="23574"/>
                        <a14:foregroundMark x1="68221" y1="23574" x2="64751" y2="28110"/>
                        <a14:foregroundMark x1="7701" y1="57182" x2="8134" y2="63643"/>
                        <a14:foregroundMark x1="9328" y1="61375" x2="1952" y2="88247"/>
                        <a14:foregroundMark x1="1952" y1="88247" x2="2711" y2="95533"/>
                        <a14:foregroundMark x1="2711" y1="95533" x2="15944" y2="92440"/>
                        <a14:foregroundMark x1="15944" y1="92440" x2="34165" y2="91959"/>
                        <a14:foregroundMark x1="34165" y1="91959" x2="49675" y2="97732"/>
                        <a14:foregroundMark x1="49675" y1="97732" x2="74620" y2="99107"/>
                        <a14:foregroundMark x1="74620" y1="99107" x2="87310" y2="96357"/>
                        <a14:foregroundMark x1="87310" y1="96357" x2="96963" y2="46186"/>
                        <a14:foregroundMark x1="96963" y1="46186" x2="91432" y2="39863"/>
                        <a14:foregroundMark x1="91432" y1="39863" x2="90998" y2="39725"/>
                        <a14:foregroundMark x1="72017" y1="12027" x2="71692" y2="22543"/>
                        <a14:foregroundMark x1="40998" y1="26529" x2="59002" y2="28866"/>
                        <a14:foregroundMark x1="59002" y1="28866" x2="46095" y2="30172"/>
                        <a14:foregroundMark x1="46095" y1="30172" x2="40564" y2="28385"/>
                        <a14:foregroundMark x1="40239" y1="28385" x2="37093" y2="26804"/>
                        <a14:foregroundMark x1="31887" y1="15052" x2="31453" y2="22199"/>
                        <a14:foregroundMark x1="33731" y1="26804" x2="40130" y2="32440"/>
                        <a14:foregroundMark x1="40130" y1="32440" x2="40239" y2="32990"/>
                        <a14:foregroundMark x1="36226" y1="28660" x2="39371" y2="35533"/>
                        <a14:foregroundMark x1="38069" y1="39313" x2="17354" y2="47216"/>
                        <a14:foregroundMark x1="17354" y1="47216" x2="868" y2="92715"/>
                        <a14:foregroundMark x1="868" y1="92715" x2="18221" y2="96838"/>
                        <a14:foregroundMark x1="18221" y1="96838" x2="37852" y2="96976"/>
                        <a14:foregroundMark x1="37852" y1="96976" x2="64317" y2="96838"/>
                        <a14:foregroundMark x1="64317" y1="96838" x2="86009" y2="98213"/>
                        <a14:foregroundMark x1="82430" y1="92921" x2="39696" y2="96564"/>
                        <a14:foregroundMark x1="39696" y1="96564" x2="44577" y2="96770"/>
                        <a14:foregroundMark x1="95987" y1="45430" x2="95336" y2="69485"/>
                        <a14:foregroundMark x1="95336" y1="69485" x2="85792" y2="85704"/>
                        <a14:foregroundMark x1="92372" y1="92792" x2="93291" y2="93782"/>
                        <a14:foregroundMark x1="85792" y1="85704" x2="91926" y2="92312"/>
                        <a14:foregroundMark x1="98124" y1="65474" x2="99132" y2="57320"/>
                        <a14:foregroundMark x1="94580" y1="94156" x2="94854" y2="91945"/>
                        <a14:foregroundMark x1="1410" y1="82268" x2="3579" y2="96495"/>
                        <a14:backgroundMark x1="99783" y1="65498" x2="98590" y2="98832"/>
                        <a14:backgroundMark x1="98590" y1="98832" x2="92516" y2="92509"/>
                        <a14:backgroundMark x1="92516" y1="92509" x2="93275" y2="82405"/>
                        <a14:backgroundMark x1="93275" y1="82405" x2="98915" y2="73127"/>
                        <a14:backgroundMark x1="97939" y1="72990" x2="96855" y2="90928"/>
                        <a14:backgroundMark x1="96855" y1="90928" x2="93926" y2="91065"/>
                        <a14:backgroundMark x1="30803" y1="25223" x2="31887" y2="33677"/>
                      </a14:backgroundRemoval>
                    </a14:imgEffect>
                  </a14:imgLayer>
                </a14:imgProps>
              </a:ext>
              <a:ext uri="{28A0092B-C50C-407E-A947-70E740481C1C}">
                <a14:useLocalDpi xmlns:a14="http://schemas.microsoft.com/office/drawing/2010/main" val="0"/>
              </a:ext>
            </a:extLst>
          </a:blip>
          <a:srcRect/>
          <a:stretch>
            <a:fillRect/>
          </a:stretch>
        </p:blipFill>
        <p:spPr bwMode="auto">
          <a:xfrm>
            <a:off x="4168877" y="1155290"/>
            <a:ext cx="3613036" cy="570271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4266F99-0C22-EEF5-B85E-1502860BEA08}"/>
              </a:ext>
            </a:extLst>
          </p:cNvPr>
          <p:cNvSpPr txBox="1"/>
          <p:nvPr/>
        </p:nvSpPr>
        <p:spPr>
          <a:xfrm>
            <a:off x="3362632" y="306239"/>
            <a:ext cx="6233652" cy="1015663"/>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IN" sz="6000" dirty="0">
                <a:latin typeface="Arial Black" panose="020B0A04020102020204" pitchFamily="34" charset="0"/>
              </a:rPr>
              <a:t>ABOUT CRY </a:t>
            </a:r>
          </a:p>
        </p:txBody>
      </p:sp>
    </p:spTree>
    <p:extLst>
      <p:ext uri="{BB962C8B-B14F-4D97-AF65-F5344CB8AC3E}">
        <p14:creationId xmlns:p14="http://schemas.microsoft.com/office/powerpoint/2010/main" val="37080535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60085-7F52-4926-4F99-304616225E0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06B5C82-C2FA-756D-F873-950B09F0F91C}"/>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D0BA9531-765D-4316-8467-0780916A576E}"/>
              </a:ext>
            </a:extLst>
          </p:cNvPr>
          <p:cNvPicPr>
            <a:picLocks noChangeAspect="1"/>
          </p:cNvPicPr>
          <p:nvPr/>
        </p:nvPicPr>
        <p:blipFill>
          <a:blip r:embed="Rbe97ef3910394844">
            <a:extLst>
              <a:ext uri="{28A0092B-C50C-407E-A947-70E740481C1C}">
                <a14:useLocalDpi xmlns:a14="http://schemas.microsoft.com/office/drawing/2010/main" val="0"/>
              </a:ext>
            </a:extLst>
          </a:blip>
          <a:stretch>
            <a:fillRect/>
          </a:stretch>
        </p:blipFill>
        <p:spPr>
          <a:xfrm>
            <a:off x="10560837" y="-208935"/>
            <a:ext cx="1531849" cy="1769806"/>
          </a:xfrm>
          <a:prstGeom prst="rect">
            <a:avLst/>
          </a:prstGeom>
        </p:spPr>
      </p:pic>
      <p:pic>
        <p:nvPicPr>
          <p:cNvPr id="2050" name="Picture 2" descr="Volunteer at CRY India &amp; Be a Child Rights Champion">
            <a:extLst>
              <a:ext uri="{FF2B5EF4-FFF2-40B4-BE49-F238E27FC236}">
                <a16:creationId xmlns:a16="http://schemas.microsoft.com/office/drawing/2014/main" id="{C0CB7912-3D85-ED83-F0B6-39DA20353F3D}"/>
              </a:ext>
            </a:extLst>
          </p:cNvPr>
          <p:cNvPicPr>
            <a:picLocks noChangeAspect="1" noChangeArrowheads="1"/>
          </p:cNvPicPr>
          <p:nvPr/>
        </p:nvPicPr>
        <p:blipFill>
          <a:blip r:embed="Rb0fa58d0d3474475">
            <a:extLst>
              <a:ext uri="{BEBA8EAE-BF5A-486C-A8C5-ECC9F3942E4B}">
                <a14:imgProps xmlns:a14="http://schemas.microsoft.com/office/drawing/2010/main">
                  <a14:imgLayer r:embed="Rd339633f2d8646a7">
                    <a14:imgEffect>
                      <a14:backgroundRemoval t="3574" b="98076" l="1410" r="99024">
                        <a14:foregroundMark x1="52495" y1="14914" x2="42625" y2="6804"/>
                        <a14:foregroundMark x1="42625" y1="6804" x2="31128" y2="11959"/>
                        <a14:foregroundMark x1="31128" y1="11959" x2="33514" y2="15464"/>
                        <a14:foregroundMark x1="44360" y1="16495" x2="64208" y2="10997"/>
                        <a14:foregroundMark x1="64208" y1="10997" x2="67462" y2="10928"/>
                        <a14:foregroundMark x1="67462" y1="11203" x2="51410" y2="5017"/>
                        <a14:foregroundMark x1="51410" y1="5017" x2="45987" y2="8316"/>
                        <a14:foregroundMark x1="36009" y1="7010" x2="60846" y2="3574"/>
                        <a14:foregroundMark x1="60846" y1="3574" x2="71150" y2="12165"/>
                        <a14:foregroundMark x1="71150" y1="12165" x2="68221" y2="23574"/>
                        <a14:foregroundMark x1="68221" y1="23574" x2="64751" y2="28110"/>
                        <a14:foregroundMark x1="7701" y1="57182" x2="8134" y2="63643"/>
                        <a14:foregroundMark x1="9328" y1="61375" x2="1952" y2="88247"/>
                        <a14:foregroundMark x1="1952" y1="88247" x2="2711" y2="95533"/>
                        <a14:foregroundMark x1="2711" y1="95533" x2="15944" y2="92440"/>
                        <a14:foregroundMark x1="15944" y1="92440" x2="34165" y2="91959"/>
                        <a14:foregroundMark x1="34165" y1="91959" x2="49675" y2="97732"/>
                        <a14:foregroundMark x1="49675" y1="97732" x2="74620" y2="99107"/>
                        <a14:foregroundMark x1="74620" y1="99107" x2="87310" y2="96357"/>
                        <a14:foregroundMark x1="87310" y1="96357" x2="96963" y2="46186"/>
                        <a14:foregroundMark x1="96963" y1="46186" x2="91432" y2="39863"/>
                        <a14:foregroundMark x1="91432" y1="39863" x2="90998" y2="39725"/>
                        <a14:foregroundMark x1="72017" y1="12027" x2="71692" y2="22543"/>
                        <a14:foregroundMark x1="40998" y1="26529" x2="59002" y2="28866"/>
                        <a14:foregroundMark x1="59002" y1="28866" x2="46095" y2="30172"/>
                        <a14:foregroundMark x1="46095" y1="30172" x2="40564" y2="28385"/>
                        <a14:foregroundMark x1="40239" y1="28385" x2="37093" y2="26804"/>
                        <a14:foregroundMark x1="31887" y1="15052" x2="31453" y2="22199"/>
                        <a14:foregroundMark x1="33731" y1="26804" x2="40130" y2="32440"/>
                        <a14:foregroundMark x1="40130" y1="32440" x2="40239" y2="32990"/>
                        <a14:foregroundMark x1="36226" y1="28660" x2="39371" y2="35533"/>
                        <a14:foregroundMark x1="38069" y1="39313" x2="17354" y2="47216"/>
                        <a14:foregroundMark x1="17354" y1="47216" x2="868" y2="92715"/>
                        <a14:foregroundMark x1="868" y1="92715" x2="18221" y2="96838"/>
                        <a14:foregroundMark x1="18221" y1="96838" x2="37852" y2="96976"/>
                        <a14:foregroundMark x1="37852" y1="96976" x2="64317" y2="96838"/>
                        <a14:foregroundMark x1="64317" y1="96838" x2="86009" y2="98213"/>
                        <a14:foregroundMark x1="82430" y1="92921" x2="39696" y2="96564"/>
                        <a14:foregroundMark x1="39696" y1="96564" x2="44577" y2="96770"/>
                        <a14:foregroundMark x1="95987" y1="45430" x2="95336" y2="69485"/>
                        <a14:foregroundMark x1="95336" y1="69485" x2="85792" y2="85704"/>
                        <a14:foregroundMark x1="92372" y1="92792" x2="93291" y2="93782"/>
                        <a14:foregroundMark x1="85792" y1="85704" x2="91926" y2="92312"/>
                        <a14:foregroundMark x1="98124" y1="65474" x2="99132" y2="57320"/>
                        <a14:foregroundMark x1="94580" y1="94156" x2="94854" y2="91945"/>
                        <a14:foregroundMark x1="1410" y1="82268" x2="3579" y2="96495"/>
                        <a14:backgroundMark x1="99783" y1="65498" x2="98590" y2="98832"/>
                        <a14:backgroundMark x1="98590" y1="98832" x2="92516" y2="92509"/>
                        <a14:backgroundMark x1="92516" y1="92509" x2="93275" y2="82405"/>
                        <a14:backgroundMark x1="93275" y1="82405" x2="98915" y2="73127"/>
                        <a14:backgroundMark x1="97939" y1="72990" x2="96855" y2="90928"/>
                        <a14:backgroundMark x1="96855" y1="90928" x2="93926" y2="91065"/>
                        <a14:backgroundMark x1="30803" y1="25223" x2="31887" y2="33677"/>
                      </a14:backgroundRemoval>
                    </a14:imgEffect>
                  </a14:imgLayer>
                </a14:imgProps>
              </a:ext>
              <a:ext uri="{28A0092B-C50C-407E-A947-70E740481C1C}">
                <a14:useLocalDpi xmlns:a14="http://schemas.microsoft.com/office/drawing/2010/main" val="0"/>
              </a:ext>
            </a:extLst>
          </a:blip>
          <a:srcRect/>
          <a:stretch>
            <a:fillRect/>
          </a:stretch>
        </p:blipFill>
        <p:spPr bwMode="auto">
          <a:xfrm>
            <a:off x="0" y="1155290"/>
            <a:ext cx="3613036" cy="570271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96B80FE-B1C2-68E4-0991-2920475E72D6}"/>
              </a:ext>
            </a:extLst>
          </p:cNvPr>
          <p:cNvSpPr txBox="1"/>
          <p:nvPr/>
        </p:nvSpPr>
        <p:spPr>
          <a:xfrm>
            <a:off x="471629" y="228117"/>
            <a:ext cx="6282813" cy="1015663"/>
          </a:xfrm>
          <a:prstGeom prst="rect">
            <a:avLst/>
          </a:prstGeom>
          <a:noFill/>
        </p:spPr>
        <p:txBody>
          <a:bodyPr wrap="square" rtlCol="0">
            <a:spAutoFit/>
          </a:bodyPr>
          <a:lstStyle/>
          <a:p>
            <a:r>
              <a:rPr lang="en-IN" sz="6000" dirty="0">
                <a:latin typeface="Arial Black" panose="020B0A04020102020204" pitchFamily="34" charset="0"/>
              </a:rPr>
              <a:t>ABOUT CRY </a:t>
            </a:r>
          </a:p>
        </p:txBody>
      </p:sp>
      <p:sp>
        <p:nvSpPr>
          <p:cNvPr id="6" name="Rectangle 5">
            <a:extLst>
              <a:ext uri="{FF2B5EF4-FFF2-40B4-BE49-F238E27FC236}">
                <a16:creationId xmlns:a16="http://schemas.microsoft.com/office/drawing/2014/main" id="{26EF8BC3-809D-2AF0-9927-13B897A82675}"/>
              </a:ext>
            </a:extLst>
          </p:cNvPr>
          <p:cNvSpPr/>
          <p:nvPr/>
        </p:nvSpPr>
        <p:spPr>
          <a:xfrm>
            <a:off x="4522839" y="2487561"/>
            <a:ext cx="7108722" cy="357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9839D3E-6532-47F5-D166-6153F7EB04E1}"/>
              </a:ext>
            </a:extLst>
          </p:cNvPr>
          <p:cNvSpPr txBox="1"/>
          <p:nvPr/>
        </p:nvSpPr>
        <p:spPr>
          <a:xfrm>
            <a:off x="4522839" y="2870607"/>
            <a:ext cx="7108722" cy="2677656"/>
          </a:xfrm>
          <a:prstGeom prst="rect">
            <a:avLst/>
          </a:prstGeom>
          <a:noFill/>
        </p:spPr>
        <p:txBody>
          <a:bodyPr wrap="square" rtlCol="0">
            <a:spAutoFit/>
          </a:bodyPr>
          <a:lstStyle/>
          <a:p>
            <a:r>
              <a:rPr lang="en-US" sz="2800" dirty="0">
                <a:latin typeface="Bahnschrift Condensed" panose="020B0502040204020203" pitchFamily="34" charset="0"/>
              </a:rPr>
              <a:t>What began in 1979 as a small dream—with just ₹50 and a group of six friends led by Indian Airlines purser </a:t>
            </a:r>
            <a:r>
              <a:rPr lang="en-US" sz="2800" dirty="0" err="1">
                <a:latin typeface="Bahnschrift Condensed" panose="020B0502040204020203" pitchFamily="34" charset="0"/>
              </a:rPr>
              <a:t>Rippan</a:t>
            </a:r>
            <a:r>
              <a:rPr lang="en-US" sz="2800" dirty="0">
                <a:latin typeface="Bahnschrift Condensed" panose="020B0502040204020203" pitchFamily="34" charset="0"/>
              </a:rPr>
              <a:t> Kapur—has grown into one of India’s most impactful child rights movements. Today, CRY partners with 144 grassroots organizations across 20 states and has transformed the lives of over 4.7 million children.</a:t>
            </a:r>
            <a:endParaRPr lang="en-IN" sz="2800" dirty="0">
              <a:latin typeface="Bahnschrift Condensed" panose="020B0502040204020203" pitchFamily="34" charset="0"/>
            </a:endParaRPr>
          </a:p>
        </p:txBody>
      </p:sp>
    </p:spTree>
    <p:extLst>
      <p:ext uri="{BB962C8B-B14F-4D97-AF65-F5344CB8AC3E}">
        <p14:creationId xmlns:p14="http://schemas.microsoft.com/office/powerpoint/2010/main" val="3072791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22B8F665-32DE-5C28-F0EE-F0313E4DBCB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C0B9551-207B-0623-158B-1178C835229D}"/>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anchor="ctr" rtlCol="0"/>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25BCE5AD-A0FC-6D70-246E-16FAA6857996}"/>
              </a:ext>
            </a:extLst>
          </p:cNvPr>
          <p:cNvPicPr>
            <a:picLocks noChangeAspect="1"/>
          </p:cNvPicPr>
          <p:nvPr/>
        </p:nvPicPr>
        <p:blipFill>
          <a:blip r:embed="R110a2fd4c9a94176">
            <a:extLst>
              <a:ext uri="{28A0092B-C50C-407E-A947-70E740481C1C}">
                <a14:useLocalDpi xmlns:a14="http://schemas.microsoft.com/office/drawing/2010/main" val="0"/>
              </a:ext>
            </a:extLst>
          </a:blip>
          <a:stretch>
            <a:fillRect/>
          </a:stretch>
        </p:blipFill>
        <p:spPr>
          <a:xfrm>
            <a:off x="10560837" y="-208935"/>
            <a:ext cx="1531849" cy="1769806"/>
          </a:xfrm>
          <a:prstGeom prst="rect">
            <a:avLst/>
          </a:prstGeom>
        </p:spPr>
      </p:pic>
      <p:pic>
        <p:nvPicPr>
          <p:cNvPr id="5" name="Picture 4">
            <a:extLst>
              <a:ext uri="{FF2B5EF4-FFF2-40B4-BE49-F238E27FC236}">
                <a16:creationId xmlns:a16="http://schemas.microsoft.com/office/drawing/2014/main" id="{5CAAEAF8-86DE-A8D6-7BB5-4D3135B0099E}"/>
              </a:ext>
            </a:extLst>
          </p:cNvPr>
          <p:cNvPicPr>
            <a:picLocks noChangeAspect="1"/>
          </p:cNvPicPr>
          <p:nvPr/>
        </p:nvPicPr>
        <p:blipFill>
          <a:blip r:embed="Raa9fcc1ee0b74d82">
            <a:extLst>
              <a:ext uri="{28A0092B-C50C-407E-A947-70E740481C1C}">
                <a14:useLocalDpi xmlns:a14="http://schemas.microsoft.com/office/drawing/2010/main" val="0"/>
              </a:ext>
            </a:extLst>
          </a:blip>
          <a:stretch>
            <a:fillRect/>
          </a:stretch>
        </p:blipFill>
        <p:spPr>
          <a:xfrm>
            <a:off x="3289554" y="6968"/>
            <a:ext cx="6565646" cy="6851031"/>
          </a:xfrm>
          <a:prstGeom prst="rect">
            <a:avLst/>
          </a:prstGeom>
        </p:spPr>
      </p:pic>
      <p:pic>
        <p:nvPicPr>
          <p:cNvPr descr="India vector map isolated on white background. India map with states. Indian background." id="6" name="Picture 4">
            <a:extLst>
              <a:ext uri="{FF2B5EF4-FFF2-40B4-BE49-F238E27FC236}">
                <a16:creationId xmlns:a16="http://schemas.microsoft.com/office/drawing/2014/main" id="{4262E13E-F3AB-588E-01C7-19247A5FD940}"/>
              </a:ext>
            </a:extLst>
          </p:cNvPr>
          <p:cNvPicPr>
            <a:picLocks noChangeArrowheads="1" noChangeAspect="1"/>
          </p:cNvPicPr>
          <p:nvPr/>
        </p:nvPicPr>
        <p:blipFill rotWithShape="1">
          <a:blip r:embed="R2a0b2b9036c04cec">
            <a:alphaModFix amt="20000"/>
            <a:extLst>
              <a:ext uri="{BEBA8EAE-BF5A-486C-A8C5-ECC9F3942E4B}">
                <a14:imgProps xmlns:a14="http://schemas.microsoft.com/office/drawing/2010/main">
                  <a14:imgLayer r:embed="Rdacbe3f8f4f74268">
                    <a14:imgEffect>
                      <a14:backgroundRemoval b="90000" l="10000" r="90000" t="10000">
                        <a14:foregroundMark x1="80778" x2="87000" y1="37600" y2="32800"/>
                        <a14:foregroundMark x1="87000" x2="80889" y1="32800" y2="38700"/>
                        <a14:foregroundMark x1="66111" x2="71333" y1="37700" y2="39000"/>
                        <a14:foregroundMark x1="79667" x2="75333" y1="44300" y2="46600"/>
                        <a14:foregroundMark x1="65778" x2="67000" y1="36300" y2="35800"/>
                        <a14:foregroundMark x1="58889" x2="40444" y1="58100" y2="62200"/>
                        <a14:foregroundMark x1="40444" x2="49667" y1="62200" y2="53300"/>
                        <a14:foregroundMark x1="21222" x2="22000" y1="43600" y2="49300"/>
                        <a14:foregroundMark x1="20000" x2="19444" y1="40400" y2="46600"/>
                        <a14:foregroundMark x1="24333" x2="28444" y1="54100" y2="64100"/>
                        <a14:foregroundMark x1="28444" x2="28222" y1="64100" y2="75800"/>
                        <a14:foregroundMark x1="28222" x2="35667" y1="75800" y2="86500"/>
                        <a14:foregroundMark x1="24000" x2="25333" y1="67200" y2="72300"/>
                        <a14:foregroundMark x1="23444" x2="22778" y1="51300" y2="59900"/>
                        <a14:foregroundMark x1="79333" x2="77444" y1="36000" y2="39400"/>
                        <a14:foregroundMark x1="83000" x2="83000" y1="40900" y2="43400"/>
                        <a14:foregroundMark x1="82222" x2="84111" y1="37400" y2="42300"/>
                        <a14:foregroundMark x1="85000" x2="83000" y1="40000" y2="42700"/>
                        <a14:foregroundMark x1="66778" x2="62000" y1="51200" y2="53900"/>
                        <a14:foregroundMark x1="24667" x2="24817" y1="73300" y2="73712"/>
                        <a14:foregroundMark x1="29966" x2="33778" y1="83911" y2="88200"/>
                        <a14:foregroundMark x1="33778" x2="33778" y1="88200" y2="88200"/>
                        <a14:backgroundMark x1="24556" x2="29111" y1="73800" y2="84200"/>
                      </a14:backgroundRemoval>
                    </a14:imgEffect>
                  </a14:imgLayer>
                </a14:imgProps>
              </a:ext>
              <a:ext uri="{28A0092B-C50C-407E-A947-70E740481C1C}">
                <a14:useLocalDpi xmlns:a14="http://schemas.microsoft.com/office/drawing/2010/main" val="0"/>
              </a:ext>
            </a:extLst>
          </a:blip>
          <a:srcRect b="55" l="57" r="20" t="148"/>
          <a:stretch/>
        </p:blipFill>
        <p:spPr bwMode="auto">
          <a:xfrm>
            <a:off x="4714239" y="4517861"/>
            <a:ext cx="2143761" cy="233317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DC23265-5AA3-A0C6-F698-89FC3A1BA1EF}"/>
              </a:ext>
            </a:extLst>
          </p:cNvPr>
          <p:cNvSpPr txBox="1"/>
          <p:nvPr/>
        </p:nvSpPr>
        <p:spPr>
          <a:xfrm>
            <a:off x="259080" y="406400"/>
            <a:ext cx="4155440" cy="369332"/>
          </a:xfrm>
          <a:prstGeom prst="rect">
            <a:avLst/>
          </a:prstGeom>
          <a:noFill/>
        </p:spPr>
        <p:txBody>
          <a:bodyPr rtlCol="0" wrap="square">
            <a:spAutoFit/>
          </a:bodyPr>
          <a:lstStyle/>
          <a:p>
            <a:r>
              <a:rPr dirty="0" lang="en-IN">
                <a:latin charset="0" panose="020B0A04020102020204" pitchFamily="34" typeface="Arial Black"/>
              </a:rPr>
              <a:t>All-India Volunteer Presence</a:t>
            </a:r>
          </a:p>
        </p:txBody>
      </p:sp>
      <p:sp>
        <p:nvSpPr>
          <p:cNvPr id="4" name="Rectangle 3">
            <a:extLst>
              <a:ext uri="{FF2B5EF4-FFF2-40B4-BE49-F238E27FC236}">
                <a16:creationId xmlns:a16="http://schemas.microsoft.com/office/drawing/2014/main" id="{087BC360-7D2E-2BE4-85F4-C8946EE28019}"/>
              </a:ext>
            </a:extLst>
          </p:cNvPr>
          <p:cNvSpPr/>
          <p:nvPr/>
        </p:nvSpPr>
        <p:spPr>
          <a:xfrm>
            <a:off x="5093110" y="2959509"/>
            <a:ext cx="1347019" cy="58993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IN"/>
          </a:p>
        </p:txBody>
      </p:sp>
      <p:sp>
        <p:nvSpPr>
          <p:cNvPr id="8" name="TextBox 7">
            <a:extLst>
              <a:ext uri="{FF2B5EF4-FFF2-40B4-BE49-F238E27FC236}">
                <a16:creationId xmlns:a16="http://schemas.microsoft.com/office/drawing/2014/main" id="{7C4C4B2A-F6B3-23F1-C7ED-9A21647B036E}"/>
              </a:ext>
            </a:extLst>
          </p:cNvPr>
          <p:cNvSpPr txBox="1"/>
          <p:nvPr/>
        </p:nvSpPr>
        <p:spPr>
          <a:xfrm>
            <a:off x="4714239" y="2841558"/>
            <a:ext cx="2035442" cy="707886"/>
          </a:xfrm>
          <a:prstGeom prst="rect">
            <a:avLst/>
          </a:prstGeom>
          <a:noFill/>
        </p:spPr>
        <p:txBody>
          <a:bodyPr rtlCol="0" wrap="square">
            <a:spAutoFit/>
          </a:bodyPr>
          <a:lstStyle/>
          <a:p>
            <a:r>
              <a:rPr b="1" dirty="0" lang="en-IN" sz="4000">
                <a:solidFill>
                  <a:schemeClr val="bg1"/>
                </a:solidFill>
              </a:rPr>
              <a:t>10,000 +</a:t>
            </a:r>
          </a:p>
        </p:txBody>
      </p:sp>
      <p:sp>
        <p:nvSpPr>
          <p:cNvPr id="9" name="TextBox 8">
            <a:extLst>
              <a:ext uri="{FF2B5EF4-FFF2-40B4-BE49-F238E27FC236}">
                <a16:creationId xmlns:a16="http://schemas.microsoft.com/office/drawing/2014/main" id="{150F7FA2-8691-BFCD-074A-CD07F1F2A14F}"/>
              </a:ext>
            </a:extLst>
          </p:cNvPr>
          <p:cNvSpPr txBox="1"/>
          <p:nvPr/>
        </p:nvSpPr>
        <p:spPr>
          <a:xfrm>
            <a:off x="259080" y="720467"/>
            <a:ext cx="3618271" cy="830997"/>
          </a:xfrm>
          <a:prstGeom prst="rect">
            <a:avLst/>
          </a:prstGeom>
          <a:noFill/>
        </p:spPr>
        <p:txBody>
          <a:bodyPr rtlCol="0" wrap="square">
            <a:spAutoFit/>
          </a:bodyPr>
          <a:lstStyle/>
          <a:p>
            <a:r>
              <a:rPr dirty="0" lang="en-US" sz="1600"/>
              <a:t>United by purpose, our volunteers drive change across every state, every community.</a:t>
            </a:r>
            <a:endParaRPr dirty="0" lang="en-IN" sz="1600"/>
          </a:p>
        </p:txBody>
      </p:sp>
    </p:spTree>
    <p:extLst>
      <p:ext uri="{BB962C8B-B14F-4D97-AF65-F5344CB8AC3E}">
        <p14:creationId xmlns:p14="http://schemas.microsoft.com/office/powerpoint/2010/main" val="1086814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spd="slow">
        <p159:morph option="byObject"/>
      </p:transition>
    </mc:Choice>
    <mc:Fallback xmlns="">
      <p:transition spd="slow">
        <p:fade/>
      </p:transition>
    </mc:Fallback>
  </mc:AlternateContent>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85538A7B-324D-E367-26BE-F746670FA8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DDB1052-7FAB-BE62-FE97-7D443EFDD255}"/>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anchor="ctr" rtlCol="0"/>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E022B033-448B-ED28-B28B-66243688D93C}"/>
              </a:ext>
            </a:extLst>
          </p:cNvPr>
          <p:cNvPicPr>
            <a:picLocks noChangeAspect="1"/>
          </p:cNvPicPr>
          <p:nvPr/>
        </p:nvPicPr>
        <p:blipFill>
          <a:blip r:embed="R322c64564c7e45ac">
            <a:extLst>
              <a:ext uri="{28A0092B-C50C-407E-A947-70E740481C1C}">
                <a14:useLocalDpi xmlns:a14="http://schemas.microsoft.com/office/drawing/2010/main" val="0"/>
              </a:ext>
            </a:extLst>
          </a:blip>
          <a:stretch>
            <a:fillRect/>
          </a:stretch>
        </p:blipFill>
        <p:spPr>
          <a:xfrm>
            <a:off x="10560837" y="-208935"/>
            <a:ext cx="1531849" cy="1769806"/>
          </a:xfrm>
          <a:prstGeom prst="rect">
            <a:avLst/>
          </a:prstGeom>
        </p:spPr>
      </p:pic>
      <p:pic>
        <p:nvPicPr>
          <p:cNvPr id="5" name="Picture 4">
            <a:extLst>
              <a:ext uri="{FF2B5EF4-FFF2-40B4-BE49-F238E27FC236}">
                <a16:creationId xmlns:a16="http://schemas.microsoft.com/office/drawing/2014/main" id="{8C43078A-4BA9-0D08-B3F1-AD182908FA8A}"/>
              </a:ext>
            </a:extLst>
          </p:cNvPr>
          <p:cNvPicPr>
            <a:picLocks noChangeAspect="1"/>
          </p:cNvPicPr>
          <p:nvPr/>
        </p:nvPicPr>
        <p:blipFill>
          <a:blip r:embed="R006b52fe2a5447d5">
            <a:extLst>
              <a:ext uri="{28A0092B-C50C-407E-A947-70E740481C1C}">
                <a14:useLocalDpi xmlns:a14="http://schemas.microsoft.com/office/drawing/2010/main" val="0"/>
              </a:ext>
            </a:extLst>
          </a:blip>
          <a:stretch>
            <a:fillRect/>
          </a:stretch>
        </p:blipFill>
        <p:spPr>
          <a:xfrm>
            <a:off x="68834" y="0"/>
            <a:ext cx="6565646" cy="6851031"/>
          </a:xfrm>
          <a:prstGeom prst="rect">
            <a:avLst/>
          </a:prstGeom>
        </p:spPr>
      </p:pic>
      <p:pic>
        <p:nvPicPr>
          <p:cNvPr descr="India vector map isolated on white background. India map with states. Indian background." id="6" name="Picture 4">
            <a:extLst>
              <a:ext uri="{FF2B5EF4-FFF2-40B4-BE49-F238E27FC236}">
                <a16:creationId xmlns:a16="http://schemas.microsoft.com/office/drawing/2014/main" id="{F574B8A4-3161-AFBB-618E-ED65F073FF96}"/>
              </a:ext>
            </a:extLst>
          </p:cNvPr>
          <p:cNvPicPr>
            <a:picLocks noChangeArrowheads="1" noChangeAspect="1"/>
          </p:cNvPicPr>
          <p:nvPr/>
        </p:nvPicPr>
        <p:blipFill rotWithShape="1">
          <a:blip r:embed="R8ec2b1c55c094bfd">
            <a:alphaModFix amt="50000"/>
            <a:extLst>
              <a:ext uri="{BEBA8EAE-BF5A-486C-A8C5-ECC9F3942E4B}">
                <a14:imgProps xmlns:a14="http://schemas.microsoft.com/office/drawing/2010/main">
                  <a14:imgLayer r:embed="R7d64f1d63eb44ab2">
                    <a14:imgEffect>
                      <a14:backgroundRemoval b="90000" l="10000" r="90000" t="10000">
                        <a14:foregroundMark x1="80778" x2="87000" y1="37600" y2="32800"/>
                        <a14:foregroundMark x1="87000" x2="80889" y1="32800" y2="38700"/>
                        <a14:foregroundMark x1="66111" x2="71333" y1="37700" y2="39000"/>
                        <a14:foregroundMark x1="79667" x2="75333" y1="44300" y2="46600"/>
                        <a14:foregroundMark x1="65778" x2="67000" y1="36300" y2="35800"/>
                        <a14:foregroundMark x1="58889" x2="40444" y1="58100" y2="62200"/>
                        <a14:foregroundMark x1="40444" x2="49667" y1="62200" y2="53300"/>
                        <a14:foregroundMark x1="21222" x2="22000" y1="43600" y2="49300"/>
                        <a14:foregroundMark x1="20000" x2="19444" y1="40400" y2="46600"/>
                        <a14:foregroundMark x1="24333" x2="28444" y1="54100" y2="64100"/>
                        <a14:foregroundMark x1="28444" x2="28222" y1="64100" y2="75800"/>
                        <a14:foregroundMark x1="28222" x2="35667" y1="75800" y2="86500"/>
                        <a14:foregroundMark x1="24000" x2="25333" y1="67200" y2="72300"/>
                        <a14:foregroundMark x1="23444" x2="22778" y1="51300" y2="59900"/>
                        <a14:foregroundMark x1="79333" x2="77444" y1="36000" y2="39400"/>
                        <a14:foregroundMark x1="83000" x2="83000" y1="40900" y2="43400"/>
                        <a14:foregroundMark x1="82222" x2="84111" y1="37400" y2="42300"/>
                        <a14:foregroundMark x1="85000" x2="83000" y1="40000" y2="42700"/>
                        <a14:foregroundMark x1="66778" x2="62000" y1="51200" y2="53900"/>
                        <a14:foregroundMark x1="24667" x2="24817" y1="73300" y2="73712"/>
                        <a14:foregroundMark x1="29966" x2="33778" y1="83911" y2="88200"/>
                        <a14:foregroundMark x1="33778" x2="33778" y1="88200" y2="88200"/>
                        <a14:backgroundMark x1="24556" x2="29111" y1="73800" y2="84200"/>
                      </a14:backgroundRemoval>
                    </a14:imgEffect>
                  </a14:imgLayer>
                </a14:imgProps>
              </a:ext>
              <a:ext uri="{28A0092B-C50C-407E-A947-70E740481C1C}">
                <a14:useLocalDpi xmlns:a14="http://schemas.microsoft.com/office/drawing/2010/main" val="0"/>
              </a:ext>
            </a:extLst>
          </a:blip>
          <a:srcRect b="55" l="57" r="20" t="148"/>
          <a:stretch/>
        </p:blipFill>
        <p:spPr bwMode="auto">
          <a:xfrm>
            <a:off x="7437119" y="2601943"/>
            <a:ext cx="2143761" cy="233317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CEA4061-4355-5116-D6D9-D21E84955501}"/>
              </a:ext>
            </a:extLst>
          </p:cNvPr>
          <p:cNvPicPr>
            <a:picLocks noChangeAspect="1"/>
          </p:cNvPicPr>
          <p:nvPr/>
        </p:nvPicPr>
        <p:blipFill>
          <a:blip r:embed="R6c34de024c754a15">
            <a:extLst>
              <a:ext uri="{28A0092B-C50C-407E-A947-70E740481C1C}">
                <a14:useLocalDpi xmlns:a14="http://schemas.microsoft.com/office/drawing/2010/main" val="0"/>
              </a:ext>
            </a:extLst>
          </a:blip>
          <a:stretch>
            <a:fillRect/>
          </a:stretch>
        </p:blipFill>
        <p:spPr>
          <a:xfrm>
            <a:off x="6703314" y="1857457"/>
            <a:ext cx="3830320" cy="3143085"/>
          </a:xfrm>
          <a:prstGeom prst="rect">
            <a:avLst/>
          </a:prstGeom>
          <a:ln>
            <a:noFill/>
          </a:ln>
        </p:spPr>
      </p:pic>
      <p:sp>
        <p:nvSpPr>
          <p:cNvPr id="9" name="TextBox 8">
            <a:extLst>
              <a:ext uri="{FF2B5EF4-FFF2-40B4-BE49-F238E27FC236}">
                <a16:creationId xmlns:a16="http://schemas.microsoft.com/office/drawing/2014/main" id="{940BB432-6D74-C897-6E7E-F3B199E6B8E1}"/>
              </a:ext>
            </a:extLst>
          </p:cNvPr>
          <p:cNvSpPr txBox="1"/>
          <p:nvPr/>
        </p:nvSpPr>
        <p:spPr>
          <a:xfrm>
            <a:off x="4686300" y="306636"/>
            <a:ext cx="4417060" cy="923330"/>
          </a:xfrm>
          <a:prstGeom prst="rect">
            <a:avLst/>
          </a:prstGeom>
          <a:noFill/>
        </p:spPr>
        <p:txBody>
          <a:bodyPr wrap="square">
            <a:spAutoFit/>
          </a:bodyPr>
          <a:lstStyle/>
          <a:p>
            <a:r>
              <a:rPr dirty="0" lang="en-IN">
                <a:latin charset="0" panose="020B0A04020102020204" pitchFamily="34" typeface="Arial Black"/>
              </a:rPr>
              <a:t>Southern Region Presence -</a:t>
            </a:r>
          </a:p>
          <a:p>
            <a:r>
              <a:rPr dirty="0" lang="en-US"/>
              <a:t>Empowering communities across Bangalore, Hyderabad, Chennai, and beyond.</a:t>
            </a:r>
            <a:endParaRPr dirty="0" lang="en-IN">
              <a:latin charset="0" panose="020B0A04020102020204" pitchFamily="34" typeface="Arial Black"/>
            </a:endParaRPr>
          </a:p>
        </p:txBody>
      </p:sp>
      <p:sp>
        <p:nvSpPr>
          <p:cNvPr id="10" name="Rectangle 9">
            <a:extLst>
              <a:ext uri="{FF2B5EF4-FFF2-40B4-BE49-F238E27FC236}">
                <a16:creationId xmlns:a16="http://schemas.microsoft.com/office/drawing/2014/main" id="{254C9929-4F39-369D-94F2-D6981632A29D}"/>
              </a:ext>
            </a:extLst>
          </p:cNvPr>
          <p:cNvSpPr/>
          <p:nvPr/>
        </p:nvSpPr>
        <p:spPr>
          <a:xfrm>
            <a:off x="1573160" y="2932877"/>
            <a:ext cx="1877963" cy="59976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r>
              <a:rPr b="1" dirty="0" lang="en-IN" sz="3600">
                <a:solidFill>
                  <a:schemeClr val="bg1"/>
                </a:solidFill>
              </a:rPr>
              <a:t>10,000 +</a:t>
            </a:r>
          </a:p>
        </p:txBody>
      </p:sp>
    </p:spTree>
    <p:extLst>
      <p:ext uri="{BB962C8B-B14F-4D97-AF65-F5344CB8AC3E}">
        <p14:creationId xmlns:p14="http://schemas.microsoft.com/office/powerpoint/2010/main" val="39655974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DA0671-F5C8-EE6D-044F-CC09DD2F9BAD}"/>
              </a:ext>
            </a:extLst>
          </p:cNvPr>
          <p:cNvSpPr/>
          <p:nvPr/>
        </p:nvSpPr>
        <p:spPr>
          <a:xfrm>
            <a:off x="-3801"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0D6505A3-4518-D4DC-32B7-CF2EE1281BF8}"/>
              </a:ext>
            </a:extLst>
          </p:cNvPr>
          <p:cNvPicPr>
            <a:picLocks noChangeAspect="1"/>
          </p:cNvPicPr>
          <p:nvPr/>
        </p:nvPicPr>
        <p:blipFill>
          <a:blip r:embed="Rc5261fd12f544e8e">
            <a:extLst>
              <a:ext uri="{28A0092B-C50C-407E-A947-70E740481C1C}">
                <a14:useLocalDpi xmlns:a14="http://schemas.microsoft.com/office/drawing/2010/main" val="0"/>
              </a:ext>
            </a:extLst>
          </a:blip>
          <a:stretch>
            <a:fillRect/>
          </a:stretch>
        </p:blipFill>
        <p:spPr>
          <a:xfrm>
            <a:off x="10482180" y="-208935"/>
            <a:ext cx="1531849" cy="1769806"/>
          </a:xfrm>
          <a:prstGeom prst="rect">
            <a:avLst/>
          </a:prstGeom>
        </p:spPr>
      </p:pic>
      <p:sp>
        <p:nvSpPr>
          <p:cNvPr id="34" name="Freeform: Shape 33">
            <a:extLst>
              <a:ext uri="{FF2B5EF4-FFF2-40B4-BE49-F238E27FC236}">
                <a16:creationId xmlns:a16="http://schemas.microsoft.com/office/drawing/2014/main" id="{C8EC4035-36EB-0D4C-7409-5641C9751362}"/>
              </a:ext>
            </a:extLst>
          </p:cNvPr>
          <p:cNvSpPr/>
          <p:nvPr/>
        </p:nvSpPr>
        <p:spPr>
          <a:xfrm>
            <a:off x="12525983" y="2730867"/>
            <a:ext cx="1403213" cy="1396266"/>
          </a:xfrm>
          <a:custGeom>
            <a:avLst/>
            <a:gdLst>
              <a:gd name="connsiteX0" fmla="*/ 0 w 1403213"/>
              <a:gd name="connsiteY0" fmla="*/ 0 h 1396266"/>
              <a:gd name="connsiteX1" fmla="*/ 0 w 1403213"/>
              <a:gd name="connsiteY1" fmla="*/ 0 h 1396266"/>
              <a:gd name="connsiteX2" fmla="*/ 3441 w 1403213"/>
              <a:gd name="connsiteY2" fmla="*/ 64062 h 1396266"/>
              <a:gd name="connsiteX3" fmla="*/ 1285135 w 1403213"/>
              <a:gd name="connsiteY3" fmla="*/ 1380390 h 1396266"/>
              <a:gd name="connsiteX4" fmla="*/ 1403213 w 1403213"/>
              <a:gd name="connsiteY4" fmla="*/ 1396265 h 1396266"/>
              <a:gd name="connsiteX5" fmla="*/ 1403213 w 1403213"/>
              <a:gd name="connsiteY5" fmla="*/ 1396266 h 1396266"/>
              <a:gd name="connsiteX6" fmla="*/ 1285135 w 1403213"/>
              <a:gd name="connsiteY6" fmla="*/ 1380391 h 1396266"/>
              <a:gd name="connsiteX7" fmla="*/ 3441 w 1403213"/>
              <a:gd name="connsiteY7" fmla="*/ 64063 h 1396266"/>
              <a:gd name="connsiteX8" fmla="*/ 0 w 1403213"/>
              <a:gd name="connsiteY8" fmla="*/ 0 h 139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3213" h="1396266">
                <a:moveTo>
                  <a:pt x="0" y="0"/>
                </a:moveTo>
                <a:lnTo>
                  <a:pt x="0" y="0"/>
                </a:lnTo>
                <a:lnTo>
                  <a:pt x="3441" y="64062"/>
                </a:lnTo>
                <a:cubicBezTo>
                  <a:pt x="74736" y="724160"/>
                  <a:pt x="602427" y="1257395"/>
                  <a:pt x="1285135" y="1380390"/>
                </a:cubicBezTo>
                <a:lnTo>
                  <a:pt x="1403213" y="1396265"/>
                </a:lnTo>
                <a:lnTo>
                  <a:pt x="1403213" y="1396266"/>
                </a:lnTo>
                <a:lnTo>
                  <a:pt x="1285135" y="1380391"/>
                </a:lnTo>
                <a:cubicBezTo>
                  <a:pt x="602427" y="1257396"/>
                  <a:pt x="74736" y="724161"/>
                  <a:pt x="3441" y="6406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2" name="Freeform: Shape 31">
            <a:extLst>
              <a:ext uri="{FF2B5EF4-FFF2-40B4-BE49-F238E27FC236}">
                <a16:creationId xmlns:a16="http://schemas.microsoft.com/office/drawing/2014/main" id="{0320E68C-FC88-2596-C874-C3485F42EA7A}"/>
              </a:ext>
            </a:extLst>
          </p:cNvPr>
          <p:cNvSpPr/>
          <p:nvPr/>
        </p:nvSpPr>
        <p:spPr>
          <a:xfrm>
            <a:off x="12689597" y="1485902"/>
            <a:ext cx="1424504" cy="1399129"/>
          </a:xfrm>
          <a:custGeom>
            <a:avLst/>
            <a:gdLst>
              <a:gd name="connsiteX0" fmla="*/ 1424504 w 1424504"/>
              <a:gd name="connsiteY0" fmla="*/ 0 h 1399129"/>
              <a:gd name="connsiteX1" fmla="*/ 1424504 w 1424504"/>
              <a:gd name="connsiteY1" fmla="*/ 0 h 1399129"/>
              <a:gd name="connsiteX2" fmla="*/ 1421064 w 1424504"/>
              <a:gd name="connsiteY2" fmla="*/ 64063 h 1399129"/>
              <a:gd name="connsiteX3" fmla="*/ 139370 w 1424504"/>
              <a:gd name="connsiteY3" fmla="*/ 1380391 h 1399129"/>
              <a:gd name="connsiteX4" fmla="*/ 0 w 1424504"/>
              <a:gd name="connsiteY4" fmla="*/ 1399129 h 1399129"/>
              <a:gd name="connsiteX5" fmla="*/ 0 w 1424504"/>
              <a:gd name="connsiteY5" fmla="*/ 1399128 h 1399129"/>
              <a:gd name="connsiteX6" fmla="*/ 139370 w 1424504"/>
              <a:gd name="connsiteY6" fmla="*/ 1380390 h 1399129"/>
              <a:gd name="connsiteX7" fmla="*/ 1421064 w 1424504"/>
              <a:gd name="connsiteY7" fmla="*/ 64062 h 1399129"/>
              <a:gd name="connsiteX8" fmla="*/ 1424504 w 1424504"/>
              <a:gd name="connsiteY8" fmla="*/ 0 h 1399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4504" h="1399129">
                <a:moveTo>
                  <a:pt x="1424504" y="0"/>
                </a:moveTo>
                <a:lnTo>
                  <a:pt x="1424504" y="0"/>
                </a:lnTo>
                <a:lnTo>
                  <a:pt x="1421064" y="64063"/>
                </a:lnTo>
                <a:cubicBezTo>
                  <a:pt x="1349768" y="724161"/>
                  <a:pt x="822077" y="1257396"/>
                  <a:pt x="139370" y="1380391"/>
                </a:cubicBezTo>
                <a:lnTo>
                  <a:pt x="0" y="1399129"/>
                </a:lnTo>
                <a:lnTo>
                  <a:pt x="0" y="1399128"/>
                </a:lnTo>
                <a:lnTo>
                  <a:pt x="139370" y="1380390"/>
                </a:lnTo>
                <a:cubicBezTo>
                  <a:pt x="822077" y="1257395"/>
                  <a:pt x="1349768" y="724160"/>
                  <a:pt x="1421064" y="64062"/>
                </a:cubicBezTo>
                <a:lnTo>
                  <a:pt x="1424504"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0" name="Freeform: Shape 19">
            <a:extLst>
              <a:ext uri="{FF2B5EF4-FFF2-40B4-BE49-F238E27FC236}">
                <a16:creationId xmlns:a16="http://schemas.microsoft.com/office/drawing/2014/main" id="{0A669F40-C1C5-B6B7-6C24-DAD04073010B}"/>
              </a:ext>
            </a:extLst>
          </p:cNvPr>
          <p:cNvSpPr/>
          <p:nvPr/>
        </p:nvSpPr>
        <p:spPr>
          <a:xfrm flipV="1">
            <a:off x="13115929" y="4198478"/>
            <a:ext cx="344954" cy="457774"/>
          </a:xfrm>
          <a:custGeom>
            <a:avLst/>
            <a:gdLst>
              <a:gd name="connsiteX0" fmla="*/ 0 w 344954"/>
              <a:gd name="connsiteY0" fmla="*/ 0 h 10895"/>
              <a:gd name="connsiteX1" fmla="*/ 30479 w 344954"/>
              <a:gd name="connsiteY1" fmla="*/ 4098 h 10895"/>
              <a:gd name="connsiteX2" fmla="*/ 183123 w 344954"/>
              <a:gd name="connsiteY2" fmla="*/ 10894 h 10895"/>
              <a:gd name="connsiteX3" fmla="*/ 335766 w 344954"/>
              <a:gd name="connsiteY3" fmla="*/ 4098 h 10895"/>
              <a:gd name="connsiteX4" fmla="*/ 344954 w 344954"/>
              <a:gd name="connsiteY4" fmla="*/ 2863 h 10895"/>
              <a:gd name="connsiteX5" fmla="*/ 344954 w 344954"/>
              <a:gd name="connsiteY5" fmla="*/ 2864 h 10895"/>
              <a:gd name="connsiteX6" fmla="*/ 335766 w 344954"/>
              <a:gd name="connsiteY6" fmla="*/ 4099 h 10895"/>
              <a:gd name="connsiteX7" fmla="*/ 183123 w 344954"/>
              <a:gd name="connsiteY7" fmla="*/ 10895 h 10895"/>
              <a:gd name="connsiteX8" fmla="*/ 30479 w 344954"/>
              <a:gd name="connsiteY8" fmla="*/ 4099 h 10895"/>
              <a:gd name="connsiteX9" fmla="*/ 0 w 344954"/>
              <a:gd name="connsiteY9" fmla="*/ 1 h 10895"/>
              <a:gd name="connsiteX10" fmla="*/ 0 w 344954"/>
              <a:gd name="connsiteY10" fmla="*/ 0 h 10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4954" h="10895">
                <a:moveTo>
                  <a:pt x="0" y="0"/>
                </a:moveTo>
                <a:lnTo>
                  <a:pt x="30479" y="4098"/>
                </a:lnTo>
                <a:cubicBezTo>
                  <a:pt x="80716" y="8595"/>
                  <a:pt x="131634" y="10894"/>
                  <a:pt x="183123" y="10894"/>
                </a:cubicBezTo>
                <a:cubicBezTo>
                  <a:pt x="234612" y="10894"/>
                  <a:pt x="285530" y="8595"/>
                  <a:pt x="335766" y="4098"/>
                </a:cubicBezTo>
                <a:lnTo>
                  <a:pt x="344954" y="2863"/>
                </a:lnTo>
                <a:lnTo>
                  <a:pt x="344954" y="2864"/>
                </a:lnTo>
                <a:lnTo>
                  <a:pt x="335766" y="4099"/>
                </a:lnTo>
                <a:cubicBezTo>
                  <a:pt x="285530" y="8596"/>
                  <a:pt x="234612" y="10895"/>
                  <a:pt x="183123" y="10895"/>
                </a:cubicBezTo>
                <a:cubicBezTo>
                  <a:pt x="131634" y="10895"/>
                  <a:pt x="80716" y="8596"/>
                  <a:pt x="30479" y="4099"/>
                </a:cubicBez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8" name="Flowchart: Connector 47">
            <a:extLst>
              <a:ext uri="{FF2B5EF4-FFF2-40B4-BE49-F238E27FC236}">
                <a16:creationId xmlns:a16="http://schemas.microsoft.com/office/drawing/2014/main" id="{A74BE2B0-71DE-4435-50F8-90E489941A50}"/>
              </a:ext>
            </a:extLst>
          </p:cNvPr>
          <p:cNvSpPr/>
          <p:nvPr/>
        </p:nvSpPr>
        <p:spPr>
          <a:xfrm>
            <a:off x="-3288947" y="-860898"/>
            <a:ext cx="7679960" cy="8168640"/>
          </a:xfrm>
          <a:prstGeom prst="flowChartConnector">
            <a:avLst/>
          </a:prstGeom>
          <a:solidFill>
            <a:schemeClr val="tx1">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ffectLst>
                <a:outerShdw blurRad="50800" dist="38100" algn="l" rotWithShape="0">
                  <a:prstClr val="black">
                    <a:alpha val="40000"/>
                  </a:prstClr>
                </a:outerShdw>
              </a:effectLst>
            </a:endParaRPr>
          </a:p>
        </p:txBody>
      </p:sp>
      <p:sp>
        <p:nvSpPr>
          <p:cNvPr id="47" name="Flowchart: Connector 46">
            <a:extLst>
              <a:ext uri="{FF2B5EF4-FFF2-40B4-BE49-F238E27FC236}">
                <a16:creationId xmlns:a16="http://schemas.microsoft.com/office/drawing/2014/main" id="{CC321063-E306-87F3-54AD-93B3666C1970}"/>
              </a:ext>
            </a:extLst>
          </p:cNvPr>
          <p:cNvSpPr/>
          <p:nvPr/>
        </p:nvSpPr>
        <p:spPr>
          <a:xfrm>
            <a:off x="-2575091" y="-195136"/>
            <a:ext cx="7076959" cy="7357936"/>
          </a:xfrm>
          <a:prstGeom prst="flowChartConnector">
            <a:avLst/>
          </a:prstGeom>
          <a:solidFill>
            <a:schemeClr val="tx1">
              <a:lumMod val="65000"/>
              <a:lumOff val="3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b="1"/>
              <a:t>01</a:t>
            </a:r>
          </a:p>
          <a:p>
            <a:r>
              <a:rPr lang="en-IN" sz="1800" b="1"/>
              <a:t>Volunteer Demographics</a:t>
            </a:r>
            <a:endParaRPr lang="en-IN" sz="1800" b="1" dirty="0"/>
          </a:p>
        </p:txBody>
      </p:sp>
      <p:sp>
        <p:nvSpPr>
          <p:cNvPr id="46" name="Flowchart: Connector 45">
            <a:extLst>
              <a:ext uri="{FF2B5EF4-FFF2-40B4-BE49-F238E27FC236}">
                <a16:creationId xmlns:a16="http://schemas.microsoft.com/office/drawing/2014/main" id="{B8AA3804-B7CD-C74A-5C04-C57420043411}"/>
              </a:ext>
            </a:extLst>
          </p:cNvPr>
          <p:cNvSpPr/>
          <p:nvPr/>
        </p:nvSpPr>
        <p:spPr>
          <a:xfrm>
            <a:off x="-2575091" y="-221348"/>
            <a:ext cx="6724224" cy="7518983"/>
          </a:xfrm>
          <a:prstGeom prst="flowChartConnector">
            <a:avLst/>
          </a:prstGeom>
          <a:solidFill>
            <a:schemeClr val="tx1">
              <a:lumMod val="50000"/>
              <a:lumOff val="5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ffectLst>
                <a:outerShdw blurRad="50800" dist="38100" algn="l" rotWithShape="0">
                  <a:prstClr val="black">
                    <a:alpha val="40000"/>
                  </a:prstClr>
                </a:outerShdw>
              </a:effectLst>
            </a:endParaRPr>
          </a:p>
        </p:txBody>
      </p:sp>
      <p:sp>
        <p:nvSpPr>
          <p:cNvPr id="42" name="Flowchart: Connector 41">
            <a:extLst>
              <a:ext uri="{FF2B5EF4-FFF2-40B4-BE49-F238E27FC236}">
                <a16:creationId xmlns:a16="http://schemas.microsoft.com/office/drawing/2014/main" id="{0659BCA6-2256-9EC2-B849-C150C6AF363F}"/>
              </a:ext>
            </a:extLst>
          </p:cNvPr>
          <p:cNvSpPr/>
          <p:nvPr/>
        </p:nvSpPr>
        <p:spPr>
          <a:xfrm>
            <a:off x="-2575091" y="-447040"/>
            <a:ext cx="7305040" cy="7609840"/>
          </a:xfrm>
          <a:prstGeom prst="flowChartConnector">
            <a:avLst/>
          </a:prstGeom>
          <a:solidFill>
            <a:schemeClr val="tx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ffectLst>
                <a:outerShdw blurRad="50800" dist="38100" algn="l" rotWithShape="0">
                  <a:prstClr val="black">
                    <a:alpha val="40000"/>
                  </a:prstClr>
                </a:outerShdw>
              </a:effectLst>
            </a:endParaRPr>
          </a:p>
        </p:txBody>
      </p:sp>
      <p:sp>
        <p:nvSpPr>
          <p:cNvPr id="49" name="TextBox 48">
            <a:extLst>
              <a:ext uri="{FF2B5EF4-FFF2-40B4-BE49-F238E27FC236}">
                <a16:creationId xmlns:a16="http://schemas.microsoft.com/office/drawing/2014/main" id="{D7E70F81-8EE6-1547-254E-CF25A3C7EEDB}"/>
              </a:ext>
            </a:extLst>
          </p:cNvPr>
          <p:cNvSpPr txBox="1"/>
          <p:nvPr/>
        </p:nvSpPr>
        <p:spPr>
          <a:xfrm>
            <a:off x="674609" y="2488373"/>
            <a:ext cx="3078480" cy="1938992"/>
          </a:xfrm>
          <a:prstGeom prst="rect">
            <a:avLst/>
          </a:prstGeom>
          <a:noFill/>
        </p:spPr>
        <p:txBody>
          <a:bodyPr wrap="square" rtlCol="0">
            <a:spAutoFit/>
          </a:bodyPr>
          <a:lstStyle/>
          <a:p>
            <a:r>
              <a:rPr lang="en-IN" sz="4000" b="1" dirty="0">
                <a:solidFill>
                  <a:schemeClr val="bg1"/>
                </a:solidFill>
              </a:rPr>
              <a:t>Volunteer profile and Gender </a:t>
            </a:r>
          </a:p>
        </p:txBody>
      </p:sp>
      <p:sp>
        <p:nvSpPr>
          <p:cNvPr id="51" name="TextBox 50">
            <a:extLst>
              <a:ext uri="{FF2B5EF4-FFF2-40B4-BE49-F238E27FC236}">
                <a16:creationId xmlns:a16="http://schemas.microsoft.com/office/drawing/2014/main" id="{F03326A2-E3B8-79E6-53A2-19F8871384BD}"/>
              </a:ext>
            </a:extLst>
          </p:cNvPr>
          <p:cNvSpPr txBox="1"/>
          <p:nvPr/>
        </p:nvSpPr>
        <p:spPr>
          <a:xfrm>
            <a:off x="-2575091" y="2715591"/>
            <a:ext cx="1826084" cy="1015663"/>
          </a:xfrm>
          <a:prstGeom prst="rect">
            <a:avLst/>
          </a:prstGeom>
          <a:noFill/>
        </p:spPr>
        <p:txBody>
          <a:bodyPr wrap="square" rtlCol="0">
            <a:spAutoFit/>
          </a:bodyPr>
          <a:lstStyle/>
          <a:p>
            <a:r>
              <a:rPr lang="en-IN" sz="2000" b="1" dirty="0"/>
              <a:t>01</a:t>
            </a:r>
          </a:p>
          <a:p>
            <a:r>
              <a:rPr lang="en-IN" sz="2000" b="1" dirty="0"/>
              <a:t>Volunteer Demographics</a:t>
            </a:r>
          </a:p>
        </p:txBody>
      </p:sp>
      <p:sp>
        <p:nvSpPr>
          <p:cNvPr id="52" name="TextBox 51">
            <a:extLst>
              <a:ext uri="{FF2B5EF4-FFF2-40B4-BE49-F238E27FC236}">
                <a16:creationId xmlns:a16="http://schemas.microsoft.com/office/drawing/2014/main" id="{2D6379FC-5171-03B6-1096-978A23B055F9}"/>
              </a:ext>
            </a:extLst>
          </p:cNvPr>
          <p:cNvSpPr txBox="1"/>
          <p:nvPr/>
        </p:nvSpPr>
        <p:spPr>
          <a:xfrm>
            <a:off x="-2575091" y="2781667"/>
            <a:ext cx="1822117" cy="1200329"/>
          </a:xfrm>
          <a:prstGeom prst="rect">
            <a:avLst/>
          </a:prstGeom>
          <a:noFill/>
        </p:spPr>
        <p:txBody>
          <a:bodyPr wrap="square" rtlCol="0">
            <a:spAutoFit/>
          </a:bodyPr>
          <a:lstStyle/>
          <a:p>
            <a:r>
              <a:rPr lang="en-IN" b="1" dirty="0"/>
              <a:t>02</a:t>
            </a:r>
          </a:p>
          <a:p>
            <a:r>
              <a:rPr lang="en-US" b="1" dirty="0"/>
              <a:t>Why individuals volunteer with CRY</a:t>
            </a:r>
            <a:endParaRPr lang="en-IN" b="1" dirty="0"/>
          </a:p>
        </p:txBody>
      </p:sp>
      <p:sp>
        <p:nvSpPr>
          <p:cNvPr id="53" name="TextBox 52">
            <a:extLst>
              <a:ext uri="{FF2B5EF4-FFF2-40B4-BE49-F238E27FC236}">
                <a16:creationId xmlns:a16="http://schemas.microsoft.com/office/drawing/2014/main" id="{89C03251-C88E-43A0-532D-F3607F6C6CF1}"/>
              </a:ext>
            </a:extLst>
          </p:cNvPr>
          <p:cNvSpPr txBox="1"/>
          <p:nvPr/>
        </p:nvSpPr>
        <p:spPr>
          <a:xfrm>
            <a:off x="-2575091" y="2873700"/>
            <a:ext cx="1926671" cy="923330"/>
          </a:xfrm>
          <a:prstGeom prst="rect">
            <a:avLst/>
          </a:prstGeom>
          <a:noFill/>
        </p:spPr>
        <p:txBody>
          <a:bodyPr wrap="square" rtlCol="0">
            <a:spAutoFit/>
          </a:bodyPr>
          <a:lstStyle/>
          <a:p>
            <a:r>
              <a:rPr lang="en-IN" b="1" dirty="0"/>
              <a:t>03</a:t>
            </a:r>
          </a:p>
          <a:p>
            <a:r>
              <a:rPr lang="en-IN" b="1" dirty="0"/>
              <a:t> Volunteer recruitment </a:t>
            </a:r>
          </a:p>
        </p:txBody>
      </p:sp>
    </p:spTree>
    <p:extLst>
      <p:ext uri="{BB962C8B-B14F-4D97-AF65-F5344CB8AC3E}">
        <p14:creationId xmlns:p14="http://schemas.microsoft.com/office/powerpoint/2010/main" val="3006931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D134E-1802-CEAE-076F-4FC4BEB1212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520F44D-4FD7-38F3-51AA-473E5C1341E7}"/>
              </a:ext>
            </a:extLst>
          </p:cNvPr>
          <p:cNvSpPr/>
          <p:nvPr/>
        </p:nvSpPr>
        <p:spPr>
          <a:xfrm>
            <a:off x="-3801"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A8381CAA-ABE9-D237-0F0E-9D41C2F83A79}"/>
              </a:ext>
            </a:extLst>
          </p:cNvPr>
          <p:cNvPicPr>
            <a:picLocks noChangeAspect="1"/>
          </p:cNvPicPr>
          <p:nvPr/>
        </p:nvPicPr>
        <p:blipFill>
          <a:blip r:embed="R8a8141d78cb44823">
            <a:extLst>
              <a:ext uri="{28A0092B-C50C-407E-A947-70E740481C1C}">
                <a14:useLocalDpi xmlns:a14="http://schemas.microsoft.com/office/drawing/2010/main" val="0"/>
              </a:ext>
            </a:extLst>
          </a:blip>
          <a:stretch>
            <a:fillRect/>
          </a:stretch>
        </p:blipFill>
        <p:spPr>
          <a:xfrm>
            <a:off x="10482180" y="-208935"/>
            <a:ext cx="1531849" cy="1769806"/>
          </a:xfrm>
          <a:prstGeom prst="rect">
            <a:avLst/>
          </a:prstGeom>
        </p:spPr>
      </p:pic>
      <p:sp>
        <p:nvSpPr>
          <p:cNvPr id="34" name="Freeform: Shape 33">
            <a:extLst>
              <a:ext uri="{FF2B5EF4-FFF2-40B4-BE49-F238E27FC236}">
                <a16:creationId xmlns:a16="http://schemas.microsoft.com/office/drawing/2014/main" id="{4A469E6F-0454-9B40-D1A5-CBB95E1BE4D3}"/>
              </a:ext>
            </a:extLst>
          </p:cNvPr>
          <p:cNvSpPr/>
          <p:nvPr/>
        </p:nvSpPr>
        <p:spPr>
          <a:xfrm>
            <a:off x="12525983" y="2730867"/>
            <a:ext cx="1403213" cy="1396266"/>
          </a:xfrm>
          <a:custGeom>
            <a:avLst/>
            <a:gdLst>
              <a:gd name="connsiteX0" fmla="*/ 0 w 1403213"/>
              <a:gd name="connsiteY0" fmla="*/ 0 h 1396266"/>
              <a:gd name="connsiteX1" fmla="*/ 0 w 1403213"/>
              <a:gd name="connsiteY1" fmla="*/ 0 h 1396266"/>
              <a:gd name="connsiteX2" fmla="*/ 3441 w 1403213"/>
              <a:gd name="connsiteY2" fmla="*/ 64062 h 1396266"/>
              <a:gd name="connsiteX3" fmla="*/ 1285135 w 1403213"/>
              <a:gd name="connsiteY3" fmla="*/ 1380390 h 1396266"/>
              <a:gd name="connsiteX4" fmla="*/ 1403213 w 1403213"/>
              <a:gd name="connsiteY4" fmla="*/ 1396265 h 1396266"/>
              <a:gd name="connsiteX5" fmla="*/ 1403213 w 1403213"/>
              <a:gd name="connsiteY5" fmla="*/ 1396266 h 1396266"/>
              <a:gd name="connsiteX6" fmla="*/ 1285135 w 1403213"/>
              <a:gd name="connsiteY6" fmla="*/ 1380391 h 1396266"/>
              <a:gd name="connsiteX7" fmla="*/ 3441 w 1403213"/>
              <a:gd name="connsiteY7" fmla="*/ 64063 h 1396266"/>
              <a:gd name="connsiteX8" fmla="*/ 0 w 1403213"/>
              <a:gd name="connsiteY8" fmla="*/ 0 h 139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3213" h="1396266">
                <a:moveTo>
                  <a:pt x="0" y="0"/>
                </a:moveTo>
                <a:lnTo>
                  <a:pt x="0" y="0"/>
                </a:lnTo>
                <a:lnTo>
                  <a:pt x="3441" y="64062"/>
                </a:lnTo>
                <a:cubicBezTo>
                  <a:pt x="74736" y="724160"/>
                  <a:pt x="602427" y="1257395"/>
                  <a:pt x="1285135" y="1380390"/>
                </a:cubicBezTo>
                <a:lnTo>
                  <a:pt x="1403213" y="1396265"/>
                </a:lnTo>
                <a:lnTo>
                  <a:pt x="1403213" y="1396266"/>
                </a:lnTo>
                <a:lnTo>
                  <a:pt x="1285135" y="1380391"/>
                </a:lnTo>
                <a:cubicBezTo>
                  <a:pt x="602427" y="1257396"/>
                  <a:pt x="74736" y="724161"/>
                  <a:pt x="3441" y="6406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2" name="Freeform: Shape 31">
            <a:extLst>
              <a:ext uri="{FF2B5EF4-FFF2-40B4-BE49-F238E27FC236}">
                <a16:creationId xmlns:a16="http://schemas.microsoft.com/office/drawing/2014/main" id="{94502E68-CE5B-7131-F6C0-669348130870}"/>
              </a:ext>
            </a:extLst>
          </p:cNvPr>
          <p:cNvSpPr/>
          <p:nvPr/>
        </p:nvSpPr>
        <p:spPr>
          <a:xfrm>
            <a:off x="12689597" y="1485902"/>
            <a:ext cx="1424504" cy="1399129"/>
          </a:xfrm>
          <a:custGeom>
            <a:avLst/>
            <a:gdLst>
              <a:gd name="connsiteX0" fmla="*/ 1424504 w 1424504"/>
              <a:gd name="connsiteY0" fmla="*/ 0 h 1399129"/>
              <a:gd name="connsiteX1" fmla="*/ 1424504 w 1424504"/>
              <a:gd name="connsiteY1" fmla="*/ 0 h 1399129"/>
              <a:gd name="connsiteX2" fmla="*/ 1421064 w 1424504"/>
              <a:gd name="connsiteY2" fmla="*/ 64063 h 1399129"/>
              <a:gd name="connsiteX3" fmla="*/ 139370 w 1424504"/>
              <a:gd name="connsiteY3" fmla="*/ 1380391 h 1399129"/>
              <a:gd name="connsiteX4" fmla="*/ 0 w 1424504"/>
              <a:gd name="connsiteY4" fmla="*/ 1399129 h 1399129"/>
              <a:gd name="connsiteX5" fmla="*/ 0 w 1424504"/>
              <a:gd name="connsiteY5" fmla="*/ 1399128 h 1399129"/>
              <a:gd name="connsiteX6" fmla="*/ 139370 w 1424504"/>
              <a:gd name="connsiteY6" fmla="*/ 1380390 h 1399129"/>
              <a:gd name="connsiteX7" fmla="*/ 1421064 w 1424504"/>
              <a:gd name="connsiteY7" fmla="*/ 64062 h 1399129"/>
              <a:gd name="connsiteX8" fmla="*/ 1424504 w 1424504"/>
              <a:gd name="connsiteY8" fmla="*/ 0 h 1399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4504" h="1399129">
                <a:moveTo>
                  <a:pt x="1424504" y="0"/>
                </a:moveTo>
                <a:lnTo>
                  <a:pt x="1424504" y="0"/>
                </a:lnTo>
                <a:lnTo>
                  <a:pt x="1421064" y="64063"/>
                </a:lnTo>
                <a:cubicBezTo>
                  <a:pt x="1349768" y="724161"/>
                  <a:pt x="822077" y="1257396"/>
                  <a:pt x="139370" y="1380391"/>
                </a:cubicBezTo>
                <a:lnTo>
                  <a:pt x="0" y="1399129"/>
                </a:lnTo>
                <a:lnTo>
                  <a:pt x="0" y="1399128"/>
                </a:lnTo>
                <a:lnTo>
                  <a:pt x="139370" y="1380390"/>
                </a:lnTo>
                <a:cubicBezTo>
                  <a:pt x="822077" y="1257395"/>
                  <a:pt x="1349768" y="724160"/>
                  <a:pt x="1421064" y="64062"/>
                </a:cubicBezTo>
                <a:lnTo>
                  <a:pt x="1424504"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0" name="Freeform: Shape 19">
            <a:extLst>
              <a:ext uri="{FF2B5EF4-FFF2-40B4-BE49-F238E27FC236}">
                <a16:creationId xmlns:a16="http://schemas.microsoft.com/office/drawing/2014/main" id="{C4C0F0C9-57B4-C89C-AAF8-A75AA3089167}"/>
              </a:ext>
            </a:extLst>
          </p:cNvPr>
          <p:cNvSpPr/>
          <p:nvPr/>
        </p:nvSpPr>
        <p:spPr>
          <a:xfrm flipV="1">
            <a:off x="13115929" y="4198478"/>
            <a:ext cx="344954" cy="457774"/>
          </a:xfrm>
          <a:custGeom>
            <a:avLst/>
            <a:gdLst>
              <a:gd name="connsiteX0" fmla="*/ 0 w 344954"/>
              <a:gd name="connsiteY0" fmla="*/ 0 h 10895"/>
              <a:gd name="connsiteX1" fmla="*/ 30479 w 344954"/>
              <a:gd name="connsiteY1" fmla="*/ 4098 h 10895"/>
              <a:gd name="connsiteX2" fmla="*/ 183123 w 344954"/>
              <a:gd name="connsiteY2" fmla="*/ 10894 h 10895"/>
              <a:gd name="connsiteX3" fmla="*/ 335766 w 344954"/>
              <a:gd name="connsiteY3" fmla="*/ 4098 h 10895"/>
              <a:gd name="connsiteX4" fmla="*/ 344954 w 344954"/>
              <a:gd name="connsiteY4" fmla="*/ 2863 h 10895"/>
              <a:gd name="connsiteX5" fmla="*/ 344954 w 344954"/>
              <a:gd name="connsiteY5" fmla="*/ 2864 h 10895"/>
              <a:gd name="connsiteX6" fmla="*/ 335766 w 344954"/>
              <a:gd name="connsiteY6" fmla="*/ 4099 h 10895"/>
              <a:gd name="connsiteX7" fmla="*/ 183123 w 344954"/>
              <a:gd name="connsiteY7" fmla="*/ 10895 h 10895"/>
              <a:gd name="connsiteX8" fmla="*/ 30479 w 344954"/>
              <a:gd name="connsiteY8" fmla="*/ 4099 h 10895"/>
              <a:gd name="connsiteX9" fmla="*/ 0 w 344954"/>
              <a:gd name="connsiteY9" fmla="*/ 1 h 10895"/>
              <a:gd name="connsiteX10" fmla="*/ 0 w 344954"/>
              <a:gd name="connsiteY10" fmla="*/ 0 h 10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4954" h="10895">
                <a:moveTo>
                  <a:pt x="0" y="0"/>
                </a:moveTo>
                <a:lnTo>
                  <a:pt x="30479" y="4098"/>
                </a:lnTo>
                <a:cubicBezTo>
                  <a:pt x="80716" y="8595"/>
                  <a:pt x="131634" y="10894"/>
                  <a:pt x="183123" y="10894"/>
                </a:cubicBezTo>
                <a:cubicBezTo>
                  <a:pt x="234612" y="10894"/>
                  <a:pt x="285530" y="8595"/>
                  <a:pt x="335766" y="4098"/>
                </a:cubicBezTo>
                <a:lnTo>
                  <a:pt x="344954" y="2863"/>
                </a:lnTo>
                <a:lnTo>
                  <a:pt x="344954" y="2864"/>
                </a:lnTo>
                <a:lnTo>
                  <a:pt x="335766" y="4099"/>
                </a:lnTo>
                <a:cubicBezTo>
                  <a:pt x="285530" y="8596"/>
                  <a:pt x="234612" y="10895"/>
                  <a:pt x="183123" y="10895"/>
                </a:cubicBezTo>
                <a:cubicBezTo>
                  <a:pt x="131634" y="10895"/>
                  <a:pt x="80716" y="8596"/>
                  <a:pt x="30479" y="4099"/>
                </a:cubicBez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8" name="Flowchart: Connector 47">
            <a:extLst>
              <a:ext uri="{FF2B5EF4-FFF2-40B4-BE49-F238E27FC236}">
                <a16:creationId xmlns:a16="http://schemas.microsoft.com/office/drawing/2014/main" id="{476EE9E7-BBF7-689D-2C25-61407BDB14D7}"/>
              </a:ext>
            </a:extLst>
          </p:cNvPr>
          <p:cNvSpPr/>
          <p:nvPr/>
        </p:nvSpPr>
        <p:spPr>
          <a:xfrm>
            <a:off x="3380551" y="-753289"/>
            <a:ext cx="7679960" cy="8168640"/>
          </a:xfrm>
          <a:prstGeom prst="flowChartConnector">
            <a:avLst/>
          </a:prstGeom>
          <a:solidFill>
            <a:schemeClr val="tx1">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ffectLst>
                <a:outerShdw blurRad="50800" dist="38100" algn="l" rotWithShape="0">
                  <a:prstClr val="black">
                    <a:alpha val="40000"/>
                  </a:prstClr>
                </a:outerShdw>
              </a:effectLst>
            </a:endParaRPr>
          </a:p>
        </p:txBody>
      </p:sp>
      <p:sp>
        <p:nvSpPr>
          <p:cNvPr id="47" name="Flowchart: Connector 46">
            <a:extLst>
              <a:ext uri="{FF2B5EF4-FFF2-40B4-BE49-F238E27FC236}">
                <a16:creationId xmlns:a16="http://schemas.microsoft.com/office/drawing/2014/main" id="{E75FCFD3-F849-B3A8-9036-11CC82507A9D}"/>
              </a:ext>
            </a:extLst>
          </p:cNvPr>
          <p:cNvSpPr/>
          <p:nvPr/>
        </p:nvSpPr>
        <p:spPr>
          <a:xfrm>
            <a:off x="1916980" y="-245936"/>
            <a:ext cx="7076959" cy="7357936"/>
          </a:xfrm>
          <a:prstGeom prst="flowChartConnector">
            <a:avLst/>
          </a:prstGeom>
          <a:solidFill>
            <a:schemeClr val="tx1">
              <a:lumMod val="65000"/>
              <a:lumOff val="3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b="1"/>
              <a:t>01</a:t>
            </a:r>
          </a:p>
          <a:p>
            <a:r>
              <a:rPr lang="en-IN" sz="1800" b="1"/>
              <a:t>Volunteer Demographics</a:t>
            </a:r>
            <a:endParaRPr lang="en-IN" sz="1800" b="1" dirty="0"/>
          </a:p>
        </p:txBody>
      </p:sp>
      <p:sp>
        <p:nvSpPr>
          <p:cNvPr id="46" name="Flowchart: Connector 45">
            <a:extLst>
              <a:ext uri="{FF2B5EF4-FFF2-40B4-BE49-F238E27FC236}">
                <a16:creationId xmlns:a16="http://schemas.microsoft.com/office/drawing/2014/main" id="{800BB22E-5166-0131-3541-F3315010BA76}"/>
              </a:ext>
            </a:extLst>
          </p:cNvPr>
          <p:cNvSpPr/>
          <p:nvPr/>
        </p:nvSpPr>
        <p:spPr>
          <a:xfrm>
            <a:off x="367456" y="-272148"/>
            <a:ext cx="6724224" cy="7518983"/>
          </a:xfrm>
          <a:prstGeom prst="flowChartConnector">
            <a:avLst/>
          </a:prstGeom>
          <a:solidFill>
            <a:schemeClr val="tx1">
              <a:lumMod val="50000"/>
              <a:lumOff val="5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ffectLst>
                <a:outerShdw blurRad="50800" dist="38100" algn="l" rotWithShape="0">
                  <a:prstClr val="black">
                    <a:alpha val="40000"/>
                  </a:prstClr>
                </a:outerShdw>
              </a:effectLst>
            </a:endParaRPr>
          </a:p>
        </p:txBody>
      </p:sp>
      <p:sp>
        <p:nvSpPr>
          <p:cNvPr id="42" name="Flowchart: Connector 41">
            <a:extLst>
              <a:ext uri="{FF2B5EF4-FFF2-40B4-BE49-F238E27FC236}">
                <a16:creationId xmlns:a16="http://schemas.microsoft.com/office/drawing/2014/main" id="{3DC203C1-C916-9ACB-23CD-E645EF642E69}"/>
              </a:ext>
            </a:extLst>
          </p:cNvPr>
          <p:cNvSpPr/>
          <p:nvPr/>
        </p:nvSpPr>
        <p:spPr>
          <a:xfrm>
            <a:off x="-2534451" y="-497840"/>
            <a:ext cx="7305040" cy="7609840"/>
          </a:xfrm>
          <a:prstGeom prst="flowChartConnector">
            <a:avLst/>
          </a:prstGeom>
          <a:solidFill>
            <a:schemeClr val="tx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ffectLst>
                <a:outerShdw blurRad="50800" dist="38100" algn="l" rotWithShape="0">
                  <a:prstClr val="black">
                    <a:alpha val="40000"/>
                  </a:prstClr>
                </a:outerShdw>
              </a:effectLst>
            </a:endParaRPr>
          </a:p>
        </p:txBody>
      </p:sp>
      <p:sp>
        <p:nvSpPr>
          <p:cNvPr id="49" name="TextBox 48">
            <a:extLst>
              <a:ext uri="{FF2B5EF4-FFF2-40B4-BE49-F238E27FC236}">
                <a16:creationId xmlns:a16="http://schemas.microsoft.com/office/drawing/2014/main" id="{B6C60762-201A-CBC8-0F1B-AE55A65E324A}"/>
              </a:ext>
            </a:extLst>
          </p:cNvPr>
          <p:cNvSpPr txBox="1"/>
          <p:nvPr/>
        </p:nvSpPr>
        <p:spPr>
          <a:xfrm>
            <a:off x="1131489" y="2515699"/>
            <a:ext cx="3078480" cy="1938992"/>
          </a:xfrm>
          <a:prstGeom prst="rect">
            <a:avLst/>
          </a:prstGeom>
          <a:noFill/>
        </p:spPr>
        <p:txBody>
          <a:bodyPr wrap="square" rtlCol="0">
            <a:spAutoFit/>
          </a:bodyPr>
          <a:lstStyle/>
          <a:p>
            <a:r>
              <a:rPr lang="en-IN" sz="4000" b="1" dirty="0">
                <a:solidFill>
                  <a:schemeClr val="bg1"/>
                </a:solidFill>
              </a:rPr>
              <a:t>Volunteer profile and Gender </a:t>
            </a:r>
          </a:p>
        </p:txBody>
      </p:sp>
      <p:sp>
        <p:nvSpPr>
          <p:cNvPr id="51" name="TextBox 50">
            <a:extLst>
              <a:ext uri="{FF2B5EF4-FFF2-40B4-BE49-F238E27FC236}">
                <a16:creationId xmlns:a16="http://schemas.microsoft.com/office/drawing/2014/main" id="{A5E1463B-3C16-5955-F7AD-D18B4096ABB5}"/>
              </a:ext>
            </a:extLst>
          </p:cNvPr>
          <p:cNvSpPr txBox="1"/>
          <p:nvPr/>
        </p:nvSpPr>
        <p:spPr>
          <a:xfrm>
            <a:off x="4974002" y="2664791"/>
            <a:ext cx="1826084" cy="1015663"/>
          </a:xfrm>
          <a:prstGeom prst="rect">
            <a:avLst/>
          </a:prstGeom>
          <a:noFill/>
        </p:spPr>
        <p:txBody>
          <a:bodyPr wrap="square" rtlCol="0">
            <a:spAutoFit/>
          </a:bodyPr>
          <a:lstStyle/>
          <a:p>
            <a:r>
              <a:rPr lang="en-IN" sz="2000" b="1" dirty="0"/>
              <a:t>01</a:t>
            </a:r>
          </a:p>
          <a:p>
            <a:r>
              <a:rPr lang="en-IN" sz="2000" b="1" dirty="0"/>
              <a:t>Volunteer Demographics</a:t>
            </a:r>
          </a:p>
        </p:txBody>
      </p:sp>
      <p:sp>
        <p:nvSpPr>
          <p:cNvPr id="52" name="TextBox 51">
            <a:extLst>
              <a:ext uri="{FF2B5EF4-FFF2-40B4-BE49-F238E27FC236}">
                <a16:creationId xmlns:a16="http://schemas.microsoft.com/office/drawing/2014/main" id="{870BF075-DEBC-C19C-7CEF-8475977AD6C9}"/>
              </a:ext>
            </a:extLst>
          </p:cNvPr>
          <p:cNvSpPr txBox="1"/>
          <p:nvPr/>
        </p:nvSpPr>
        <p:spPr>
          <a:xfrm>
            <a:off x="7193279" y="2730867"/>
            <a:ext cx="1822117" cy="1200329"/>
          </a:xfrm>
          <a:prstGeom prst="rect">
            <a:avLst/>
          </a:prstGeom>
          <a:noFill/>
        </p:spPr>
        <p:txBody>
          <a:bodyPr wrap="square" rtlCol="0">
            <a:spAutoFit/>
          </a:bodyPr>
          <a:lstStyle/>
          <a:p>
            <a:r>
              <a:rPr lang="en-IN" b="1" dirty="0"/>
              <a:t>02</a:t>
            </a:r>
          </a:p>
          <a:p>
            <a:r>
              <a:rPr lang="en-US" b="1" dirty="0"/>
              <a:t>Why individuals volunteer with CRY</a:t>
            </a:r>
            <a:endParaRPr lang="en-IN" b="1" dirty="0"/>
          </a:p>
        </p:txBody>
      </p:sp>
      <p:sp>
        <p:nvSpPr>
          <p:cNvPr id="53" name="TextBox 52">
            <a:extLst>
              <a:ext uri="{FF2B5EF4-FFF2-40B4-BE49-F238E27FC236}">
                <a16:creationId xmlns:a16="http://schemas.microsoft.com/office/drawing/2014/main" id="{4AB9E9B9-9129-3E8D-ED82-BE8B9C0F4B75}"/>
              </a:ext>
            </a:extLst>
          </p:cNvPr>
          <p:cNvSpPr txBox="1"/>
          <p:nvPr/>
        </p:nvSpPr>
        <p:spPr>
          <a:xfrm>
            <a:off x="9133840" y="2822900"/>
            <a:ext cx="1926671" cy="923330"/>
          </a:xfrm>
          <a:prstGeom prst="rect">
            <a:avLst/>
          </a:prstGeom>
          <a:noFill/>
        </p:spPr>
        <p:txBody>
          <a:bodyPr wrap="square" rtlCol="0">
            <a:spAutoFit/>
          </a:bodyPr>
          <a:lstStyle/>
          <a:p>
            <a:r>
              <a:rPr lang="en-IN" b="1" dirty="0"/>
              <a:t>03</a:t>
            </a:r>
          </a:p>
          <a:p>
            <a:r>
              <a:rPr lang="en-IN" b="1" dirty="0"/>
              <a:t> Volunteer recruitment </a:t>
            </a:r>
          </a:p>
        </p:txBody>
      </p:sp>
    </p:spTree>
    <p:extLst>
      <p:ext uri="{BB962C8B-B14F-4D97-AF65-F5344CB8AC3E}">
        <p14:creationId xmlns:p14="http://schemas.microsoft.com/office/powerpoint/2010/main" val="1175318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6B088-62CF-93E6-D491-7E6E3242A14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8A71BF4-0B08-A6BD-6C09-91B2F998EC6E}"/>
              </a:ext>
            </a:extLst>
          </p:cNvPr>
          <p:cNvSpPr/>
          <p:nvPr/>
        </p:nvSpPr>
        <p:spPr>
          <a:xfrm>
            <a:off x="-21023" y="-1"/>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71758B0C-768F-9A54-E456-6CCBBE1A2ED3}"/>
              </a:ext>
            </a:extLst>
          </p:cNvPr>
          <p:cNvPicPr>
            <a:picLocks noChangeAspect="1"/>
          </p:cNvPicPr>
          <p:nvPr/>
        </p:nvPicPr>
        <p:blipFill>
          <a:blip r:embed="R98abed725a3d46d6">
            <a:extLst>
              <a:ext uri="{28A0092B-C50C-407E-A947-70E740481C1C}">
                <a14:useLocalDpi xmlns:a14="http://schemas.microsoft.com/office/drawing/2010/main" val="0"/>
              </a:ext>
            </a:extLst>
          </a:blip>
          <a:stretch>
            <a:fillRect/>
          </a:stretch>
        </p:blipFill>
        <p:spPr>
          <a:xfrm>
            <a:off x="10482180" y="-208935"/>
            <a:ext cx="1531849" cy="1769806"/>
          </a:xfrm>
          <a:prstGeom prst="rect">
            <a:avLst/>
          </a:prstGeom>
        </p:spPr>
      </p:pic>
      <p:sp>
        <p:nvSpPr>
          <p:cNvPr id="34" name="Freeform: Shape 33">
            <a:extLst>
              <a:ext uri="{FF2B5EF4-FFF2-40B4-BE49-F238E27FC236}">
                <a16:creationId xmlns:a16="http://schemas.microsoft.com/office/drawing/2014/main" id="{446D0DB9-28CB-DBD3-B9D3-904071B45054}"/>
              </a:ext>
            </a:extLst>
          </p:cNvPr>
          <p:cNvSpPr/>
          <p:nvPr/>
        </p:nvSpPr>
        <p:spPr>
          <a:xfrm>
            <a:off x="12525983" y="2730867"/>
            <a:ext cx="1403213" cy="1396266"/>
          </a:xfrm>
          <a:custGeom>
            <a:avLst/>
            <a:gdLst>
              <a:gd name="connsiteX0" fmla="*/ 0 w 1403213"/>
              <a:gd name="connsiteY0" fmla="*/ 0 h 1396266"/>
              <a:gd name="connsiteX1" fmla="*/ 0 w 1403213"/>
              <a:gd name="connsiteY1" fmla="*/ 0 h 1396266"/>
              <a:gd name="connsiteX2" fmla="*/ 3441 w 1403213"/>
              <a:gd name="connsiteY2" fmla="*/ 64062 h 1396266"/>
              <a:gd name="connsiteX3" fmla="*/ 1285135 w 1403213"/>
              <a:gd name="connsiteY3" fmla="*/ 1380390 h 1396266"/>
              <a:gd name="connsiteX4" fmla="*/ 1403213 w 1403213"/>
              <a:gd name="connsiteY4" fmla="*/ 1396265 h 1396266"/>
              <a:gd name="connsiteX5" fmla="*/ 1403213 w 1403213"/>
              <a:gd name="connsiteY5" fmla="*/ 1396266 h 1396266"/>
              <a:gd name="connsiteX6" fmla="*/ 1285135 w 1403213"/>
              <a:gd name="connsiteY6" fmla="*/ 1380391 h 1396266"/>
              <a:gd name="connsiteX7" fmla="*/ 3441 w 1403213"/>
              <a:gd name="connsiteY7" fmla="*/ 64063 h 1396266"/>
              <a:gd name="connsiteX8" fmla="*/ 0 w 1403213"/>
              <a:gd name="connsiteY8" fmla="*/ 0 h 139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3213" h="1396266">
                <a:moveTo>
                  <a:pt x="0" y="0"/>
                </a:moveTo>
                <a:lnTo>
                  <a:pt x="0" y="0"/>
                </a:lnTo>
                <a:lnTo>
                  <a:pt x="3441" y="64062"/>
                </a:lnTo>
                <a:cubicBezTo>
                  <a:pt x="74736" y="724160"/>
                  <a:pt x="602427" y="1257395"/>
                  <a:pt x="1285135" y="1380390"/>
                </a:cubicBezTo>
                <a:lnTo>
                  <a:pt x="1403213" y="1396265"/>
                </a:lnTo>
                <a:lnTo>
                  <a:pt x="1403213" y="1396266"/>
                </a:lnTo>
                <a:lnTo>
                  <a:pt x="1285135" y="1380391"/>
                </a:lnTo>
                <a:cubicBezTo>
                  <a:pt x="602427" y="1257396"/>
                  <a:pt x="74736" y="724161"/>
                  <a:pt x="3441" y="6406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2" name="Freeform: Shape 31">
            <a:extLst>
              <a:ext uri="{FF2B5EF4-FFF2-40B4-BE49-F238E27FC236}">
                <a16:creationId xmlns:a16="http://schemas.microsoft.com/office/drawing/2014/main" id="{0ED32AED-99FF-40FA-BD8E-126E91B9B90C}"/>
              </a:ext>
            </a:extLst>
          </p:cNvPr>
          <p:cNvSpPr/>
          <p:nvPr/>
        </p:nvSpPr>
        <p:spPr>
          <a:xfrm>
            <a:off x="12689597" y="1485902"/>
            <a:ext cx="1424504" cy="1399129"/>
          </a:xfrm>
          <a:custGeom>
            <a:avLst/>
            <a:gdLst>
              <a:gd name="connsiteX0" fmla="*/ 1424504 w 1424504"/>
              <a:gd name="connsiteY0" fmla="*/ 0 h 1399129"/>
              <a:gd name="connsiteX1" fmla="*/ 1424504 w 1424504"/>
              <a:gd name="connsiteY1" fmla="*/ 0 h 1399129"/>
              <a:gd name="connsiteX2" fmla="*/ 1421064 w 1424504"/>
              <a:gd name="connsiteY2" fmla="*/ 64063 h 1399129"/>
              <a:gd name="connsiteX3" fmla="*/ 139370 w 1424504"/>
              <a:gd name="connsiteY3" fmla="*/ 1380391 h 1399129"/>
              <a:gd name="connsiteX4" fmla="*/ 0 w 1424504"/>
              <a:gd name="connsiteY4" fmla="*/ 1399129 h 1399129"/>
              <a:gd name="connsiteX5" fmla="*/ 0 w 1424504"/>
              <a:gd name="connsiteY5" fmla="*/ 1399128 h 1399129"/>
              <a:gd name="connsiteX6" fmla="*/ 139370 w 1424504"/>
              <a:gd name="connsiteY6" fmla="*/ 1380390 h 1399129"/>
              <a:gd name="connsiteX7" fmla="*/ 1421064 w 1424504"/>
              <a:gd name="connsiteY7" fmla="*/ 64062 h 1399129"/>
              <a:gd name="connsiteX8" fmla="*/ 1424504 w 1424504"/>
              <a:gd name="connsiteY8" fmla="*/ 0 h 1399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4504" h="1399129">
                <a:moveTo>
                  <a:pt x="1424504" y="0"/>
                </a:moveTo>
                <a:lnTo>
                  <a:pt x="1424504" y="0"/>
                </a:lnTo>
                <a:lnTo>
                  <a:pt x="1421064" y="64063"/>
                </a:lnTo>
                <a:cubicBezTo>
                  <a:pt x="1349768" y="724161"/>
                  <a:pt x="822077" y="1257396"/>
                  <a:pt x="139370" y="1380391"/>
                </a:cubicBezTo>
                <a:lnTo>
                  <a:pt x="0" y="1399129"/>
                </a:lnTo>
                <a:lnTo>
                  <a:pt x="0" y="1399128"/>
                </a:lnTo>
                <a:lnTo>
                  <a:pt x="139370" y="1380390"/>
                </a:lnTo>
                <a:cubicBezTo>
                  <a:pt x="822077" y="1257395"/>
                  <a:pt x="1349768" y="724160"/>
                  <a:pt x="1421064" y="64062"/>
                </a:cubicBezTo>
                <a:lnTo>
                  <a:pt x="1424504"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0" name="Freeform: Shape 19">
            <a:extLst>
              <a:ext uri="{FF2B5EF4-FFF2-40B4-BE49-F238E27FC236}">
                <a16:creationId xmlns:a16="http://schemas.microsoft.com/office/drawing/2014/main" id="{5C56F76B-7BEF-D4CF-6AC2-EFC10ACFCE86}"/>
              </a:ext>
            </a:extLst>
          </p:cNvPr>
          <p:cNvSpPr/>
          <p:nvPr/>
        </p:nvSpPr>
        <p:spPr>
          <a:xfrm flipV="1">
            <a:off x="13115929" y="4198478"/>
            <a:ext cx="344954" cy="457774"/>
          </a:xfrm>
          <a:custGeom>
            <a:avLst/>
            <a:gdLst>
              <a:gd name="connsiteX0" fmla="*/ 0 w 344954"/>
              <a:gd name="connsiteY0" fmla="*/ 0 h 10895"/>
              <a:gd name="connsiteX1" fmla="*/ 30479 w 344954"/>
              <a:gd name="connsiteY1" fmla="*/ 4098 h 10895"/>
              <a:gd name="connsiteX2" fmla="*/ 183123 w 344954"/>
              <a:gd name="connsiteY2" fmla="*/ 10894 h 10895"/>
              <a:gd name="connsiteX3" fmla="*/ 335766 w 344954"/>
              <a:gd name="connsiteY3" fmla="*/ 4098 h 10895"/>
              <a:gd name="connsiteX4" fmla="*/ 344954 w 344954"/>
              <a:gd name="connsiteY4" fmla="*/ 2863 h 10895"/>
              <a:gd name="connsiteX5" fmla="*/ 344954 w 344954"/>
              <a:gd name="connsiteY5" fmla="*/ 2864 h 10895"/>
              <a:gd name="connsiteX6" fmla="*/ 335766 w 344954"/>
              <a:gd name="connsiteY6" fmla="*/ 4099 h 10895"/>
              <a:gd name="connsiteX7" fmla="*/ 183123 w 344954"/>
              <a:gd name="connsiteY7" fmla="*/ 10895 h 10895"/>
              <a:gd name="connsiteX8" fmla="*/ 30479 w 344954"/>
              <a:gd name="connsiteY8" fmla="*/ 4099 h 10895"/>
              <a:gd name="connsiteX9" fmla="*/ 0 w 344954"/>
              <a:gd name="connsiteY9" fmla="*/ 1 h 10895"/>
              <a:gd name="connsiteX10" fmla="*/ 0 w 344954"/>
              <a:gd name="connsiteY10" fmla="*/ 0 h 10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4954" h="10895">
                <a:moveTo>
                  <a:pt x="0" y="0"/>
                </a:moveTo>
                <a:lnTo>
                  <a:pt x="30479" y="4098"/>
                </a:lnTo>
                <a:cubicBezTo>
                  <a:pt x="80716" y="8595"/>
                  <a:pt x="131634" y="10894"/>
                  <a:pt x="183123" y="10894"/>
                </a:cubicBezTo>
                <a:cubicBezTo>
                  <a:pt x="234612" y="10894"/>
                  <a:pt x="285530" y="8595"/>
                  <a:pt x="335766" y="4098"/>
                </a:cubicBezTo>
                <a:lnTo>
                  <a:pt x="344954" y="2863"/>
                </a:lnTo>
                <a:lnTo>
                  <a:pt x="344954" y="2864"/>
                </a:lnTo>
                <a:lnTo>
                  <a:pt x="335766" y="4099"/>
                </a:lnTo>
                <a:cubicBezTo>
                  <a:pt x="285530" y="8596"/>
                  <a:pt x="234612" y="10895"/>
                  <a:pt x="183123" y="10895"/>
                </a:cubicBezTo>
                <a:cubicBezTo>
                  <a:pt x="131634" y="10895"/>
                  <a:pt x="80716" y="8596"/>
                  <a:pt x="30479" y="4099"/>
                </a:cubicBez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8" name="Flowchart: Connector 47">
            <a:extLst>
              <a:ext uri="{FF2B5EF4-FFF2-40B4-BE49-F238E27FC236}">
                <a16:creationId xmlns:a16="http://schemas.microsoft.com/office/drawing/2014/main" id="{AB6F0004-7D63-5262-F4BB-F1BBCF4EA352}"/>
              </a:ext>
            </a:extLst>
          </p:cNvPr>
          <p:cNvSpPr/>
          <p:nvPr/>
        </p:nvSpPr>
        <p:spPr>
          <a:xfrm>
            <a:off x="21023" y="-176659"/>
            <a:ext cx="6809546" cy="7518983"/>
          </a:xfrm>
          <a:prstGeom prst="flowChartConnector">
            <a:avLst/>
          </a:prstGeom>
          <a:solidFill>
            <a:schemeClr val="tx1">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ffectLst>
                <a:outerShdw blurRad="50800" dist="38100" algn="l" rotWithShape="0">
                  <a:prstClr val="black">
                    <a:alpha val="40000"/>
                  </a:prstClr>
                </a:outerShdw>
              </a:effectLst>
            </a:endParaRPr>
          </a:p>
        </p:txBody>
      </p:sp>
      <p:sp>
        <p:nvSpPr>
          <p:cNvPr id="47" name="Flowchart: Connector 46">
            <a:extLst>
              <a:ext uri="{FF2B5EF4-FFF2-40B4-BE49-F238E27FC236}">
                <a16:creationId xmlns:a16="http://schemas.microsoft.com/office/drawing/2014/main" id="{A5FE96EF-EB37-5CF0-8FB1-2DF7DB2C20AD}"/>
              </a:ext>
            </a:extLst>
          </p:cNvPr>
          <p:cNvSpPr/>
          <p:nvPr/>
        </p:nvSpPr>
        <p:spPr>
          <a:xfrm>
            <a:off x="-3801" y="-223443"/>
            <a:ext cx="7076959" cy="7357936"/>
          </a:xfrm>
          <a:prstGeom prst="flowChartConnector">
            <a:avLst/>
          </a:prstGeom>
          <a:solidFill>
            <a:schemeClr val="tx1">
              <a:lumMod val="65000"/>
              <a:lumOff val="3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b="1"/>
              <a:t>01</a:t>
            </a:r>
          </a:p>
          <a:p>
            <a:r>
              <a:rPr lang="en-IN" sz="1800" b="1"/>
              <a:t>Volunteer Demographics</a:t>
            </a:r>
            <a:endParaRPr lang="en-IN" sz="1800" b="1" dirty="0"/>
          </a:p>
        </p:txBody>
      </p:sp>
      <p:sp>
        <p:nvSpPr>
          <p:cNvPr id="46" name="Flowchart: Connector 45">
            <a:extLst>
              <a:ext uri="{FF2B5EF4-FFF2-40B4-BE49-F238E27FC236}">
                <a16:creationId xmlns:a16="http://schemas.microsoft.com/office/drawing/2014/main" id="{DDE5734F-7014-CABC-5368-43B00C6468CC}"/>
              </a:ext>
            </a:extLst>
          </p:cNvPr>
          <p:cNvSpPr/>
          <p:nvPr/>
        </p:nvSpPr>
        <p:spPr>
          <a:xfrm>
            <a:off x="-205928" y="-208935"/>
            <a:ext cx="7534966" cy="7518983"/>
          </a:xfrm>
          <a:prstGeom prst="flowChartConnector">
            <a:avLst/>
          </a:prstGeom>
          <a:solidFill>
            <a:schemeClr val="tx1">
              <a:lumMod val="50000"/>
              <a:lumOff val="5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ffectLst>
                <a:outerShdw blurRad="50800" dist="38100" algn="l" rotWithShape="0">
                  <a:prstClr val="black">
                    <a:alpha val="40000"/>
                  </a:prstClr>
                </a:outerShdw>
              </a:effectLst>
            </a:endParaRPr>
          </a:p>
        </p:txBody>
      </p:sp>
      <p:sp>
        <p:nvSpPr>
          <p:cNvPr id="51" name="TextBox 50">
            <a:extLst>
              <a:ext uri="{FF2B5EF4-FFF2-40B4-BE49-F238E27FC236}">
                <a16:creationId xmlns:a16="http://schemas.microsoft.com/office/drawing/2014/main" id="{E1C0743E-5596-EFF4-5E7C-FC853212BDDD}"/>
              </a:ext>
            </a:extLst>
          </p:cNvPr>
          <p:cNvSpPr txBox="1"/>
          <p:nvPr/>
        </p:nvSpPr>
        <p:spPr>
          <a:xfrm>
            <a:off x="2035598" y="400936"/>
            <a:ext cx="4273761" cy="707886"/>
          </a:xfrm>
          <a:prstGeom prst="rect">
            <a:avLst/>
          </a:prstGeom>
          <a:noFill/>
        </p:spPr>
        <p:txBody>
          <a:bodyPr wrap="square" rtlCol="0">
            <a:spAutoFit/>
          </a:bodyPr>
          <a:lstStyle/>
          <a:p>
            <a:r>
              <a:rPr lang="en-IN" sz="2000" b="1" dirty="0">
                <a:solidFill>
                  <a:schemeClr val="bg1"/>
                </a:solidFill>
              </a:rPr>
              <a:t>01</a:t>
            </a:r>
          </a:p>
          <a:p>
            <a:r>
              <a:rPr lang="en-IN" sz="2000" b="1" dirty="0">
                <a:solidFill>
                  <a:schemeClr val="bg1"/>
                </a:solidFill>
              </a:rPr>
              <a:t>Volunteer Demographics</a:t>
            </a:r>
          </a:p>
        </p:txBody>
      </p:sp>
      <p:sp>
        <p:nvSpPr>
          <p:cNvPr id="4" name="TextBox 3">
            <a:extLst>
              <a:ext uri="{FF2B5EF4-FFF2-40B4-BE49-F238E27FC236}">
                <a16:creationId xmlns:a16="http://schemas.microsoft.com/office/drawing/2014/main" id="{DE42508C-4874-DE23-E14D-C0028FB24575}"/>
              </a:ext>
            </a:extLst>
          </p:cNvPr>
          <p:cNvSpPr txBox="1"/>
          <p:nvPr/>
        </p:nvSpPr>
        <p:spPr>
          <a:xfrm>
            <a:off x="1687285" y="1560871"/>
            <a:ext cx="5588000" cy="4308872"/>
          </a:xfrm>
          <a:prstGeom prst="rect">
            <a:avLst/>
          </a:prstGeom>
          <a:noFill/>
        </p:spPr>
        <p:txBody>
          <a:bodyPr wrap="square" rtlCol="0">
            <a:spAutoFit/>
          </a:bodyPr>
          <a:lstStyle/>
          <a:p>
            <a:endParaRPr lang="en-IN" dirty="0"/>
          </a:p>
          <a:p>
            <a:pPr marL="285750" indent="-285750">
              <a:buFontTx/>
              <a:buChar char="-"/>
            </a:pPr>
            <a:r>
              <a:rPr lang="en-IN" sz="3200" dirty="0">
                <a:latin typeface="Bahnschrift Condensed" panose="020B0502040204020203" pitchFamily="34" charset="0"/>
              </a:rPr>
              <a:t>Working Professionals  43%</a:t>
            </a:r>
          </a:p>
          <a:p>
            <a:pPr marL="285750" indent="-285750">
              <a:buFontTx/>
              <a:buChar char="-"/>
            </a:pPr>
            <a:r>
              <a:rPr lang="en-IN" sz="3200" dirty="0">
                <a:latin typeface="Bahnschrift Condensed" panose="020B0502040204020203" pitchFamily="34" charset="0"/>
              </a:rPr>
              <a:t>College Students 31%</a:t>
            </a:r>
          </a:p>
          <a:p>
            <a:pPr marL="285750" indent="-285750">
              <a:buFontTx/>
              <a:buChar char="-"/>
            </a:pPr>
            <a:r>
              <a:rPr lang="en-IN" sz="3200" dirty="0">
                <a:latin typeface="Bahnschrift Condensed" panose="020B0502040204020203" pitchFamily="34" charset="0"/>
              </a:rPr>
              <a:t>School students 16%</a:t>
            </a:r>
          </a:p>
          <a:p>
            <a:pPr marL="285750" indent="-285750">
              <a:buFontTx/>
              <a:buChar char="-"/>
            </a:pPr>
            <a:r>
              <a:rPr lang="en-IN" sz="3200" dirty="0">
                <a:latin typeface="Bahnschrift Condensed" panose="020B0502040204020203" pitchFamily="34" charset="0"/>
              </a:rPr>
              <a:t>Others 10%</a:t>
            </a:r>
          </a:p>
          <a:p>
            <a:pPr marL="285750" indent="-285750">
              <a:buFontTx/>
              <a:buChar char="-"/>
            </a:pPr>
            <a:endParaRPr lang="en-IN" sz="3200" dirty="0">
              <a:latin typeface="Bahnschrift Condensed" panose="020B0502040204020203" pitchFamily="34" charset="0"/>
            </a:endParaRPr>
          </a:p>
          <a:p>
            <a:pPr marL="285750" indent="-285750">
              <a:buFontTx/>
              <a:buChar char="-"/>
            </a:pPr>
            <a:r>
              <a:rPr lang="en-IN" sz="3200" dirty="0">
                <a:latin typeface="Bahnschrift Condensed" panose="020B0502040204020203" pitchFamily="34" charset="0"/>
              </a:rPr>
              <a:t>Gender demographics </a:t>
            </a:r>
          </a:p>
          <a:p>
            <a:pPr marL="285750" indent="-285750">
              <a:buFontTx/>
              <a:buChar char="-"/>
            </a:pPr>
            <a:r>
              <a:rPr lang="en-IN" sz="3200" dirty="0">
                <a:latin typeface="Bahnschrift Condensed" panose="020B0502040204020203" pitchFamily="34" charset="0"/>
              </a:rPr>
              <a:t>Male 40%</a:t>
            </a:r>
          </a:p>
          <a:p>
            <a:pPr marL="285750" indent="-285750">
              <a:buFontTx/>
              <a:buChar char="-"/>
            </a:pPr>
            <a:r>
              <a:rPr lang="en-IN" sz="3200" dirty="0">
                <a:latin typeface="Bahnschrift Condensed" panose="020B0502040204020203" pitchFamily="34" charset="0"/>
              </a:rPr>
              <a:t>Female 60%</a:t>
            </a:r>
          </a:p>
        </p:txBody>
      </p:sp>
    </p:spTree>
    <p:extLst>
      <p:ext uri="{BB962C8B-B14F-4D97-AF65-F5344CB8AC3E}">
        <p14:creationId xmlns:p14="http://schemas.microsoft.com/office/powerpoint/2010/main" val="1955853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03573E59-249D-DFF7-5BA0-860532EB377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A5FE5AA-05B1-D2CF-A938-6D4FF76269EF}"/>
              </a:ext>
            </a:extLst>
          </p:cNvPr>
          <p:cNvSpPr/>
          <p:nvPr/>
        </p:nvSpPr>
        <p:spPr>
          <a:xfrm>
            <a:off x="-21023" y="-1"/>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anchor="ctr" rtlCol="0"/>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EB851832-09D4-BB2E-123B-D75F42AA9D95}"/>
              </a:ext>
            </a:extLst>
          </p:cNvPr>
          <p:cNvPicPr>
            <a:picLocks noChangeAspect="1"/>
          </p:cNvPicPr>
          <p:nvPr/>
        </p:nvPicPr>
        <p:blipFill>
          <a:blip r:embed="Ra6b46f9bbad2423c">
            <a:extLst>
              <a:ext uri="{28A0092B-C50C-407E-A947-70E740481C1C}">
                <a14:useLocalDpi xmlns:a14="http://schemas.microsoft.com/office/drawing/2010/main" val="0"/>
              </a:ext>
            </a:extLst>
          </a:blip>
          <a:stretch>
            <a:fillRect/>
          </a:stretch>
        </p:blipFill>
        <p:spPr>
          <a:xfrm>
            <a:off x="10482180" y="-208935"/>
            <a:ext cx="1531849" cy="1769806"/>
          </a:xfrm>
          <a:prstGeom prst="rect">
            <a:avLst/>
          </a:prstGeom>
        </p:spPr>
      </p:pic>
      <p:sp>
        <p:nvSpPr>
          <p:cNvPr id="48" name="Flowchart: Connector 47">
            <a:extLst>
              <a:ext uri="{FF2B5EF4-FFF2-40B4-BE49-F238E27FC236}">
                <a16:creationId xmlns:a16="http://schemas.microsoft.com/office/drawing/2014/main" id="{3885B1ED-85F4-8969-BEF7-6523FE0F9372}"/>
              </a:ext>
            </a:extLst>
          </p:cNvPr>
          <p:cNvSpPr/>
          <p:nvPr/>
        </p:nvSpPr>
        <p:spPr>
          <a:xfrm>
            <a:off x="175409" y="-1"/>
            <a:ext cx="6946751" cy="7181278"/>
          </a:xfrm>
          <a:prstGeom prst="flowChartConnector">
            <a:avLst/>
          </a:prstGeom>
          <a:solidFill>
            <a:schemeClr val="tx1">
              <a:lumMod val="75000"/>
              <a:lumOff val="25000"/>
            </a:schemeClr>
          </a:solidFill>
          <a:effectLst>
            <a:outerShdw algn="tl" blurRad="50800" dir="2700000" dist="381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IN">
              <a:noFill/>
              <a:effectLst>
                <a:outerShdw algn="l" blurRad="50800" dist="38100" rotWithShape="0">
                  <a:prstClr val="black">
                    <a:alpha val="40000"/>
                  </a:prstClr>
                </a:outerShdw>
              </a:effectLst>
            </a:endParaRPr>
          </a:p>
        </p:txBody>
      </p:sp>
      <p:sp>
        <p:nvSpPr>
          <p:cNvPr id="47" name="Flowchart: Connector 46">
            <a:extLst>
              <a:ext uri="{FF2B5EF4-FFF2-40B4-BE49-F238E27FC236}">
                <a16:creationId xmlns:a16="http://schemas.microsoft.com/office/drawing/2014/main" id="{97DA0678-83E8-DB7F-A05F-EA869EA15BF1}"/>
              </a:ext>
            </a:extLst>
          </p:cNvPr>
          <p:cNvSpPr/>
          <p:nvPr/>
        </p:nvSpPr>
        <p:spPr>
          <a:xfrm>
            <a:off x="-38054" y="-176659"/>
            <a:ext cx="7431965" cy="7357936"/>
          </a:xfrm>
          <a:prstGeom prst="flowChartConnector">
            <a:avLst/>
          </a:prstGeom>
          <a:solidFill>
            <a:schemeClr val="tx1">
              <a:lumMod val="65000"/>
              <a:lumOff val="35000"/>
            </a:schemeClr>
          </a:solidFill>
          <a:effectLst>
            <a:outerShdw algn="tl" blurRad="50800" dir="2700000" dist="381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lstStyle/>
          <a:p>
            <a:endParaRPr b="1" dirty="0" lang="en-IN">
              <a:solidFill>
                <a:schemeClr val="tx1"/>
              </a:solidFill>
            </a:endParaRPr>
          </a:p>
        </p:txBody>
      </p:sp>
      <p:sp>
        <p:nvSpPr>
          <p:cNvPr id="51" name="TextBox 50">
            <a:extLst>
              <a:ext uri="{FF2B5EF4-FFF2-40B4-BE49-F238E27FC236}">
                <a16:creationId xmlns:a16="http://schemas.microsoft.com/office/drawing/2014/main" id="{5BF72DD0-ED12-3D1D-0086-C4589AF58267}"/>
              </a:ext>
            </a:extLst>
          </p:cNvPr>
          <p:cNvSpPr txBox="1"/>
          <p:nvPr/>
        </p:nvSpPr>
        <p:spPr>
          <a:xfrm>
            <a:off x="-6184218" y="860705"/>
            <a:ext cx="4119198" cy="707886"/>
          </a:xfrm>
          <a:prstGeom prst="rect">
            <a:avLst/>
          </a:prstGeom>
          <a:noFill/>
        </p:spPr>
        <p:txBody>
          <a:bodyPr rtlCol="0" wrap="square">
            <a:spAutoFit/>
          </a:bodyPr>
          <a:lstStyle/>
          <a:p>
            <a:r>
              <a:rPr b="1" dirty="0" lang="en-IN" sz="2000"/>
              <a:t>01</a:t>
            </a:r>
          </a:p>
          <a:p>
            <a:r>
              <a:rPr b="1" dirty="0" lang="en-IN" sz="2000"/>
              <a:t>Volunteer Demographics</a:t>
            </a:r>
          </a:p>
        </p:txBody>
      </p:sp>
      <p:sp>
        <p:nvSpPr>
          <p:cNvPr id="4" name="TextBox 3">
            <a:extLst>
              <a:ext uri="{FF2B5EF4-FFF2-40B4-BE49-F238E27FC236}">
                <a16:creationId xmlns:a16="http://schemas.microsoft.com/office/drawing/2014/main" id="{F51AEF05-488B-452A-AA69-05D856BE5036}"/>
              </a:ext>
            </a:extLst>
          </p:cNvPr>
          <p:cNvSpPr txBox="1"/>
          <p:nvPr/>
        </p:nvSpPr>
        <p:spPr>
          <a:xfrm>
            <a:off x="-7653020" y="1560871"/>
            <a:ext cx="5588000" cy="4308872"/>
          </a:xfrm>
          <a:prstGeom prst="rect">
            <a:avLst/>
          </a:prstGeom>
          <a:noFill/>
        </p:spPr>
        <p:txBody>
          <a:bodyPr rtlCol="0" wrap="square">
            <a:spAutoFit/>
          </a:bodyPr>
          <a:lstStyle/>
          <a:p>
            <a:endParaRPr dirty="0" lang="en-IN"/>
          </a:p>
          <a:p>
            <a:pPr indent="-285750" marL="285750">
              <a:buFontTx/>
              <a:buChar char="-"/>
            </a:pPr>
            <a:r>
              <a:rPr dirty="0" lang="en-IN" sz="3200">
                <a:latin charset="0" panose="020B0502040204020203" pitchFamily="34" typeface="Bahnschrift Condensed"/>
              </a:rPr>
              <a:t>Working Professionals  43%</a:t>
            </a:r>
          </a:p>
          <a:p>
            <a:pPr indent="-285750" marL="285750">
              <a:buFontTx/>
              <a:buChar char="-"/>
            </a:pPr>
            <a:r>
              <a:rPr dirty="0" lang="en-IN" sz="3200">
                <a:latin charset="0" panose="020B0502040204020203" pitchFamily="34" typeface="Bahnschrift Condensed"/>
              </a:rPr>
              <a:t>College Students 31%</a:t>
            </a:r>
          </a:p>
          <a:p>
            <a:pPr indent="-285750" marL="285750">
              <a:buFontTx/>
              <a:buChar char="-"/>
            </a:pPr>
            <a:r>
              <a:rPr dirty="0" lang="en-IN" sz="3200">
                <a:latin charset="0" panose="020B0502040204020203" pitchFamily="34" typeface="Bahnschrift Condensed"/>
              </a:rPr>
              <a:t>School students 16%</a:t>
            </a:r>
          </a:p>
          <a:p>
            <a:pPr indent="-285750" marL="285750">
              <a:buFontTx/>
              <a:buChar char="-"/>
            </a:pPr>
            <a:r>
              <a:rPr dirty="0" lang="en-IN" sz="3200">
                <a:latin charset="0" panose="020B0502040204020203" pitchFamily="34" typeface="Bahnschrift Condensed"/>
              </a:rPr>
              <a:t>Others 10%</a:t>
            </a:r>
          </a:p>
          <a:p>
            <a:pPr indent="-285750" marL="285750">
              <a:buFontTx/>
              <a:buChar char="-"/>
            </a:pPr>
            <a:endParaRPr dirty="0" lang="en-IN" sz="3200">
              <a:latin charset="0" panose="020B0502040204020203" pitchFamily="34" typeface="Bahnschrift Condensed"/>
            </a:endParaRPr>
          </a:p>
          <a:p>
            <a:pPr indent="-285750" marL="285750">
              <a:buFontTx/>
              <a:buChar char="-"/>
            </a:pPr>
            <a:r>
              <a:rPr dirty="0" lang="en-IN" sz="3200">
                <a:latin charset="0" panose="020B0502040204020203" pitchFamily="34" typeface="Bahnschrift Condensed"/>
              </a:rPr>
              <a:t>Gender demographics </a:t>
            </a:r>
          </a:p>
          <a:p>
            <a:pPr indent="-285750" marL="285750">
              <a:buFontTx/>
              <a:buChar char="-"/>
            </a:pPr>
            <a:r>
              <a:rPr dirty="0" lang="en-IN" sz="3200">
                <a:latin charset="0" panose="020B0502040204020203" pitchFamily="34" typeface="Bahnschrift Condensed"/>
              </a:rPr>
              <a:t>Male 40%</a:t>
            </a:r>
          </a:p>
          <a:p>
            <a:pPr indent="-285750" marL="285750">
              <a:buFontTx/>
              <a:buChar char="-"/>
            </a:pPr>
            <a:r>
              <a:rPr dirty="0" lang="en-IN" sz="3200">
                <a:latin charset="0" panose="020B0502040204020203" pitchFamily="34" typeface="Bahnschrift Condensed"/>
              </a:rPr>
              <a:t>Female 60%</a:t>
            </a:r>
          </a:p>
        </p:txBody>
      </p:sp>
      <p:sp>
        <p:nvSpPr>
          <p:cNvPr id="5" name="TextBox 4">
            <a:extLst>
              <a:ext uri="{FF2B5EF4-FFF2-40B4-BE49-F238E27FC236}">
                <a16:creationId xmlns:a16="http://schemas.microsoft.com/office/drawing/2014/main" id="{25ADE23D-0FBD-5290-E45B-CAF0A6BEED28}"/>
              </a:ext>
            </a:extLst>
          </p:cNvPr>
          <p:cNvSpPr txBox="1"/>
          <p:nvPr/>
        </p:nvSpPr>
        <p:spPr>
          <a:xfrm>
            <a:off x="1983999" y="1106926"/>
            <a:ext cx="3992880" cy="923330"/>
          </a:xfrm>
          <a:prstGeom prst="rect">
            <a:avLst/>
          </a:prstGeom>
          <a:noFill/>
        </p:spPr>
        <p:txBody>
          <a:bodyPr rtlCol="0" wrap="square">
            <a:spAutoFit/>
          </a:bodyPr>
          <a:lstStyle/>
          <a:p>
            <a:r>
              <a:rPr b="1" dirty="0" lang="en-IN">
                <a:solidFill>
                  <a:schemeClr val="bg1"/>
                </a:solidFill>
              </a:rPr>
              <a:t>02</a:t>
            </a:r>
          </a:p>
          <a:p>
            <a:r>
              <a:rPr b="1" dirty="0" lang="en-US">
                <a:solidFill>
                  <a:schemeClr val="bg1"/>
                </a:solidFill>
              </a:rPr>
              <a:t>Why individuals volunteer with CRY</a:t>
            </a:r>
            <a:endParaRPr b="1" dirty="0" lang="en-IN">
              <a:solidFill>
                <a:schemeClr val="bg1"/>
              </a:solidFill>
            </a:endParaRPr>
          </a:p>
          <a:p>
            <a:endParaRPr dirty="0" lang="en-IN"/>
          </a:p>
        </p:txBody>
      </p:sp>
      <p:sp>
        <p:nvSpPr>
          <p:cNvPr id="6" name="TextBox 5">
            <a:extLst>
              <a:ext uri="{FF2B5EF4-FFF2-40B4-BE49-F238E27FC236}">
                <a16:creationId xmlns:a16="http://schemas.microsoft.com/office/drawing/2014/main" id="{55A83CF0-F48C-4063-B470-74FCE0E7010F}"/>
              </a:ext>
            </a:extLst>
          </p:cNvPr>
          <p:cNvSpPr txBox="1"/>
          <p:nvPr/>
        </p:nvSpPr>
        <p:spPr>
          <a:xfrm>
            <a:off x="1168644" y="2519421"/>
            <a:ext cx="5623590" cy="2308324"/>
          </a:xfrm>
          <a:prstGeom prst="rect">
            <a:avLst/>
          </a:prstGeom>
          <a:noFill/>
        </p:spPr>
        <p:txBody>
          <a:bodyPr rtlCol="0" wrap="square">
            <a:spAutoFit/>
          </a:bodyPr>
          <a:lstStyle/>
          <a:p>
            <a:r>
              <a:rPr dirty="0" lang="en-US" sz="2400">
                <a:latin charset="0" panose="020B0502040204020203" pitchFamily="34" typeface="Bahnschrift Condensed"/>
              </a:rPr>
              <a:t>Because it’s more than just volunteering—it’s about being part of a movement that creates real change. Volunteers join CRY not just to give back, but to grow, learn, and become change-makers in their communities</a:t>
            </a:r>
          </a:p>
          <a:p>
            <a:endParaRPr dirty="0" lang="en-US" sz="2400">
              <a:latin charset="0" panose="020B0502040204020203" pitchFamily="34" typeface="Bahnschrift Condensed"/>
            </a:endParaRPr>
          </a:p>
        </p:txBody>
      </p:sp>
      <p:grpSp>
        <p:nvGrpSpPr>
          <p:cNvPr id="14" name="Group 13">
            <a:extLst>
              <a:ext uri="{FF2B5EF4-FFF2-40B4-BE49-F238E27FC236}">
                <a16:creationId xmlns:a16="http://schemas.microsoft.com/office/drawing/2014/main" id="{4FFC3668-B5D7-E108-9E07-7EB06FB709EF}"/>
              </a:ext>
            </a:extLst>
          </p:cNvPr>
          <p:cNvGrpSpPr/>
          <p:nvPr/>
        </p:nvGrpSpPr>
        <p:grpSpPr>
          <a:xfrm>
            <a:off x="7719772" y="3915758"/>
            <a:ext cx="3968498" cy="8462751"/>
            <a:chOff x="7354413" y="-947602"/>
            <a:chExt cx="3968498" cy="8462751"/>
          </a:xfrm>
        </p:grpSpPr>
        <p:sp>
          <p:nvSpPr>
            <p:cNvPr id="9" name="Rectangle 8">
              <a:extLst>
                <a:ext uri="{FF2B5EF4-FFF2-40B4-BE49-F238E27FC236}">
                  <a16:creationId xmlns:a16="http://schemas.microsoft.com/office/drawing/2014/main" id="{DB1AFDB5-E00B-FA93-5E95-52EB5FF7EE7D}"/>
                </a:ext>
              </a:extLst>
            </p:cNvPr>
            <p:cNvSpPr/>
            <p:nvPr/>
          </p:nvSpPr>
          <p:spPr>
            <a:xfrm>
              <a:off x="7354413" y="73218"/>
              <a:ext cx="3876045" cy="6858000"/>
            </a:xfrm>
            <a:prstGeom prst="rect">
              <a:avLst/>
            </a:prstGeom>
            <a:solidFill>
              <a:srgbClr val="FFD80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IN"/>
            </a:p>
          </p:txBody>
        </p:sp>
        <p:pic>
          <p:nvPicPr>
            <p:cNvPr id="8" name="Picture 7">
              <a:extLst>
                <a:ext uri="{FF2B5EF4-FFF2-40B4-BE49-F238E27FC236}">
                  <a16:creationId xmlns:a16="http://schemas.microsoft.com/office/drawing/2014/main" id="{694A542F-DE74-818E-042E-A0C6CA249E97}"/>
                </a:ext>
              </a:extLst>
            </p:cNvPr>
            <p:cNvPicPr>
              <a:picLocks noChangeAspect="1"/>
            </p:cNvPicPr>
            <p:nvPr/>
          </p:nvPicPr>
          <p:blipFill>
            <a:blip r:embed="R0d3809665a204707">
              <a:extLst>
                <a:ext uri="{28A0092B-C50C-407E-A947-70E740481C1C}">
                  <a14:useLocalDpi xmlns:a14="http://schemas.microsoft.com/office/drawing/2010/main" val="0"/>
                </a:ext>
              </a:extLst>
            </a:blip>
            <a:stretch>
              <a:fillRect/>
            </a:stretch>
          </p:blipFill>
          <p:spPr>
            <a:xfrm>
              <a:off x="7400589" y="-947602"/>
              <a:ext cx="3876045" cy="2180826"/>
            </a:xfrm>
            <a:prstGeom prst="rect">
              <a:avLst/>
            </a:prstGeom>
          </p:spPr>
        </p:pic>
        <p:pic>
          <p:nvPicPr>
            <p:cNvPr id="11" name="Picture 10">
              <a:extLst>
                <a:ext uri="{FF2B5EF4-FFF2-40B4-BE49-F238E27FC236}">
                  <a16:creationId xmlns:a16="http://schemas.microsoft.com/office/drawing/2014/main" id="{6C18803F-13C1-B4B8-FD1C-9FAA99A03AED}"/>
                </a:ext>
              </a:extLst>
            </p:cNvPr>
            <p:cNvPicPr>
              <a:picLocks noChangeAspect="1"/>
            </p:cNvPicPr>
            <p:nvPr/>
          </p:nvPicPr>
          <p:blipFill>
            <a:blip r:embed="R03864041282c4232">
              <a:extLst>
                <a:ext uri="{28A0092B-C50C-407E-A947-70E740481C1C}">
                  <a14:useLocalDpi xmlns:a14="http://schemas.microsoft.com/office/drawing/2010/main" val="0"/>
                </a:ext>
              </a:extLst>
            </a:blip>
            <a:srcRect b="23" l="-1000" t="22"/>
            <a:stretch/>
          </p:blipFill>
          <p:spPr>
            <a:xfrm>
              <a:off x="7400589" y="2067279"/>
              <a:ext cx="3922322" cy="2454414"/>
            </a:xfrm>
            <a:prstGeom prst="rect">
              <a:avLst/>
            </a:prstGeom>
          </p:spPr>
        </p:pic>
        <p:pic>
          <p:nvPicPr>
            <p:cNvPr id="13" name="Picture 12">
              <a:extLst>
                <a:ext uri="{FF2B5EF4-FFF2-40B4-BE49-F238E27FC236}">
                  <a16:creationId xmlns:a16="http://schemas.microsoft.com/office/drawing/2014/main" id="{76D0F60D-A06B-AD7A-BD8C-F0D26E8370C0}"/>
                </a:ext>
              </a:extLst>
            </p:cNvPr>
            <p:cNvPicPr>
              <a:picLocks noChangeAspect="1"/>
            </p:cNvPicPr>
            <p:nvPr/>
          </p:nvPicPr>
          <p:blipFill>
            <a:blip r:embed="Ra473e0c9a8f34586">
              <a:extLst>
                <a:ext uri="{28A0092B-C50C-407E-A947-70E740481C1C}">
                  <a14:useLocalDpi xmlns:a14="http://schemas.microsoft.com/office/drawing/2010/main" val="0"/>
                </a:ext>
              </a:extLst>
            </a:blip>
            <a:stretch>
              <a:fillRect/>
            </a:stretch>
          </p:blipFill>
          <p:spPr>
            <a:xfrm>
              <a:off x="7410942" y="5060736"/>
              <a:ext cx="3865693" cy="2454413"/>
            </a:xfrm>
            <a:prstGeom prst="rect">
              <a:avLst/>
            </a:prstGeom>
          </p:spPr>
        </p:pic>
      </p:grpSp>
      <p:sp>
        <p:nvSpPr>
          <p:cNvPr id="16" name="Rectangle 1">
            <a:extLst>
              <a:ext uri="{FF2B5EF4-FFF2-40B4-BE49-F238E27FC236}">
                <a16:creationId xmlns:a16="http://schemas.microsoft.com/office/drawing/2014/main" id="{0C00EF1E-AE66-046A-C218-B3724112E73B}"/>
              </a:ext>
            </a:extLst>
          </p:cNvPr>
          <p:cNvSpPr>
            <a:spLocks noChangeArrowheads="1"/>
          </p:cNvSpPr>
          <p:nvPr/>
        </p:nvSpPr>
        <p:spPr bwMode="auto">
          <a:xfrm flipH="1">
            <a:off x="-44521119" y="2457199"/>
            <a:ext cx="3149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anchorCtr="0" bIns="45720" compatLnSpc="1" lIns="91440" numCol="1" rIns="91440" tIns="45720" vert="horz" wrap="square">
            <a:prstTxWarp prst="textNoShape">
              <a:avLst/>
            </a:prstTxWarp>
            <a:spAutoFit/>
          </a:body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dirty="0" i="0" kumimoji="0" lang="en-US" normalizeH="0" strike="noStrike" sz="1800" u="none">
                <a:ln>
                  <a:noFill/>
                </a:ln>
                <a:solidFill>
                  <a:schemeClr val="tx1"/>
                </a:solidFill>
                <a:effectLst/>
                <a:latin charset="0" panose="020B0604020202020204" pitchFamily="34" typeface="Arial"/>
              </a:rPr>
              <a:t>with children and educators. In Hyderabad, they</a:t>
            </a:r>
          </a:p>
        </p:txBody>
      </p:sp>
      <p:sp>
        <p:nvSpPr>
          <p:cNvPr id="17" name="Rectangle 2">
            <a:extLst>
              <a:ext uri="{FF2B5EF4-FFF2-40B4-BE49-F238E27FC236}">
                <a16:creationId xmlns:a16="http://schemas.microsoft.com/office/drawing/2014/main" id="{4E04BCCF-260D-D36E-59AE-5C0546950ABF}"/>
              </a:ext>
            </a:extLst>
          </p:cNvPr>
          <p:cNvSpPr>
            <a:spLocks noChangeArrowheads="1"/>
          </p:cNvSpPr>
          <p:nvPr/>
        </p:nvSpPr>
        <p:spPr bwMode="auto">
          <a:xfrm>
            <a:off x="7648956" y="1338515"/>
            <a:ext cx="436507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anchorCtr="0" bIns="45720" compatLnSpc="1" lIns="91440" numCol="1" rIns="91440" tIns="45720" vert="horz" wrap="square">
            <a:prstTxWarp prst="textNoShape">
              <a:avLst/>
            </a:prstTxWarp>
            <a:spAutoFit/>
          </a:body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dirty="0" i="0" kumimoji="0" lang="en-US" normalizeH="0" strike="noStrike" sz="1200" u="none">
                <a:ln>
                  <a:noFill/>
                </a:ln>
                <a:solidFill>
                  <a:schemeClr val="tx1"/>
                </a:solidFill>
                <a:effectLst/>
                <a:latin charset="0" panose="020B0604020202020204" pitchFamily="34" typeface="Arial"/>
              </a:rPr>
              <a:t>CRY offers a wide range of volunteering opportunities tailored to people from diverse backgrounds and locations. In Bangalore, volunteers actively participate in school-based interventions, working closely with children and educators. In Hyderabad, they contribute through hands-on involvement in children’s homes. While opportunities in Chennai are being shaped based on local needs, remote volunteers from cities like Vizag, Vijayawada, and Cochin—as well as other tier-2 cities—play a vital role by lending their skills in areas such as design, data analysis, translation, documentation, fundraising, and research. Whether working on-site or remotely, every volunteer has a meaningful way to make an impact.</a:t>
            </a:r>
          </a:p>
          <a:p>
            <a:pPr algn="l" defTabSz="914400" eaLnBrk="0" fontAlgn="base" hangingPunct="0" indent="0" latinLnBrk="0" lvl="0" marL="0" marR="0" rtl="0">
              <a:lnSpc>
                <a:spcPct val="100000"/>
              </a:lnSpc>
              <a:spcBef>
                <a:spcPct val="0"/>
              </a:spcBef>
              <a:spcAft>
                <a:spcPct val="0"/>
              </a:spcAft>
              <a:buClrTx/>
              <a:buSzTx/>
              <a:buFontTx/>
              <a:buNone/>
              <a:tabLst/>
            </a:pPr>
            <a:endParaRPr altLang="en-US" b="0" baseline="0" cap="none" dirty="0" i="0" kumimoji="0" lang="en-US" normalizeH="0" strike="noStrike" sz="1800" u="none">
              <a:ln>
                <a:noFill/>
              </a:ln>
              <a:solidFill>
                <a:schemeClr val="tx1"/>
              </a:solidFill>
              <a:effectLst/>
              <a:latin charset="0" panose="020B0604020202020204" pitchFamily="34" typeface="Arial"/>
            </a:endParaRPr>
          </a:p>
        </p:txBody>
      </p:sp>
    </p:spTree>
    <p:extLst>
      <p:ext uri="{BB962C8B-B14F-4D97-AF65-F5344CB8AC3E}">
        <p14:creationId xmlns:p14="http://schemas.microsoft.com/office/powerpoint/2010/main" val="1312394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spd="slow">
        <p159:morph option="byObject"/>
      </p:transition>
    </mc:Choice>
    <mc:Fallback xmlns="">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4"/>
                                        </p:tgtEl>
                                        <p:attrNameLst>
                                          <p:attrName>style.visibility</p:attrName>
                                        </p:attrNameLst>
                                      </p:cBhvr>
                                      <p:to>
                                        <p:strVal val="visible"/>
                                      </p:to>
                                    </p:set>
                                    <p:anim calcmode="lin" valueType="num">
                                      <p:cBhvr additive="base">
                                        <p:cTn dur="500" fill="hold" id="7"/>
                                        <p:tgtEl>
                                          <p:spTgt spid="14"/>
                                        </p:tgtEl>
                                        <p:attrNameLst>
                                          <p:attrName>ppt_x</p:attrName>
                                        </p:attrNameLst>
                                      </p:cBhvr>
                                      <p:tavLst>
                                        <p:tav tm="0">
                                          <p:val>
                                            <p:strVal val="#ppt_x"/>
                                          </p:val>
                                        </p:tav>
                                        <p:tav tm="100000">
                                          <p:val>
                                            <p:strVal val="#ppt_x"/>
                                          </p:val>
                                        </p:tav>
                                      </p:tavLst>
                                    </p:anim>
                                    <p:anim calcmode="lin" valueType="num">
                                      <p:cBhvr additive="base">
                                        <p:cTn dur="500" fill="hold" id="8"/>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23922-0C1E-C882-5D0C-46A37B5AB84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9E00B2B-3567-B78C-930E-EC8FA4EBDC9A}"/>
              </a:ext>
            </a:extLst>
          </p:cNvPr>
          <p:cNvSpPr/>
          <p:nvPr/>
        </p:nvSpPr>
        <p:spPr>
          <a:xfrm>
            <a:off x="-21023" y="-1"/>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EFC60576-A9CA-B4F8-A04C-6F18D28B81D1}"/>
              </a:ext>
            </a:extLst>
          </p:cNvPr>
          <p:cNvPicPr>
            <a:picLocks noChangeAspect="1"/>
          </p:cNvPicPr>
          <p:nvPr/>
        </p:nvPicPr>
        <p:blipFill>
          <a:blip r:embed="R5b5901a14ebd4a95">
            <a:extLst>
              <a:ext uri="{28A0092B-C50C-407E-A947-70E740481C1C}">
                <a14:useLocalDpi xmlns:a14="http://schemas.microsoft.com/office/drawing/2010/main" val="0"/>
              </a:ext>
            </a:extLst>
          </a:blip>
          <a:stretch>
            <a:fillRect/>
          </a:stretch>
        </p:blipFill>
        <p:spPr>
          <a:xfrm>
            <a:off x="10482180" y="-208935"/>
            <a:ext cx="1531849" cy="1769806"/>
          </a:xfrm>
          <a:prstGeom prst="rect">
            <a:avLst/>
          </a:prstGeom>
        </p:spPr>
      </p:pic>
      <p:sp>
        <p:nvSpPr>
          <p:cNvPr id="48" name="Flowchart: Connector 47">
            <a:extLst>
              <a:ext uri="{FF2B5EF4-FFF2-40B4-BE49-F238E27FC236}">
                <a16:creationId xmlns:a16="http://schemas.microsoft.com/office/drawing/2014/main" id="{88B89182-D18B-6664-95BB-AA0CE383458A}"/>
              </a:ext>
            </a:extLst>
          </p:cNvPr>
          <p:cNvSpPr/>
          <p:nvPr/>
        </p:nvSpPr>
        <p:spPr>
          <a:xfrm>
            <a:off x="175409" y="-1"/>
            <a:ext cx="6946751" cy="7181278"/>
          </a:xfrm>
          <a:prstGeom prst="flowChartConnector">
            <a:avLst/>
          </a:prstGeom>
          <a:solidFill>
            <a:schemeClr val="tx1">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ffectLst>
                <a:outerShdw blurRad="50800" dist="38100" algn="l" rotWithShape="0">
                  <a:prstClr val="black">
                    <a:alpha val="40000"/>
                  </a:prstClr>
                </a:outerShdw>
              </a:effectLst>
            </a:endParaRPr>
          </a:p>
        </p:txBody>
      </p:sp>
      <p:sp>
        <p:nvSpPr>
          <p:cNvPr id="47" name="Flowchart: Connector 46">
            <a:extLst>
              <a:ext uri="{FF2B5EF4-FFF2-40B4-BE49-F238E27FC236}">
                <a16:creationId xmlns:a16="http://schemas.microsoft.com/office/drawing/2014/main" id="{69171CD5-AF94-77A7-6B00-33431C790C1F}"/>
              </a:ext>
            </a:extLst>
          </p:cNvPr>
          <p:cNvSpPr/>
          <p:nvPr/>
        </p:nvSpPr>
        <p:spPr>
          <a:xfrm>
            <a:off x="60043" y="-88330"/>
            <a:ext cx="7431965" cy="7357936"/>
          </a:xfrm>
          <a:prstGeom prst="flowChartConnector">
            <a:avLst/>
          </a:prstGeom>
          <a:solidFill>
            <a:schemeClr val="tx1">
              <a:lumMod val="65000"/>
              <a:lumOff val="3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b="1" dirty="0">
              <a:solidFill>
                <a:schemeClr val="tx1"/>
              </a:solidFill>
            </a:endParaRPr>
          </a:p>
        </p:txBody>
      </p:sp>
      <p:sp>
        <p:nvSpPr>
          <p:cNvPr id="51" name="TextBox 50">
            <a:extLst>
              <a:ext uri="{FF2B5EF4-FFF2-40B4-BE49-F238E27FC236}">
                <a16:creationId xmlns:a16="http://schemas.microsoft.com/office/drawing/2014/main" id="{EE5C6B03-7602-81C6-5D1E-1858B0CB90B0}"/>
              </a:ext>
            </a:extLst>
          </p:cNvPr>
          <p:cNvSpPr txBox="1"/>
          <p:nvPr/>
        </p:nvSpPr>
        <p:spPr>
          <a:xfrm>
            <a:off x="-6184218" y="860705"/>
            <a:ext cx="4119198" cy="707886"/>
          </a:xfrm>
          <a:prstGeom prst="rect">
            <a:avLst/>
          </a:prstGeom>
          <a:noFill/>
        </p:spPr>
        <p:txBody>
          <a:bodyPr wrap="square" rtlCol="0">
            <a:spAutoFit/>
          </a:bodyPr>
          <a:lstStyle/>
          <a:p>
            <a:r>
              <a:rPr lang="en-IN" sz="2000" b="1" dirty="0"/>
              <a:t>01</a:t>
            </a:r>
          </a:p>
          <a:p>
            <a:r>
              <a:rPr lang="en-IN" sz="2000" b="1" dirty="0"/>
              <a:t>Volunteer Demographics</a:t>
            </a:r>
          </a:p>
        </p:txBody>
      </p:sp>
      <p:sp>
        <p:nvSpPr>
          <p:cNvPr id="4" name="TextBox 3">
            <a:extLst>
              <a:ext uri="{FF2B5EF4-FFF2-40B4-BE49-F238E27FC236}">
                <a16:creationId xmlns:a16="http://schemas.microsoft.com/office/drawing/2014/main" id="{3AA6E675-095A-6BBA-E659-9F1E868ED0AF}"/>
              </a:ext>
            </a:extLst>
          </p:cNvPr>
          <p:cNvSpPr txBox="1"/>
          <p:nvPr/>
        </p:nvSpPr>
        <p:spPr>
          <a:xfrm>
            <a:off x="-7653020" y="1560871"/>
            <a:ext cx="5588000" cy="4308872"/>
          </a:xfrm>
          <a:prstGeom prst="rect">
            <a:avLst/>
          </a:prstGeom>
          <a:noFill/>
        </p:spPr>
        <p:txBody>
          <a:bodyPr wrap="square" rtlCol="0">
            <a:spAutoFit/>
          </a:bodyPr>
          <a:lstStyle/>
          <a:p>
            <a:endParaRPr lang="en-IN" dirty="0"/>
          </a:p>
          <a:p>
            <a:pPr marL="285750" indent="-285750">
              <a:buFontTx/>
              <a:buChar char="-"/>
            </a:pPr>
            <a:r>
              <a:rPr lang="en-IN" sz="3200" dirty="0">
                <a:latin typeface="Bahnschrift Condensed" panose="020B0502040204020203" pitchFamily="34" charset="0"/>
              </a:rPr>
              <a:t>Working Professionals  43%</a:t>
            </a:r>
          </a:p>
          <a:p>
            <a:pPr marL="285750" indent="-285750">
              <a:buFontTx/>
              <a:buChar char="-"/>
            </a:pPr>
            <a:r>
              <a:rPr lang="en-IN" sz="3200" dirty="0">
                <a:latin typeface="Bahnschrift Condensed" panose="020B0502040204020203" pitchFamily="34" charset="0"/>
              </a:rPr>
              <a:t>College Students 31%</a:t>
            </a:r>
          </a:p>
          <a:p>
            <a:pPr marL="285750" indent="-285750">
              <a:buFontTx/>
              <a:buChar char="-"/>
            </a:pPr>
            <a:r>
              <a:rPr lang="en-IN" sz="3200" dirty="0">
                <a:latin typeface="Bahnschrift Condensed" panose="020B0502040204020203" pitchFamily="34" charset="0"/>
              </a:rPr>
              <a:t>School students 16%</a:t>
            </a:r>
          </a:p>
          <a:p>
            <a:pPr marL="285750" indent="-285750">
              <a:buFontTx/>
              <a:buChar char="-"/>
            </a:pPr>
            <a:r>
              <a:rPr lang="en-IN" sz="3200" dirty="0">
                <a:latin typeface="Bahnschrift Condensed" panose="020B0502040204020203" pitchFamily="34" charset="0"/>
              </a:rPr>
              <a:t>Others 10%</a:t>
            </a:r>
          </a:p>
          <a:p>
            <a:pPr marL="285750" indent="-285750">
              <a:buFontTx/>
              <a:buChar char="-"/>
            </a:pPr>
            <a:endParaRPr lang="en-IN" sz="3200" dirty="0">
              <a:latin typeface="Bahnschrift Condensed" panose="020B0502040204020203" pitchFamily="34" charset="0"/>
            </a:endParaRPr>
          </a:p>
          <a:p>
            <a:pPr marL="285750" indent="-285750">
              <a:buFontTx/>
              <a:buChar char="-"/>
            </a:pPr>
            <a:r>
              <a:rPr lang="en-IN" sz="3200" dirty="0">
                <a:latin typeface="Bahnschrift Condensed" panose="020B0502040204020203" pitchFamily="34" charset="0"/>
              </a:rPr>
              <a:t>Gender demographics </a:t>
            </a:r>
          </a:p>
          <a:p>
            <a:pPr marL="285750" indent="-285750">
              <a:buFontTx/>
              <a:buChar char="-"/>
            </a:pPr>
            <a:r>
              <a:rPr lang="en-IN" sz="3200" dirty="0">
                <a:latin typeface="Bahnschrift Condensed" panose="020B0502040204020203" pitchFamily="34" charset="0"/>
              </a:rPr>
              <a:t>Male 40%</a:t>
            </a:r>
          </a:p>
          <a:p>
            <a:pPr marL="285750" indent="-285750">
              <a:buFontTx/>
              <a:buChar char="-"/>
            </a:pPr>
            <a:r>
              <a:rPr lang="en-IN" sz="3200" dirty="0">
                <a:latin typeface="Bahnschrift Condensed" panose="020B0502040204020203" pitchFamily="34" charset="0"/>
              </a:rPr>
              <a:t>Female 60%</a:t>
            </a:r>
          </a:p>
        </p:txBody>
      </p:sp>
      <p:sp>
        <p:nvSpPr>
          <p:cNvPr id="5" name="TextBox 4">
            <a:extLst>
              <a:ext uri="{FF2B5EF4-FFF2-40B4-BE49-F238E27FC236}">
                <a16:creationId xmlns:a16="http://schemas.microsoft.com/office/drawing/2014/main" id="{0FA42614-60EC-1CCE-AC2E-BB5A3140D2FA}"/>
              </a:ext>
            </a:extLst>
          </p:cNvPr>
          <p:cNvSpPr txBox="1"/>
          <p:nvPr/>
        </p:nvSpPr>
        <p:spPr>
          <a:xfrm>
            <a:off x="1983999" y="1106926"/>
            <a:ext cx="3992880" cy="923330"/>
          </a:xfrm>
          <a:prstGeom prst="rect">
            <a:avLst/>
          </a:prstGeom>
          <a:noFill/>
        </p:spPr>
        <p:txBody>
          <a:bodyPr wrap="square" rtlCol="0">
            <a:spAutoFit/>
          </a:bodyPr>
          <a:lstStyle/>
          <a:p>
            <a:r>
              <a:rPr lang="en-IN" b="1" dirty="0">
                <a:solidFill>
                  <a:schemeClr val="bg1"/>
                </a:solidFill>
              </a:rPr>
              <a:t>02</a:t>
            </a:r>
          </a:p>
          <a:p>
            <a:r>
              <a:rPr lang="en-US" b="1" dirty="0">
                <a:solidFill>
                  <a:schemeClr val="bg1"/>
                </a:solidFill>
              </a:rPr>
              <a:t>Why individuals volunteer with CRY</a:t>
            </a:r>
            <a:endParaRPr lang="en-IN" b="1" dirty="0">
              <a:solidFill>
                <a:schemeClr val="bg1"/>
              </a:solidFill>
            </a:endParaRPr>
          </a:p>
          <a:p>
            <a:endParaRPr lang="en-IN" dirty="0"/>
          </a:p>
        </p:txBody>
      </p:sp>
      <p:sp>
        <p:nvSpPr>
          <p:cNvPr id="6" name="TextBox 5">
            <a:extLst>
              <a:ext uri="{FF2B5EF4-FFF2-40B4-BE49-F238E27FC236}">
                <a16:creationId xmlns:a16="http://schemas.microsoft.com/office/drawing/2014/main" id="{FF5253ED-EEA5-0697-EC43-0DC1C74CEF35}"/>
              </a:ext>
            </a:extLst>
          </p:cNvPr>
          <p:cNvSpPr txBox="1"/>
          <p:nvPr/>
        </p:nvSpPr>
        <p:spPr>
          <a:xfrm>
            <a:off x="1472519" y="2631176"/>
            <a:ext cx="5361310" cy="1938992"/>
          </a:xfrm>
          <a:prstGeom prst="rect">
            <a:avLst/>
          </a:prstGeom>
          <a:noFill/>
        </p:spPr>
        <p:txBody>
          <a:bodyPr wrap="square" rtlCol="0">
            <a:spAutoFit/>
          </a:bodyPr>
          <a:lstStyle/>
          <a:p>
            <a:r>
              <a:rPr lang="en-US" sz="2400" dirty="0">
                <a:latin typeface="Bahnschrift Condensed" panose="020B0502040204020203" pitchFamily="34" charset="0"/>
              </a:rPr>
              <a:t>Driven by curiosity and the desire to create change, school students step in with youthful energy. Volunteering not only fuels their passion—it also shapes their future, building skills and experiences that stay with them for life.</a:t>
            </a:r>
            <a:endParaRPr lang="en-IN" sz="2400" dirty="0">
              <a:latin typeface="Bahnschrift Condensed" panose="020B0502040204020203" pitchFamily="34" charset="0"/>
            </a:endParaRPr>
          </a:p>
        </p:txBody>
      </p:sp>
      <p:sp>
        <p:nvSpPr>
          <p:cNvPr id="16" name="Rectangle 1">
            <a:extLst>
              <a:ext uri="{FF2B5EF4-FFF2-40B4-BE49-F238E27FC236}">
                <a16:creationId xmlns:a16="http://schemas.microsoft.com/office/drawing/2014/main" id="{C6F70144-4DFA-649D-E5AD-3A697AAE468D}"/>
              </a:ext>
            </a:extLst>
          </p:cNvPr>
          <p:cNvSpPr>
            <a:spLocks noChangeArrowheads="1"/>
          </p:cNvSpPr>
          <p:nvPr/>
        </p:nvSpPr>
        <p:spPr bwMode="auto">
          <a:xfrm flipH="1">
            <a:off x="-44521119" y="2457199"/>
            <a:ext cx="3149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with children and educators. In Hyderabad, they</a:t>
            </a:r>
          </a:p>
        </p:txBody>
      </p:sp>
      <p:sp>
        <p:nvSpPr>
          <p:cNvPr id="17" name="Rectangle 2">
            <a:extLst>
              <a:ext uri="{FF2B5EF4-FFF2-40B4-BE49-F238E27FC236}">
                <a16:creationId xmlns:a16="http://schemas.microsoft.com/office/drawing/2014/main" id="{67FC9E0D-AD01-F94E-378C-FB65D7CB4289}"/>
              </a:ext>
            </a:extLst>
          </p:cNvPr>
          <p:cNvSpPr>
            <a:spLocks noChangeArrowheads="1"/>
          </p:cNvSpPr>
          <p:nvPr/>
        </p:nvSpPr>
        <p:spPr bwMode="auto">
          <a:xfrm>
            <a:off x="7648956" y="1338515"/>
            <a:ext cx="436507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CRY offers a wide range of volunteering opportunities tailored to people from diverse backgrounds and locations. In Bangalore, volunteers actively participate in school-based interventions, working closely with children and educators. In Hyderabad, they contribute through hands-on involvement in children’s homes. While opportunities in Chennai are being shaped based on local needs, remote volunteers from cities like Vizag, Vijayawada, and Cochin—as well as other tier-2 cities—play a vital role by lending their skills in areas such as design, data analysis, translation, documentation, fundraising, and research. Whether working on-site or remotely, every volunteer has a meaningful way to make an impact.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F6C01606-1CE5-B433-68B4-CB47DAFA7092}"/>
              </a:ext>
            </a:extLst>
          </p:cNvPr>
          <p:cNvPicPr>
            <a:picLocks noChangeAspect="1"/>
          </p:cNvPicPr>
          <p:nvPr/>
        </p:nvPicPr>
        <p:blipFill>
          <a:blip r:embed="Ra43d4f49e2c54b5d">
            <a:extLst>
              <a:ext uri="{28A0092B-C50C-407E-A947-70E740481C1C}">
                <a14:useLocalDpi xmlns:a14="http://schemas.microsoft.com/office/drawing/2010/main" val="0"/>
              </a:ext>
            </a:extLst>
          </a:blip>
          <a:stretch>
            <a:fillRect/>
          </a:stretch>
        </p:blipFill>
        <p:spPr>
          <a:xfrm>
            <a:off x="7940019" y="3739776"/>
            <a:ext cx="3706019" cy="2687399"/>
          </a:xfrm>
          <a:prstGeom prst="rect">
            <a:avLst/>
          </a:prstGeom>
        </p:spPr>
      </p:pic>
    </p:spTree>
    <p:extLst>
      <p:ext uri="{BB962C8B-B14F-4D97-AF65-F5344CB8AC3E}">
        <p14:creationId xmlns:p14="http://schemas.microsoft.com/office/powerpoint/2010/main" val="30382364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F48E8053-C4B8-51AD-E9C7-354060C82F5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153A32-1B6E-180E-6B34-85B38E62CFE4}"/>
              </a:ext>
            </a:extLst>
          </p:cNvPr>
          <p:cNvSpPr/>
          <p:nvPr/>
        </p:nvSpPr>
        <p:spPr>
          <a:xfrm>
            <a:off x="-21023" y="-1"/>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anchor="ctr" rtlCol="0"/>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7E3738DF-86A2-C5C2-1D83-A63224B27C17}"/>
              </a:ext>
            </a:extLst>
          </p:cNvPr>
          <p:cNvPicPr>
            <a:picLocks noChangeAspect="1"/>
          </p:cNvPicPr>
          <p:nvPr/>
        </p:nvPicPr>
        <p:blipFill>
          <a:blip r:embed="R39a3fef919974749">
            <a:extLst>
              <a:ext uri="{28A0092B-C50C-407E-A947-70E740481C1C}">
                <a14:useLocalDpi xmlns:a14="http://schemas.microsoft.com/office/drawing/2010/main" val="0"/>
              </a:ext>
            </a:extLst>
          </a:blip>
          <a:stretch>
            <a:fillRect/>
          </a:stretch>
        </p:blipFill>
        <p:spPr>
          <a:xfrm>
            <a:off x="10482180" y="-208935"/>
            <a:ext cx="1531849" cy="1769806"/>
          </a:xfrm>
          <a:prstGeom prst="rect">
            <a:avLst/>
          </a:prstGeom>
        </p:spPr>
      </p:pic>
      <p:sp>
        <p:nvSpPr>
          <p:cNvPr id="34" name="Freeform: Shape 33">
            <a:extLst>
              <a:ext uri="{FF2B5EF4-FFF2-40B4-BE49-F238E27FC236}">
                <a16:creationId xmlns:a16="http://schemas.microsoft.com/office/drawing/2014/main" id="{850F4105-2582-8D77-60D8-3E32918F90FE}"/>
              </a:ext>
            </a:extLst>
          </p:cNvPr>
          <p:cNvSpPr/>
          <p:nvPr/>
        </p:nvSpPr>
        <p:spPr>
          <a:xfrm>
            <a:off x="12525983" y="2730867"/>
            <a:ext cx="1403213" cy="1396266"/>
          </a:xfrm>
          <a:custGeom>
            <a:avLst/>
            <a:gdLst>
              <a:gd fmla="*/ 0 w 1403213" name="connsiteX0"/>
              <a:gd fmla="*/ 0 h 1396266" name="connsiteY0"/>
              <a:gd fmla="*/ 0 w 1403213" name="connsiteX1"/>
              <a:gd fmla="*/ 0 h 1396266" name="connsiteY1"/>
              <a:gd fmla="*/ 3441 w 1403213" name="connsiteX2"/>
              <a:gd fmla="*/ 64062 h 1396266" name="connsiteY2"/>
              <a:gd fmla="*/ 1285135 w 1403213" name="connsiteX3"/>
              <a:gd fmla="*/ 1380390 h 1396266" name="connsiteY3"/>
              <a:gd fmla="*/ 1403213 w 1403213" name="connsiteX4"/>
              <a:gd fmla="*/ 1396265 h 1396266" name="connsiteY4"/>
              <a:gd fmla="*/ 1403213 w 1403213" name="connsiteX5"/>
              <a:gd fmla="*/ 1396266 h 1396266" name="connsiteY5"/>
              <a:gd fmla="*/ 1285135 w 1403213" name="connsiteX6"/>
              <a:gd fmla="*/ 1380391 h 1396266" name="connsiteY6"/>
              <a:gd fmla="*/ 3441 w 1403213" name="connsiteX7"/>
              <a:gd fmla="*/ 64063 h 1396266" name="connsiteY7"/>
              <a:gd fmla="*/ 0 w 1403213" name="connsiteX8"/>
              <a:gd fmla="*/ 0 h 1396266"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1396266" w="1403213">
                <a:moveTo>
                  <a:pt x="0" y="0"/>
                </a:moveTo>
                <a:lnTo>
                  <a:pt x="0" y="0"/>
                </a:lnTo>
                <a:lnTo>
                  <a:pt x="3441" y="64062"/>
                </a:lnTo>
                <a:cubicBezTo>
                  <a:pt x="74736" y="724160"/>
                  <a:pt x="602427" y="1257395"/>
                  <a:pt x="1285135" y="1380390"/>
                </a:cubicBezTo>
                <a:lnTo>
                  <a:pt x="1403213" y="1396265"/>
                </a:lnTo>
                <a:lnTo>
                  <a:pt x="1403213" y="1396266"/>
                </a:lnTo>
                <a:lnTo>
                  <a:pt x="1285135" y="1380391"/>
                </a:lnTo>
                <a:cubicBezTo>
                  <a:pt x="602427" y="1257396"/>
                  <a:pt x="74736" y="724161"/>
                  <a:pt x="3441" y="6406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anchor="ctr" rtlCol="0" wrap="square">
            <a:noAutofit/>
          </a:bodyPr>
          <a:lstStyle/>
          <a:p>
            <a:pPr algn="ctr"/>
            <a:endParaRPr lang="en-IN"/>
          </a:p>
        </p:txBody>
      </p:sp>
      <p:sp>
        <p:nvSpPr>
          <p:cNvPr id="32" name="Freeform: Shape 31">
            <a:extLst>
              <a:ext uri="{FF2B5EF4-FFF2-40B4-BE49-F238E27FC236}">
                <a16:creationId xmlns:a16="http://schemas.microsoft.com/office/drawing/2014/main" id="{7EE581AD-08E6-4F30-22D6-5D0689981CE2}"/>
              </a:ext>
            </a:extLst>
          </p:cNvPr>
          <p:cNvSpPr/>
          <p:nvPr/>
        </p:nvSpPr>
        <p:spPr>
          <a:xfrm>
            <a:off x="12689597" y="1485902"/>
            <a:ext cx="1424504" cy="1399129"/>
          </a:xfrm>
          <a:custGeom>
            <a:avLst/>
            <a:gdLst>
              <a:gd fmla="*/ 1424504 w 1424504" name="connsiteX0"/>
              <a:gd fmla="*/ 0 h 1399129" name="connsiteY0"/>
              <a:gd fmla="*/ 1424504 w 1424504" name="connsiteX1"/>
              <a:gd fmla="*/ 0 h 1399129" name="connsiteY1"/>
              <a:gd fmla="*/ 1421064 w 1424504" name="connsiteX2"/>
              <a:gd fmla="*/ 64063 h 1399129" name="connsiteY2"/>
              <a:gd fmla="*/ 139370 w 1424504" name="connsiteX3"/>
              <a:gd fmla="*/ 1380391 h 1399129" name="connsiteY3"/>
              <a:gd fmla="*/ 0 w 1424504" name="connsiteX4"/>
              <a:gd fmla="*/ 1399129 h 1399129" name="connsiteY4"/>
              <a:gd fmla="*/ 0 w 1424504" name="connsiteX5"/>
              <a:gd fmla="*/ 1399128 h 1399129" name="connsiteY5"/>
              <a:gd fmla="*/ 139370 w 1424504" name="connsiteX6"/>
              <a:gd fmla="*/ 1380390 h 1399129" name="connsiteY6"/>
              <a:gd fmla="*/ 1421064 w 1424504" name="connsiteX7"/>
              <a:gd fmla="*/ 64062 h 1399129" name="connsiteY7"/>
              <a:gd fmla="*/ 1424504 w 1424504" name="connsiteX8"/>
              <a:gd fmla="*/ 0 h 1399129"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1399129" w="1424504">
                <a:moveTo>
                  <a:pt x="1424504" y="0"/>
                </a:moveTo>
                <a:lnTo>
                  <a:pt x="1424504" y="0"/>
                </a:lnTo>
                <a:lnTo>
                  <a:pt x="1421064" y="64063"/>
                </a:lnTo>
                <a:cubicBezTo>
                  <a:pt x="1349768" y="724161"/>
                  <a:pt x="822077" y="1257396"/>
                  <a:pt x="139370" y="1380391"/>
                </a:cubicBezTo>
                <a:lnTo>
                  <a:pt x="0" y="1399129"/>
                </a:lnTo>
                <a:lnTo>
                  <a:pt x="0" y="1399128"/>
                </a:lnTo>
                <a:lnTo>
                  <a:pt x="139370" y="1380390"/>
                </a:lnTo>
                <a:cubicBezTo>
                  <a:pt x="822077" y="1257395"/>
                  <a:pt x="1349768" y="724160"/>
                  <a:pt x="1421064" y="64062"/>
                </a:cubicBezTo>
                <a:lnTo>
                  <a:pt x="1424504"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anchor="ctr" rtlCol="0" wrap="square">
            <a:noAutofit/>
          </a:bodyPr>
          <a:lstStyle/>
          <a:p>
            <a:pPr algn="ctr"/>
            <a:endParaRPr lang="en-IN"/>
          </a:p>
        </p:txBody>
      </p:sp>
      <p:sp>
        <p:nvSpPr>
          <p:cNvPr id="20" name="Freeform: Shape 19">
            <a:extLst>
              <a:ext uri="{FF2B5EF4-FFF2-40B4-BE49-F238E27FC236}">
                <a16:creationId xmlns:a16="http://schemas.microsoft.com/office/drawing/2014/main" id="{4FF8ED1C-EFE8-7B4C-624D-226F4F8381CA}"/>
              </a:ext>
            </a:extLst>
          </p:cNvPr>
          <p:cNvSpPr/>
          <p:nvPr/>
        </p:nvSpPr>
        <p:spPr>
          <a:xfrm flipV="1">
            <a:off x="13115929" y="4198478"/>
            <a:ext cx="344954" cy="457774"/>
          </a:xfrm>
          <a:custGeom>
            <a:avLst/>
            <a:gdLst>
              <a:gd fmla="*/ 0 w 344954" name="connsiteX0"/>
              <a:gd fmla="*/ 0 h 10895" name="connsiteY0"/>
              <a:gd fmla="*/ 30479 w 344954" name="connsiteX1"/>
              <a:gd fmla="*/ 4098 h 10895" name="connsiteY1"/>
              <a:gd fmla="*/ 183123 w 344954" name="connsiteX2"/>
              <a:gd fmla="*/ 10894 h 10895" name="connsiteY2"/>
              <a:gd fmla="*/ 335766 w 344954" name="connsiteX3"/>
              <a:gd fmla="*/ 4098 h 10895" name="connsiteY3"/>
              <a:gd fmla="*/ 344954 w 344954" name="connsiteX4"/>
              <a:gd fmla="*/ 2863 h 10895" name="connsiteY4"/>
              <a:gd fmla="*/ 344954 w 344954" name="connsiteX5"/>
              <a:gd fmla="*/ 2864 h 10895" name="connsiteY5"/>
              <a:gd fmla="*/ 335766 w 344954" name="connsiteX6"/>
              <a:gd fmla="*/ 4099 h 10895" name="connsiteY6"/>
              <a:gd fmla="*/ 183123 w 344954" name="connsiteX7"/>
              <a:gd fmla="*/ 10895 h 10895" name="connsiteY7"/>
              <a:gd fmla="*/ 30479 w 344954" name="connsiteX8"/>
              <a:gd fmla="*/ 4099 h 10895" name="connsiteY8"/>
              <a:gd fmla="*/ 0 w 344954" name="connsiteX9"/>
              <a:gd fmla="*/ 1 h 10895" name="connsiteY9"/>
              <a:gd fmla="*/ 0 w 344954" name="connsiteX10"/>
              <a:gd fmla="*/ 0 h 10895"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10895" w="344954">
                <a:moveTo>
                  <a:pt x="0" y="0"/>
                </a:moveTo>
                <a:lnTo>
                  <a:pt x="30479" y="4098"/>
                </a:lnTo>
                <a:cubicBezTo>
                  <a:pt x="80716" y="8595"/>
                  <a:pt x="131634" y="10894"/>
                  <a:pt x="183123" y="10894"/>
                </a:cubicBezTo>
                <a:cubicBezTo>
                  <a:pt x="234612" y="10894"/>
                  <a:pt x="285530" y="8595"/>
                  <a:pt x="335766" y="4098"/>
                </a:cubicBezTo>
                <a:lnTo>
                  <a:pt x="344954" y="2863"/>
                </a:lnTo>
                <a:lnTo>
                  <a:pt x="344954" y="2864"/>
                </a:lnTo>
                <a:lnTo>
                  <a:pt x="335766" y="4099"/>
                </a:lnTo>
                <a:cubicBezTo>
                  <a:pt x="285530" y="8596"/>
                  <a:pt x="234612" y="10895"/>
                  <a:pt x="183123" y="10895"/>
                </a:cubicBezTo>
                <a:cubicBezTo>
                  <a:pt x="131634" y="10895"/>
                  <a:pt x="80716" y="8596"/>
                  <a:pt x="30479" y="4099"/>
                </a:cubicBez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anchor="ctr" rtlCol="0" wrap="square">
            <a:noAutofit/>
          </a:bodyPr>
          <a:lstStyle/>
          <a:p>
            <a:pPr algn="ctr"/>
            <a:endParaRPr lang="en-IN"/>
          </a:p>
        </p:txBody>
      </p:sp>
      <p:sp>
        <p:nvSpPr>
          <p:cNvPr id="48" name="Flowchart: Connector 47">
            <a:extLst>
              <a:ext uri="{FF2B5EF4-FFF2-40B4-BE49-F238E27FC236}">
                <a16:creationId xmlns:a16="http://schemas.microsoft.com/office/drawing/2014/main" id="{DED57E0D-4F05-5FF8-5669-50B1052BC5F5}"/>
              </a:ext>
            </a:extLst>
          </p:cNvPr>
          <p:cNvSpPr/>
          <p:nvPr/>
        </p:nvSpPr>
        <p:spPr>
          <a:xfrm>
            <a:off x="175409" y="-1"/>
            <a:ext cx="6946751" cy="7181278"/>
          </a:xfrm>
          <a:prstGeom prst="flowChartConnector">
            <a:avLst/>
          </a:prstGeom>
          <a:solidFill>
            <a:schemeClr val="tx1">
              <a:lumMod val="75000"/>
              <a:lumOff val="25000"/>
            </a:schemeClr>
          </a:solidFill>
          <a:effectLst>
            <a:outerShdw algn="tl" blurRad="50800" dir="2700000" dist="381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IN">
              <a:noFill/>
              <a:effectLst>
                <a:outerShdw algn="l" blurRad="50800" dist="38100" rotWithShape="0">
                  <a:prstClr val="black">
                    <a:alpha val="40000"/>
                  </a:prstClr>
                </a:outerShdw>
              </a:effectLst>
            </a:endParaRPr>
          </a:p>
        </p:txBody>
      </p:sp>
      <p:sp>
        <p:nvSpPr>
          <p:cNvPr id="47" name="Flowchart: Connector 46">
            <a:extLst>
              <a:ext uri="{FF2B5EF4-FFF2-40B4-BE49-F238E27FC236}">
                <a16:creationId xmlns:a16="http://schemas.microsoft.com/office/drawing/2014/main" id="{AF0062AC-C27D-A17D-8444-8ACD3B72ED92}"/>
              </a:ext>
            </a:extLst>
          </p:cNvPr>
          <p:cNvSpPr/>
          <p:nvPr/>
        </p:nvSpPr>
        <p:spPr>
          <a:xfrm>
            <a:off x="-67199" y="-1"/>
            <a:ext cx="7431965" cy="7357936"/>
          </a:xfrm>
          <a:prstGeom prst="flowChartConnector">
            <a:avLst/>
          </a:prstGeom>
          <a:solidFill>
            <a:schemeClr val="tx1">
              <a:lumMod val="65000"/>
              <a:lumOff val="35000"/>
            </a:schemeClr>
          </a:solidFill>
          <a:effectLst>
            <a:outerShdw algn="tl" blurRad="50800" dir="2700000" dist="381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lstStyle/>
          <a:p>
            <a:endParaRPr b="1" dirty="0" lang="en-IN">
              <a:solidFill>
                <a:schemeClr val="tx1"/>
              </a:solidFill>
            </a:endParaRPr>
          </a:p>
        </p:txBody>
      </p:sp>
      <p:sp>
        <p:nvSpPr>
          <p:cNvPr id="51" name="TextBox 50">
            <a:extLst>
              <a:ext uri="{FF2B5EF4-FFF2-40B4-BE49-F238E27FC236}">
                <a16:creationId xmlns:a16="http://schemas.microsoft.com/office/drawing/2014/main" id="{783DC9CC-0B52-49AA-E28F-20BEF13D207B}"/>
              </a:ext>
            </a:extLst>
          </p:cNvPr>
          <p:cNvSpPr txBox="1"/>
          <p:nvPr/>
        </p:nvSpPr>
        <p:spPr>
          <a:xfrm>
            <a:off x="-3280480" y="607603"/>
            <a:ext cx="4119198" cy="707886"/>
          </a:xfrm>
          <a:prstGeom prst="rect">
            <a:avLst/>
          </a:prstGeom>
          <a:noFill/>
        </p:spPr>
        <p:txBody>
          <a:bodyPr rtlCol="0" wrap="square">
            <a:spAutoFit/>
          </a:bodyPr>
          <a:lstStyle/>
          <a:p>
            <a:r>
              <a:rPr b="1" dirty="0" lang="en-IN" sz="2000"/>
              <a:t>01</a:t>
            </a:r>
          </a:p>
          <a:p>
            <a:r>
              <a:rPr b="1" dirty="0" lang="en-IN" sz="2000"/>
              <a:t>Volunteer Demographics</a:t>
            </a:r>
          </a:p>
        </p:txBody>
      </p:sp>
      <p:sp>
        <p:nvSpPr>
          <p:cNvPr id="4" name="TextBox 3">
            <a:extLst>
              <a:ext uri="{FF2B5EF4-FFF2-40B4-BE49-F238E27FC236}">
                <a16:creationId xmlns:a16="http://schemas.microsoft.com/office/drawing/2014/main" id="{33B378A3-D242-4E54-1172-BD7C062C9AB5}"/>
              </a:ext>
            </a:extLst>
          </p:cNvPr>
          <p:cNvSpPr txBox="1"/>
          <p:nvPr/>
        </p:nvSpPr>
        <p:spPr>
          <a:xfrm>
            <a:off x="-5150868" y="1485902"/>
            <a:ext cx="5588000" cy="4308872"/>
          </a:xfrm>
          <a:prstGeom prst="rect">
            <a:avLst/>
          </a:prstGeom>
          <a:noFill/>
        </p:spPr>
        <p:txBody>
          <a:bodyPr rtlCol="0" wrap="square">
            <a:spAutoFit/>
          </a:bodyPr>
          <a:lstStyle/>
          <a:p>
            <a:endParaRPr dirty="0" lang="en-IN"/>
          </a:p>
          <a:p>
            <a:pPr indent="-285750" marL="285750">
              <a:buFontTx/>
              <a:buChar char="-"/>
            </a:pPr>
            <a:r>
              <a:rPr dirty="0" lang="en-IN" sz="3200">
                <a:latin charset="0" panose="020B0502040204020203" pitchFamily="34" typeface="Bahnschrift Condensed"/>
              </a:rPr>
              <a:t>Working Professionals  43%</a:t>
            </a:r>
          </a:p>
          <a:p>
            <a:pPr indent="-285750" marL="285750">
              <a:buFontTx/>
              <a:buChar char="-"/>
            </a:pPr>
            <a:r>
              <a:rPr dirty="0" lang="en-IN" sz="3200">
                <a:latin charset="0" panose="020B0502040204020203" pitchFamily="34" typeface="Bahnschrift Condensed"/>
              </a:rPr>
              <a:t>College Students 31%</a:t>
            </a:r>
          </a:p>
          <a:p>
            <a:pPr indent="-285750" marL="285750">
              <a:buFontTx/>
              <a:buChar char="-"/>
            </a:pPr>
            <a:r>
              <a:rPr dirty="0" lang="en-IN" sz="3200">
                <a:latin charset="0" panose="020B0502040204020203" pitchFamily="34" typeface="Bahnschrift Condensed"/>
              </a:rPr>
              <a:t>School students 16%</a:t>
            </a:r>
          </a:p>
          <a:p>
            <a:pPr indent="-285750" marL="285750">
              <a:buFontTx/>
              <a:buChar char="-"/>
            </a:pPr>
            <a:r>
              <a:rPr dirty="0" lang="en-IN" sz="3200">
                <a:latin charset="0" panose="020B0502040204020203" pitchFamily="34" typeface="Bahnschrift Condensed"/>
              </a:rPr>
              <a:t>Others 10%</a:t>
            </a:r>
          </a:p>
          <a:p>
            <a:pPr indent="-285750" marL="285750">
              <a:buFontTx/>
              <a:buChar char="-"/>
            </a:pPr>
            <a:endParaRPr dirty="0" lang="en-IN" sz="3200">
              <a:latin charset="0" panose="020B0502040204020203" pitchFamily="34" typeface="Bahnschrift Condensed"/>
            </a:endParaRPr>
          </a:p>
          <a:p>
            <a:pPr indent="-285750" marL="285750">
              <a:buFontTx/>
              <a:buChar char="-"/>
            </a:pPr>
            <a:r>
              <a:rPr dirty="0" lang="en-IN" sz="3200">
                <a:latin charset="0" panose="020B0502040204020203" pitchFamily="34" typeface="Bahnschrift Condensed"/>
              </a:rPr>
              <a:t>Gender demographics </a:t>
            </a:r>
          </a:p>
          <a:p>
            <a:pPr indent="-285750" marL="285750">
              <a:buFontTx/>
              <a:buChar char="-"/>
            </a:pPr>
            <a:r>
              <a:rPr dirty="0" lang="en-IN" sz="3200">
                <a:latin charset="0" panose="020B0502040204020203" pitchFamily="34" typeface="Bahnschrift Condensed"/>
              </a:rPr>
              <a:t>Male 40%</a:t>
            </a:r>
          </a:p>
          <a:p>
            <a:pPr indent="-285750" marL="285750">
              <a:buFontTx/>
              <a:buChar char="-"/>
            </a:pPr>
            <a:r>
              <a:rPr dirty="0" lang="en-IN" sz="3200">
                <a:latin charset="0" panose="020B0502040204020203" pitchFamily="34" typeface="Bahnschrift Condensed"/>
              </a:rPr>
              <a:t>Female 60%</a:t>
            </a:r>
          </a:p>
        </p:txBody>
      </p:sp>
      <p:sp>
        <p:nvSpPr>
          <p:cNvPr id="5" name="TextBox 4">
            <a:extLst>
              <a:ext uri="{FF2B5EF4-FFF2-40B4-BE49-F238E27FC236}">
                <a16:creationId xmlns:a16="http://schemas.microsoft.com/office/drawing/2014/main" id="{E03F927F-C7F9-280D-5967-3E5D634F2F4F}"/>
              </a:ext>
            </a:extLst>
          </p:cNvPr>
          <p:cNvSpPr txBox="1"/>
          <p:nvPr/>
        </p:nvSpPr>
        <p:spPr>
          <a:xfrm>
            <a:off x="1834006" y="1099206"/>
            <a:ext cx="3992880" cy="923330"/>
          </a:xfrm>
          <a:prstGeom prst="rect">
            <a:avLst/>
          </a:prstGeom>
          <a:noFill/>
        </p:spPr>
        <p:txBody>
          <a:bodyPr rtlCol="0" wrap="square">
            <a:spAutoFit/>
          </a:bodyPr>
          <a:lstStyle/>
          <a:p>
            <a:r>
              <a:rPr b="1" dirty="0" lang="en-IN">
                <a:solidFill>
                  <a:schemeClr val="bg1"/>
                </a:solidFill>
              </a:rPr>
              <a:t>02</a:t>
            </a:r>
          </a:p>
          <a:p>
            <a:r>
              <a:rPr b="1" dirty="0" lang="en-US">
                <a:solidFill>
                  <a:schemeClr val="bg1"/>
                </a:solidFill>
              </a:rPr>
              <a:t>Why individuals volunteer with CRY</a:t>
            </a:r>
            <a:endParaRPr b="1" dirty="0" lang="en-IN">
              <a:solidFill>
                <a:schemeClr val="bg1"/>
              </a:solidFill>
            </a:endParaRPr>
          </a:p>
          <a:p>
            <a:endParaRPr dirty="0" lang="en-IN"/>
          </a:p>
        </p:txBody>
      </p:sp>
      <p:sp>
        <p:nvSpPr>
          <p:cNvPr id="6" name="TextBox 5">
            <a:extLst>
              <a:ext uri="{FF2B5EF4-FFF2-40B4-BE49-F238E27FC236}">
                <a16:creationId xmlns:a16="http://schemas.microsoft.com/office/drawing/2014/main" id="{5463FF8E-5810-936B-77F6-1D132999662D}"/>
              </a:ext>
            </a:extLst>
          </p:cNvPr>
          <p:cNvSpPr txBox="1"/>
          <p:nvPr/>
        </p:nvSpPr>
        <p:spPr>
          <a:xfrm>
            <a:off x="1149791" y="2488373"/>
            <a:ext cx="5361310" cy="1938992"/>
          </a:xfrm>
          <a:prstGeom prst="rect">
            <a:avLst/>
          </a:prstGeom>
          <a:noFill/>
        </p:spPr>
        <p:txBody>
          <a:bodyPr rtlCol="0" wrap="square">
            <a:spAutoFit/>
          </a:bodyPr>
          <a:lstStyle/>
          <a:p>
            <a:r>
              <a:rPr dirty="0" lang="en-US" sz="2400">
                <a:latin charset="0" panose="020B0502040204020203" pitchFamily="34" typeface="Bahnschrift Condensed"/>
              </a:rPr>
              <a:t>Fueled by energy and enthusiasm, college students dive into volunteering not just to lead, but to learn. They take on impactful roles, build leadership skills, and shape profiles that prepare them for the future—with purpose at the core.</a:t>
            </a:r>
            <a:endParaRPr dirty="0" lang="en-IN" sz="2400">
              <a:latin charset="0" panose="020B0502040204020203" pitchFamily="34" typeface="Bahnschrift Condensed"/>
            </a:endParaRPr>
          </a:p>
        </p:txBody>
      </p:sp>
      <p:grpSp>
        <p:nvGrpSpPr>
          <p:cNvPr id="14" name="Group 13">
            <a:extLst>
              <a:ext uri="{FF2B5EF4-FFF2-40B4-BE49-F238E27FC236}">
                <a16:creationId xmlns:a16="http://schemas.microsoft.com/office/drawing/2014/main" id="{72FEC38B-6536-9A8C-5D94-501F07166964}"/>
              </a:ext>
            </a:extLst>
          </p:cNvPr>
          <p:cNvGrpSpPr/>
          <p:nvPr/>
        </p:nvGrpSpPr>
        <p:grpSpPr>
          <a:xfrm>
            <a:off x="7783622" y="2065021"/>
            <a:ext cx="3968498" cy="7309142"/>
            <a:chOff x="7354413" y="73218"/>
            <a:chExt cx="3968498" cy="7441931"/>
          </a:xfrm>
        </p:grpSpPr>
        <p:sp>
          <p:nvSpPr>
            <p:cNvPr id="9" name="Rectangle 8">
              <a:extLst>
                <a:ext uri="{FF2B5EF4-FFF2-40B4-BE49-F238E27FC236}">
                  <a16:creationId xmlns:a16="http://schemas.microsoft.com/office/drawing/2014/main" id="{7F6D2D5E-EA72-50D7-1CB9-E409CFF9DC7D}"/>
                </a:ext>
              </a:extLst>
            </p:cNvPr>
            <p:cNvSpPr/>
            <p:nvPr/>
          </p:nvSpPr>
          <p:spPr>
            <a:xfrm>
              <a:off x="7354413" y="73218"/>
              <a:ext cx="3876045" cy="6858000"/>
            </a:xfrm>
            <a:prstGeom prst="rect">
              <a:avLst/>
            </a:prstGeom>
            <a:solidFill>
              <a:srgbClr val="FFD80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IN"/>
            </a:p>
          </p:txBody>
        </p:sp>
        <p:pic>
          <p:nvPicPr>
            <p:cNvPr id="11" name="Picture 10">
              <a:extLst>
                <a:ext uri="{FF2B5EF4-FFF2-40B4-BE49-F238E27FC236}">
                  <a16:creationId xmlns:a16="http://schemas.microsoft.com/office/drawing/2014/main" id="{8F21ED87-747D-58BC-C98D-C71318646B70}"/>
                </a:ext>
              </a:extLst>
            </p:cNvPr>
            <p:cNvPicPr>
              <a:picLocks noChangeAspect="1"/>
            </p:cNvPicPr>
            <p:nvPr/>
          </p:nvPicPr>
          <p:blipFill>
            <a:blip r:embed="R6f946ae2e1214543">
              <a:extLst>
                <a:ext uri="{28A0092B-C50C-407E-A947-70E740481C1C}">
                  <a14:useLocalDpi xmlns:a14="http://schemas.microsoft.com/office/drawing/2010/main" val="0"/>
                </a:ext>
              </a:extLst>
            </a:blip>
            <a:srcRect b="23" l="-1000" t="22"/>
            <a:stretch/>
          </p:blipFill>
          <p:spPr>
            <a:xfrm>
              <a:off x="7400589" y="2067279"/>
              <a:ext cx="3922322" cy="2454414"/>
            </a:xfrm>
            <a:prstGeom prst="rect">
              <a:avLst/>
            </a:prstGeom>
          </p:spPr>
        </p:pic>
        <p:pic>
          <p:nvPicPr>
            <p:cNvPr id="13" name="Picture 12">
              <a:extLst>
                <a:ext uri="{FF2B5EF4-FFF2-40B4-BE49-F238E27FC236}">
                  <a16:creationId xmlns:a16="http://schemas.microsoft.com/office/drawing/2014/main" id="{39238CA1-39D3-F071-2469-773C41BD2E8F}"/>
                </a:ext>
              </a:extLst>
            </p:cNvPr>
            <p:cNvPicPr>
              <a:picLocks noChangeAspect="1"/>
            </p:cNvPicPr>
            <p:nvPr/>
          </p:nvPicPr>
          <p:blipFill>
            <a:blip r:embed="Ra1718f5d7da0475d">
              <a:extLst>
                <a:ext uri="{28A0092B-C50C-407E-A947-70E740481C1C}">
                  <a14:useLocalDpi xmlns:a14="http://schemas.microsoft.com/office/drawing/2010/main" val="0"/>
                </a:ext>
              </a:extLst>
            </a:blip>
            <a:stretch>
              <a:fillRect/>
            </a:stretch>
          </p:blipFill>
          <p:spPr>
            <a:xfrm>
              <a:off x="7410942" y="5060736"/>
              <a:ext cx="3865693" cy="2454413"/>
            </a:xfrm>
            <a:prstGeom prst="rect">
              <a:avLst/>
            </a:prstGeom>
          </p:spPr>
        </p:pic>
      </p:grpSp>
      <p:sp>
        <p:nvSpPr>
          <p:cNvPr id="7" name="TextBox 6">
            <a:extLst>
              <a:ext uri="{FF2B5EF4-FFF2-40B4-BE49-F238E27FC236}">
                <a16:creationId xmlns:a16="http://schemas.microsoft.com/office/drawing/2014/main" id="{04A095D3-34DB-8D5A-676F-0EF55D979446}"/>
              </a:ext>
            </a:extLst>
          </p:cNvPr>
          <p:cNvSpPr txBox="1"/>
          <p:nvPr/>
        </p:nvSpPr>
        <p:spPr>
          <a:xfrm>
            <a:off x="7640780" y="1560871"/>
            <a:ext cx="4182501" cy="2246769"/>
          </a:xfrm>
          <a:prstGeom prst="rect">
            <a:avLst/>
          </a:prstGeom>
          <a:noFill/>
        </p:spPr>
        <p:txBody>
          <a:bodyPr rtlCol="0" wrap="square">
            <a:spAutoFit/>
          </a:bodyPr>
          <a:lstStyle/>
          <a:p>
            <a:r>
              <a:rPr dirty="0" lang="en-US" sz="1400"/>
              <a:t>CRY believes in valuing its volunteers meaningfully. From regular thank-</a:t>
            </a:r>
            <a:r>
              <a:rPr dirty="0" err="1" lang="en-US" sz="1400"/>
              <a:t>yous</a:t>
            </a:r>
            <a:r>
              <a:rPr dirty="0" lang="en-US" sz="1400"/>
              <a:t> and personalized feedback to inclusion in staff events and project consultations, every effort is acknowledged. Volunteers are recognized at key levels—including mentions by leadership like Trustees and the CEO. Select critical roles may receive honoraria, while annual celebrations, certifications, and a growing repository of volunteer stories ensure their contributions are celebrated and shared widely.</a:t>
            </a:r>
            <a:endParaRPr dirty="0" lang="en-IN" sz="1400"/>
          </a:p>
        </p:txBody>
      </p:sp>
    </p:spTree>
    <p:extLst>
      <p:ext uri="{BB962C8B-B14F-4D97-AF65-F5344CB8AC3E}">
        <p14:creationId xmlns:p14="http://schemas.microsoft.com/office/powerpoint/2010/main" val="396450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9CEA9-F60E-2E8A-C053-E91CF505CDF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56E0C0-FC73-2EB0-F9B8-8364467AA2A3}"/>
              </a:ext>
            </a:extLst>
          </p:cNvPr>
          <p:cNvSpPr/>
          <p:nvPr/>
        </p:nvSpPr>
        <p:spPr>
          <a:xfrm>
            <a:off x="-21023" y="-1"/>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34" name="Freeform: Shape 33">
            <a:extLst>
              <a:ext uri="{FF2B5EF4-FFF2-40B4-BE49-F238E27FC236}">
                <a16:creationId xmlns:a16="http://schemas.microsoft.com/office/drawing/2014/main" id="{A2FF9106-9785-1DBA-DFAA-D1BFFF910170}"/>
              </a:ext>
            </a:extLst>
          </p:cNvPr>
          <p:cNvSpPr/>
          <p:nvPr/>
        </p:nvSpPr>
        <p:spPr>
          <a:xfrm>
            <a:off x="12525983" y="2730867"/>
            <a:ext cx="1403213" cy="1396266"/>
          </a:xfrm>
          <a:custGeom>
            <a:avLst/>
            <a:gdLst>
              <a:gd name="connsiteX0" fmla="*/ 0 w 1403213"/>
              <a:gd name="connsiteY0" fmla="*/ 0 h 1396266"/>
              <a:gd name="connsiteX1" fmla="*/ 0 w 1403213"/>
              <a:gd name="connsiteY1" fmla="*/ 0 h 1396266"/>
              <a:gd name="connsiteX2" fmla="*/ 3441 w 1403213"/>
              <a:gd name="connsiteY2" fmla="*/ 64062 h 1396266"/>
              <a:gd name="connsiteX3" fmla="*/ 1285135 w 1403213"/>
              <a:gd name="connsiteY3" fmla="*/ 1380390 h 1396266"/>
              <a:gd name="connsiteX4" fmla="*/ 1403213 w 1403213"/>
              <a:gd name="connsiteY4" fmla="*/ 1396265 h 1396266"/>
              <a:gd name="connsiteX5" fmla="*/ 1403213 w 1403213"/>
              <a:gd name="connsiteY5" fmla="*/ 1396266 h 1396266"/>
              <a:gd name="connsiteX6" fmla="*/ 1285135 w 1403213"/>
              <a:gd name="connsiteY6" fmla="*/ 1380391 h 1396266"/>
              <a:gd name="connsiteX7" fmla="*/ 3441 w 1403213"/>
              <a:gd name="connsiteY7" fmla="*/ 64063 h 1396266"/>
              <a:gd name="connsiteX8" fmla="*/ 0 w 1403213"/>
              <a:gd name="connsiteY8" fmla="*/ 0 h 139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3213" h="1396266">
                <a:moveTo>
                  <a:pt x="0" y="0"/>
                </a:moveTo>
                <a:lnTo>
                  <a:pt x="0" y="0"/>
                </a:lnTo>
                <a:lnTo>
                  <a:pt x="3441" y="64062"/>
                </a:lnTo>
                <a:cubicBezTo>
                  <a:pt x="74736" y="724160"/>
                  <a:pt x="602427" y="1257395"/>
                  <a:pt x="1285135" y="1380390"/>
                </a:cubicBezTo>
                <a:lnTo>
                  <a:pt x="1403213" y="1396265"/>
                </a:lnTo>
                <a:lnTo>
                  <a:pt x="1403213" y="1396266"/>
                </a:lnTo>
                <a:lnTo>
                  <a:pt x="1285135" y="1380391"/>
                </a:lnTo>
                <a:cubicBezTo>
                  <a:pt x="602427" y="1257396"/>
                  <a:pt x="74736" y="724161"/>
                  <a:pt x="3441" y="6406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2" name="Freeform: Shape 31">
            <a:extLst>
              <a:ext uri="{FF2B5EF4-FFF2-40B4-BE49-F238E27FC236}">
                <a16:creationId xmlns:a16="http://schemas.microsoft.com/office/drawing/2014/main" id="{0863D826-493A-964F-944A-A16C04E05EFF}"/>
              </a:ext>
            </a:extLst>
          </p:cNvPr>
          <p:cNvSpPr/>
          <p:nvPr/>
        </p:nvSpPr>
        <p:spPr>
          <a:xfrm>
            <a:off x="12689597" y="1485902"/>
            <a:ext cx="1424504" cy="1399129"/>
          </a:xfrm>
          <a:custGeom>
            <a:avLst/>
            <a:gdLst>
              <a:gd name="connsiteX0" fmla="*/ 1424504 w 1424504"/>
              <a:gd name="connsiteY0" fmla="*/ 0 h 1399129"/>
              <a:gd name="connsiteX1" fmla="*/ 1424504 w 1424504"/>
              <a:gd name="connsiteY1" fmla="*/ 0 h 1399129"/>
              <a:gd name="connsiteX2" fmla="*/ 1421064 w 1424504"/>
              <a:gd name="connsiteY2" fmla="*/ 64063 h 1399129"/>
              <a:gd name="connsiteX3" fmla="*/ 139370 w 1424504"/>
              <a:gd name="connsiteY3" fmla="*/ 1380391 h 1399129"/>
              <a:gd name="connsiteX4" fmla="*/ 0 w 1424504"/>
              <a:gd name="connsiteY4" fmla="*/ 1399129 h 1399129"/>
              <a:gd name="connsiteX5" fmla="*/ 0 w 1424504"/>
              <a:gd name="connsiteY5" fmla="*/ 1399128 h 1399129"/>
              <a:gd name="connsiteX6" fmla="*/ 139370 w 1424504"/>
              <a:gd name="connsiteY6" fmla="*/ 1380390 h 1399129"/>
              <a:gd name="connsiteX7" fmla="*/ 1421064 w 1424504"/>
              <a:gd name="connsiteY7" fmla="*/ 64062 h 1399129"/>
              <a:gd name="connsiteX8" fmla="*/ 1424504 w 1424504"/>
              <a:gd name="connsiteY8" fmla="*/ 0 h 1399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4504" h="1399129">
                <a:moveTo>
                  <a:pt x="1424504" y="0"/>
                </a:moveTo>
                <a:lnTo>
                  <a:pt x="1424504" y="0"/>
                </a:lnTo>
                <a:lnTo>
                  <a:pt x="1421064" y="64063"/>
                </a:lnTo>
                <a:cubicBezTo>
                  <a:pt x="1349768" y="724161"/>
                  <a:pt x="822077" y="1257396"/>
                  <a:pt x="139370" y="1380391"/>
                </a:cubicBezTo>
                <a:lnTo>
                  <a:pt x="0" y="1399129"/>
                </a:lnTo>
                <a:lnTo>
                  <a:pt x="0" y="1399128"/>
                </a:lnTo>
                <a:lnTo>
                  <a:pt x="139370" y="1380390"/>
                </a:lnTo>
                <a:cubicBezTo>
                  <a:pt x="822077" y="1257395"/>
                  <a:pt x="1349768" y="724160"/>
                  <a:pt x="1421064" y="64062"/>
                </a:cubicBezTo>
                <a:lnTo>
                  <a:pt x="1424504"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0" name="Freeform: Shape 19">
            <a:extLst>
              <a:ext uri="{FF2B5EF4-FFF2-40B4-BE49-F238E27FC236}">
                <a16:creationId xmlns:a16="http://schemas.microsoft.com/office/drawing/2014/main" id="{A2E5BDF6-B69E-F5F2-7C6A-A4BD4C6631CB}"/>
              </a:ext>
            </a:extLst>
          </p:cNvPr>
          <p:cNvSpPr/>
          <p:nvPr/>
        </p:nvSpPr>
        <p:spPr>
          <a:xfrm flipV="1">
            <a:off x="13115929" y="4198478"/>
            <a:ext cx="344954" cy="457774"/>
          </a:xfrm>
          <a:custGeom>
            <a:avLst/>
            <a:gdLst>
              <a:gd name="connsiteX0" fmla="*/ 0 w 344954"/>
              <a:gd name="connsiteY0" fmla="*/ 0 h 10895"/>
              <a:gd name="connsiteX1" fmla="*/ 30479 w 344954"/>
              <a:gd name="connsiteY1" fmla="*/ 4098 h 10895"/>
              <a:gd name="connsiteX2" fmla="*/ 183123 w 344954"/>
              <a:gd name="connsiteY2" fmla="*/ 10894 h 10895"/>
              <a:gd name="connsiteX3" fmla="*/ 335766 w 344954"/>
              <a:gd name="connsiteY3" fmla="*/ 4098 h 10895"/>
              <a:gd name="connsiteX4" fmla="*/ 344954 w 344954"/>
              <a:gd name="connsiteY4" fmla="*/ 2863 h 10895"/>
              <a:gd name="connsiteX5" fmla="*/ 344954 w 344954"/>
              <a:gd name="connsiteY5" fmla="*/ 2864 h 10895"/>
              <a:gd name="connsiteX6" fmla="*/ 335766 w 344954"/>
              <a:gd name="connsiteY6" fmla="*/ 4099 h 10895"/>
              <a:gd name="connsiteX7" fmla="*/ 183123 w 344954"/>
              <a:gd name="connsiteY7" fmla="*/ 10895 h 10895"/>
              <a:gd name="connsiteX8" fmla="*/ 30479 w 344954"/>
              <a:gd name="connsiteY8" fmla="*/ 4099 h 10895"/>
              <a:gd name="connsiteX9" fmla="*/ 0 w 344954"/>
              <a:gd name="connsiteY9" fmla="*/ 1 h 10895"/>
              <a:gd name="connsiteX10" fmla="*/ 0 w 344954"/>
              <a:gd name="connsiteY10" fmla="*/ 0 h 10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4954" h="10895">
                <a:moveTo>
                  <a:pt x="0" y="0"/>
                </a:moveTo>
                <a:lnTo>
                  <a:pt x="30479" y="4098"/>
                </a:lnTo>
                <a:cubicBezTo>
                  <a:pt x="80716" y="8595"/>
                  <a:pt x="131634" y="10894"/>
                  <a:pt x="183123" y="10894"/>
                </a:cubicBezTo>
                <a:cubicBezTo>
                  <a:pt x="234612" y="10894"/>
                  <a:pt x="285530" y="8595"/>
                  <a:pt x="335766" y="4098"/>
                </a:cubicBezTo>
                <a:lnTo>
                  <a:pt x="344954" y="2863"/>
                </a:lnTo>
                <a:lnTo>
                  <a:pt x="344954" y="2864"/>
                </a:lnTo>
                <a:lnTo>
                  <a:pt x="335766" y="4099"/>
                </a:lnTo>
                <a:cubicBezTo>
                  <a:pt x="285530" y="8596"/>
                  <a:pt x="234612" y="10895"/>
                  <a:pt x="183123" y="10895"/>
                </a:cubicBezTo>
                <a:cubicBezTo>
                  <a:pt x="131634" y="10895"/>
                  <a:pt x="80716" y="8596"/>
                  <a:pt x="30479" y="4099"/>
                </a:cubicBez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8" name="Flowchart: Connector 47">
            <a:extLst>
              <a:ext uri="{FF2B5EF4-FFF2-40B4-BE49-F238E27FC236}">
                <a16:creationId xmlns:a16="http://schemas.microsoft.com/office/drawing/2014/main" id="{36310767-3124-5DAC-45BC-3F22CCD56FA9}"/>
              </a:ext>
            </a:extLst>
          </p:cNvPr>
          <p:cNvSpPr/>
          <p:nvPr/>
        </p:nvSpPr>
        <p:spPr>
          <a:xfrm>
            <a:off x="175409" y="-1"/>
            <a:ext cx="6946751" cy="7181278"/>
          </a:xfrm>
          <a:prstGeom prst="flowChartConnector">
            <a:avLst/>
          </a:prstGeom>
          <a:solidFill>
            <a:schemeClr val="tx1">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ffectLst>
                <a:outerShdw blurRad="50800" dist="38100" algn="l" rotWithShape="0">
                  <a:prstClr val="black">
                    <a:alpha val="40000"/>
                  </a:prstClr>
                </a:outerShdw>
              </a:effectLst>
            </a:endParaRPr>
          </a:p>
        </p:txBody>
      </p:sp>
      <p:sp>
        <p:nvSpPr>
          <p:cNvPr id="47" name="Flowchart: Connector 46">
            <a:extLst>
              <a:ext uri="{FF2B5EF4-FFF2-40B4-BE49-F238E27FC236}">
                <a16:creationId xmlns:a16="http://schemas.microsoft.com/office/drawing/2014/main" id="{192FECE9-6A87-947A-1A52-93638709F77B}"/>
              </a:ext>
            </a:extLst>
          </p:cNvPr>
          <p:cNvSpPr/>
          <p:nvPr/>
        </p:nvSpPr>
        <p:spPr>
          <a:xfrm>
            <a:off x="-39245" y="0"/>
            <a:ext cx="7431965" cy="7357936"/>
          </a:xfrm>
          <a:prstGeom prst="flowChartConnector">
            <a:avLst/>
          </a:prstGeom>
          <a:solidFill>
            <a:schemeClr val="tx1">
              <a:lumMod val="65000"/>
              <a:lumOff val="3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b="1" dirty="0">
              <a:solidFill>
                <a:schemeClr val="tx1"/>
              </a:solidFill>
            </a:endParaRPr>
          </a:p>
        </p:txBody>
      </p:sp>
      <p:sp>
        <p:nvSpPr>
          <p:cNvPr id="51" name="TextBox 50">
            <a:extLst>
              <a:ext uri="{FF2B5EF4-FFF2-40B4-BE49-F238E27FC236}">
                <a16:creationId xmlns:a16="http://schemas.microsoft.com/office/drawing/2014/main" id="{F5694A00-EE0F-CCFF-0519-2442AFBB7C4D}"/>
              </a:ext>
            </a:extLst>
          </p:cNvPr>
          <p:cNvSpPr txBox="1"/>
          <p:nvPr/>
        </p:nvSpPr>
        <p:spPr>
          <a:xfrm>
            <a:off x="-3280480" y="607603"/>
            <a:ext cx="4119198" cy="707886"/>
          </a:xfrm>
          <a:prstGeom prst="rect">
            <a:avLst/>
          </a:prstGeom>
          <a:noFill/>
        </p:spPr>
        <p:txBody>
          <a:bodyPr wrap="square" rtlCol="0">
            <a:spAutoFit/>
          </a:bodyPr>
          <a:lstStyle/>
          <a:p>
            <a:r>
              <a:rPr lang="en-IN" sz="2000" b="1" dirty="0"/>
              <a:t>01</a:t>
            </a:r>
          </a:p>
          <a:p>
            <a:r>
              <a:rPr lang="en-IN" sz="2000" b="1" dirty="0"/>
              <a:t>Volunteer Demographics</a:t>
            </a:r>
          </a:p>
        </p:txBody>
      </p:sp>
      <p:sp>
        <p:nvSpPr>
          <p:cNvPr id="4" name="TextBox 3">
            <a:extLst>
              <a:ext uri="{FF2B5EF4-FFF2-40B4-BE49-F238E27FC236}">
                <a16:creationId xmlns:a16="http://schemas.microsoft.com/office/drawing/2014/main" id="{62467868-925F-FB3E-6A27-788098DEAB4F}"/>
              </a:ext>
            </a:extLst>
          </p:cNvPr>
          <p:cNvSpPr txBox="1"/>
          <p:nvPr/>
        </p:nvSpPr>
        <p:spPr>
          <a:xfrm>
            <a:off x="-5150868" y="1485902"/>
            <a:ext cx="5588000" cy="4308872"/>
          </a:xfrm>
          <a:prstGeom prst="rect">
            <a:avLst/>
          </a:prstGeom>
          <a:noFill/>
        </p:spPr>
        <p:txBody>
          <a:bodyPr wrap="square" rtlCol="0">
            <a:spAutoFit/>
          </a:bodyPr>
          <a:lstStyle/>
          <a:p>
            <a:endParaRPr lang="en-IN" dirty="0"/>
          </a:p>
          <a:p>
            <a:pPr marL="285750" indent="-285750">
              <a:buFontTx/>
              <a:buChar char="-"/>
            </a:pPr>
            <a:r>
              <a:rPr lang="en-IN" sz="3200" dirty="0">
                <a:latin typeface="Bahnschrift Condensed" panose="020B0502040204020203" pitchFamily="34" charset="0"/>
              </a:rPr>
              <a:t>Working Professionals  43%</a:t>
            </a:r>
          </a:p>
          <a:p>
            <a:pPr marL="285750" indent="-285750">
              <a:buFontTx/>
              <a:buChar char="-"/>
            </a:pPr>
            <a:r>
              <a:rPr lang="en-IN" sz="3200" dirty="0">
                <a:latin typeface="Bahnschrift Condensed" panose="020B0502040204020203" pitchFamily="34" charset="0"/>
              </a:rPr>
              <a:t>College Students 31%</a:t>
            </a:r>
          </a:p>
          <a:p>
            <a:pPr marL="285750" indent="-285750">
              <a:buFontTx/>
              <a:buChar char="-"/>
            </a:pPr>
            <a:r>
              <a:rPr lang="en-IN" sz="3200" dirty="0">
                <a:latin typeface="Bahnschrift Condensed" panose="020B0502040204020203" pitchFamily="34" charset="0"/>
              </a:rPr>
              <a:t>School students 16%</a:t>
            </a:r>
          </a:p>
          <a:p>
            <a:pPr marL="285750" indent="-285750">
              <a:buFontTx/>
              <a:buChar char="-"/>
            </a:pPr>
            <a:r>
              <a:rPr lang="en-IN" sz="3200" dirty="0">
                <a:latin typeface="Bahnschrift Condensed" panose="020B0502040204020203" pitchFamily="34" charset="0"/>
              </a:rPr>
              <a:t>Others 10%</a:t>
            </a:r>
          </a:p>
          <a:p>
            <a:pPr marL="285750" indent="-285750">
              <a:buFontTx/>
              <a:buChar char="-"/>
            </a:pPr>
            <a:endParaRPr lang="en-IN" sz="3200" dirty="0">
              <a:latin typeface="Bahnschrift Condensed" panose="020B0502040204020203" pitchFamily="34" charset="0"/>
            </a:endParaRPr>
          </a:p>
          <a:p>
            <a:pPr marL="285750" indent="-285750">
              <a:buFontTx/>
              <a:buChar char="-"/>
            </a:pPr>
            <a:r>
              <a:rPr lang="en-IN" sz="3200" dirty="0">
                <a:latin typeface="Bahnschrift Condensed" panose="020B0502040204020203" pitchFamily="34" charset="0"/>
              </a:rPr>
              <a:t>Gender demographics </a:t>
            </a:r>
          </a:p>
          <a:p>
            <a:pPr marL="285750" indent="-285750">
              <a:buFontTx/>
              <a:buChar char="-"/>
            </a:pPr>
            <a:r>
              <a:rPr lang="en-IN" sz="3200" dirty="0">
                <a:latin typeface="Bahnschrift Condensed" panose="020B0502040204020203" pitchFamily="34" charset="0"/>
              </a:rPr>
              <a:t>Male 40%</a:t>
            </a:r>
          </a:p>
          <a:p>
            <a:pPr marL="285750" indent="-285750">
              <a:buFontTx/>
              <a:buChar char="-"/>
            </a:pPr>
            <a:r>
              <a:rPr lang="en-IN" sz="3200" dirty="0">
                <a:latin typeface="Bahnschrift Condensed" panose="020B0502040204020203" pitchFamily="34" charset="0"/>
              </a:rPr>
              <a:t>Female 60%</a:t>
            </a:r>
          </a:p>
        </p:txBody>
      </p:sp>
      <p:sp>
        <p:nvSpPr>
          <p:cNvPr id="5" name="TextBox 4">
            <a:extLst>
              <a:ext uri="{FF2B5EF4-FFF2-40B4-BE49-F238E27FC236}">
                <a16:creationId xmlns:a16="http://schemas.microsoft.com/office/drawing/2014/main" id="{843EFF87-3F06-8EF1-79A3-614A92A9E9D7}"/>
              </a:ext>
            </a:extLst>
          </p:cNvPr>
          <p:cNvSpPr txBox="1"/>
          <p:nvPr/>
        </p:nvSpPr>
        <p:spPr>
          <a:xfrm>
            <a:off x="1852935" y="940604"/>
            <a:ext cx="3992880" cy="923330"/>
          </a:xfrm>
          <a:prstGeom prst="rect">
            <a:avLst/>
          </a:prstGeom>
          <a:noFill/>
        </p:spPr>
        <p:txBody>
          <a:bodyPr wrap="square" rtlCol="0">
            <a:spAutoFit/>
          </a:bodyPr>
          <a:lstStyle/>
          <a:p>
            <a:r>
              <a:rPr lang="en-IN" b="1" dirty="0">
                <a:solidFill>
                  <a:schemeClr val="bg1"/>
                </a:solidFill>
              </a:rPr>
              <a:t>02</a:t>
            </a:r>
          </a:p>
          <a:p>
            <a:r>
              <a:rPr lang="en-US" b="1" dirty="0">
                <a:solidFill>
                  <a:schemeClr val="bg1"/>
                </a:solidFill>
              </a:rPr>
              <a:t>Why individuals volunteer with CRY</a:t>
            </a:r>
            <a:endParaRPr lang="en-IN" b="1" dirty="0">
              <a:solidFill>
                <a:schemeClr val="bg1"/>
              </a:solidFill>
            </a:endParaRPr>
          </a:p>
          <a:p>
            <a:endParaRPr lang="en-IN" dirty="0"/>
          </a:p>
        </p:txBody>
      </p:sp>
      <p:sp>
        <p:nvSpPr>
          <p:cNvPr id="6" name="TextBox 5">
            <a:extLst>
              <a:ext uri="{FF2B5EF4-FFF2-40B4-BE49-F238E27FC236}">
                <a16:creationId xmlns:a16="http://schemas.microsoft.com/office/drawing/2014/main" id="{F11DF72A-524C-7BA8-9AB3-CF56BD3C0691}"/>
              </a:ext>
            </a:extLst>
          </p:cNvPr>
          <p:cNvSpPr txBox="1"/>
          <p:nvPr/>
        </p:nvSpPr>
        <p:spPr>
          <a:xfrm>
            <a:off x="1098991" y="1863934"/>
            <a:ext cx="5361310" cy="4154984"/>
          </a:xfrm>
          <a:prstGeom prst="rect">
            <a:avLst/>
          </a:prstGeom>
          <a:noFill/>
        </p:spPr>
        <p:txBody>
          <a:bodyPr wrap="square" rtlCol="0">
            <a:spAutoFit/>
          </a:bodyPr>
          <a:lstStyle/>
          <a:p>
            <a:r>
              <a:rPr lang="en-US" sz="2400" dirty="0">
                <a:latin typeface="Bahnschrift Condensed" panose="020B0502040204020203" pitchFamily="34" charset="0"/>
              </a:rPr>
              <a:t>Young professionals bring purpose and precision to the table—they volunteer for a cause they believe in, apply strategic thinking, and often become powerful connectors who help drive new opportunities and partnerships.</a:t>
            </a:r>
          </a:p>
          <a:p>
            <a:endParaRPr lang="en-US" sz="2400" dirty="0">
              <a:latin typeface="Bahnschrift Condensed" panose="020B0502040204020203" pitchFamily="34" charset="0"/>
            </a:endParaRPr>
          </a:p>
          <a:p>
            <a:r>
              <a:rPr lang="en-US" sz="2400" dirty="0">
                <a:latin typeface="Bahnschrift Condensed" panose="020B0502040204020203" pitchFamily="34" charset="0"/>
              </a:rPr>
              <a:t>Seasoned professionals lend their expertise not for profit, but for purpose—championing pro bono projects, mentoring passionate teams, helping raise vital funds, and shaping new CRY spaces where change can truly grow</a:t>
            </a:r>
            <a:endParaRPr lang="en-IN" sz="2400" dirty="0">
              <a:latin typeface="Bahnschrift Condensed" panose="020B0502040204020203" pitchFamily="34" charset="0"/>
            </a:endParaRPr>
          </a:p>
        </p:txBody>
      </p:sp>
      <p:grpSp>
        <p:nvGrpSpPr>
          <p:cNvPr id="7" name="Group 6">
            <a:extLst>
              <a:ext uri="{FF2B5EF4-FFF2-40B4-BE49-F238E27FC236}">
                <a16:creationId xmlns:a16="http://schemas.microsoft.com/office/drawing/2014/main" id="{F4C1483E-F48B-6940-CDBE-6F2FA7152522}"/>
              </a:ext>
            </a:extLst>
          </p:cNvPr>
          <p:cNvGrpSpPr/>
          <p:nvPr/>
        </p:nvGrpSpPr>
        <p:grpSpPr>
          <a:xfrm>
            <a:off x="7719772" y="-499937"/>
            <a:ext cx="3919602" cy="7009769"/>
            <a:chOff x="7354413" y="73218"/>
            <a:chExt cx="3922222" cy="7441931"/>
          </a:xfrm>
        </p:grpSpPr>
        <p:sp>
          <p:nvSpPr>
            <p:cNvPr id="8" name="Rectangle 7">
              <a:extLst>
                <a:ext uri="{FF2B5EF4-FFF2-40B4-BE49-F238E27FC236}">
                  <a16:creationId xmlns:a16="http://schemas.microsoft.com/office/drawing/2014/main" id="{7A754AE1-3BC0-FF46-461A-252FDE8D1430}"/>
                </a:ext>
              </a:extLst>
            </p:cNvPr>
            <p:cNvSpPr/>
            <p:nvPr/>
          </p:nvSpPr>
          <p:spPr>
            <a:xfrm>
              <a:off x="7354413" y="73218"/>
              <a:ext cx="3876045" cy="6858000"/>
            </a:xfrm>
            <a:prstGeom prst="rect">
              <a:avLst/>
            </a:prstGeom>
            <a:solidFill>
              <a:srgbClr val="FFD80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9DFAF4A9-C1A6-06B4-98F3-554685139DC7}"/>
                </a:ext>
              </a:extLst>
            </p:cNvPr>
            <p:cNvPicPr>
              <a:picLocks noChangeAspect="1"/>
            </p:cNvPicPr>
            <p:nvPr/>
          </p:nvPicPr>
          <p:blipFill>
            <a:blip r:embed="Re6e45201710746cd">
              <a:extLst>
                <a:ext uri="{28A0092B-C50C-407E-A947-70E740481C1C}">
                  <a14:useLocalDpi xmlns:a14="http://schemas.microsoft.com/office/drawing/2010/main" val="0"/>
                </a:ext>
              </a:extLst>
            </a:blip>
            <a:stretch>
              <a:fillRect/>
            </a:stretch>
          </p:blipFill>
          <p:spPr>
            <a:xfrm>
              <a:off x="7410942" y="5060736"/>
              <a:ext cx="3865693" cy="2454413"/>
            </a:xfrm>
            <a:prstGeom prst="rect">
              <a:avLst/>
            </a:prstGeom>
          </p:spPr>
        </p:pic>
      </p:grpSp>
      <p:pic>
        <p:nvPicPr>
          <p:cNvPr id="3" name="Picture 2">
            <a:extLst>
              <a:ext uri="{FF2B5EF4-FFF2-40B4-BE49-F238E27FC236}">
                <a16:creationId xmlns:a16="http://schemas.microsoft.com/office/drawing/2014/main" id="{F3CD0958-75AD-3775-38DC-10BA54DE1884}"/>
              </a:ext>
            </a:extLst>
          </p:cNvPr>
          <p:cNvPicPr>
            <a:picLocks noChangeAspect="1"/>
          </p:cNvPicPr>
          <p:nvPr/>
        </p:nvPicPr>
        <p:blipFill>
          <a:blip r:embed="R6a286b4cdc704e2f">
            <a:extLst>
              <a:ext uri="{28A0092B-C50C-407E-A947-70E740481C1C}">
                <a14:useLocalDpi xmlns:a14="http://schemas.microsoft.com/office/drawing/2010/main" val="0"/>
              </a:ext>
            </a:extLst>
          </a:blip>
          <a:stretch>
            <a:fillRect/>
          </a:stretch>
        </p:blipFill>
        <p:spPr>
          <a:xfrm>
            <a:off x="10482180" y="-208935"/>
            <a:ext cx="1531849" cy="1769806"/>
          </a:xfrm>
          <a:prstGeom prst="rect">
            <a:avLst/>
          </a:prstGeom>
        </p:spPr>
      </p:pic>
      <p:sp>
        <p:nvSpPr>
          <p:cNvPr id="15" name="TextBox 14">
            <a:extLst>
              <a:ext uri="{FF2B5EF4-FFF2-40B4-BE49-F238E27FC236}">
                <a16:creationId xmlns:a16="http://schemas.microsoft.com/office/drawing/2014/main" id="{1EAA1507-07BC-EC10-CDA7-170C7B9DDB2D}"/>
              </a:ext>
            </a:extLst>
          </p:cNvPr>
          <p:cNvSpPr txBox="1"/>
          <p:nvPr/>
        </p:nvSpPr>
        <p:spPr>
          <a:xfrm>
            <a:off x="7776263" y="1560871"/>
            <a:ext cx="3873456" cy="2246769"/>
          </a:xfrm>
          <a:prstGeom prst="rect">
            <a:avLst/>
          </a:prstGeom>
          <a:noFill/>
        </p:spPr>
        <p:txBody>
          <a:bodyPr wrap="square" rtlCol="0">
            <a:spAutoFit/>
          </a:bodyPr>
          <a:lstStyle/>
          <a:p>
            <a:r>
              <a:rPr lang="en-US" sz="1400" dirty="0"/>
              <a:t>To keep volunteers motivated and committed, CRY ensures they are given trusted, impactful roles with real responsibility. Volunteers work alongside leadership, contribute to high-impact initiatives, and are encouraged to take ownership of their tasks. They’re involved in planning how work is executed within clear guidelines and are part of setting measurable goals—with regular feedback to help them grow and see the difference they’re making.</a:t>
            </a:r>
            <a:endParaRPr lang="en-IN" sz="1400" dirty="0"/>
          </a:p>
        </p:txBody>
      </p:sp>
    </p:spTree>
    <p:extLst>
      <p:ext uri="{BB962C8B-B14F-4D97-AF65-F5344CB8AC3E}">
        <p14:creationId xmlns:p14="http://schemas.microsoft.com/office/powerpoint/2010/main" val="2557083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34EE7-0762-8A78-5609-0960A83934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CF71D1A-A36D-5D30-E788-7B0CA4CCBB11}"/>
              </a:ext>
            </a:extLst>
          </p:cNvPr>
          <p:cNvSpPr/>
          <p:nvPr/>
        </p:nvSpPr>
        <p:spPr>
          <a:xfrm>
            <a:off x="-25287" y="-59502"/>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34" name="Freeform: Shape 33">
            <a:extLst>
              <a:ext uri="{FF2B5EF4-FFF2-40B4-BE49-F238E27FC236}">
                <a16:creationId xmlns:a16="http://schemas.microsoft.com/office/drawing/2014/main" id="{F35D88D0-180D-ABD8-5149-4C2E981C4DFD}"/>
              </a:ext>
            </a:extLst>
          </p:cNvPr>
          <p:cNvSpPr/>
          <p:nvPr/>
        </p:nvSpPr>
        <p:spPr>
          <a:xfrm>
            <a:off x="12525983" y="2730867"/>
            <a:ext cx="1403213" cy="1396266"/>
          </a:xfrm>
          <a:custGeom>
            <a:avLst/>
            <a:gdLst>
              <a:gd name="connsiteX0" fmla="*/ 0 w 1403213"/>
              <a:gd name="connsiteY0" fmla="*/ 0 h 1396266"/>
              <a:gd name="connsiteX1" fmla="*/ 0 w 1403213"/>
              <a:gd name="connsiteY1" fmla="*/ 0 h 1396266"/>
              <a:gd name="connsiteX2" fmla="*/ 3441 w 1403213"/>
              <a:gd name="connsiteY2" fmla="*/ 64062 h 1396266"/>
              <a:gd name="connsiteX3" fmla="*/ 1285135 w 1403213"/>
              <a:gd name="connsiteY3" fmla="*/ 1380390 h 1396266"/>
              <a:gd name="connsiteX4" fmla="*/ 1403213 w 1403213"/>
              <a:gd name="connsiteY4" fmla="*/ 1396265 h 1396266"/>
              <a:gd name="connsiteX5" fmla="*/ 1403213 w 1403213"/>
              <a:gd name="connsiteY5" fmla="*/ 1396266 h 1396266"/>
              <a:gd name="connsiteX6" fmla="*/ 1285135 w 1403213"/>
              <a:gd name="connsiteY6" fmla="*/ 1380391 h 1396266"/>
              <a:gd name="connsiteX7" fmla="*/ 3441 w 1403213"/>
              <a:gd name="connsiteY7" fmla="*/ 64063 h 1396266"/>
              <a:gd name="connsiteX8" fmla="*/ 0 w 1403213"/>
              <a:gd name="connsiteY8" fmla="*/ 0 h 139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3213" h="1396266">
                <a:moveTo>
                  <a:pt x="0" y="0"/>
                </a:moveTo>
                <a:lnTo>
                  <a:pt x="0" y="0"/>
                </a:lnTo>
                <a:lnTo>
                  <a:pt x="3441" y="64062"/>
                </a:lnTo>
                <a:cubicBezTo>
                  <a:pt x="74736" y="724160"/>
                  <a:pt x="602427" y="1257395"/>
                  <a:pt x="1285135" y="1380390"/>
                </a:cubicBezTo>
                <a:lnTo>
                  <a:pt x="1403213" y="1396265"/>
                </a:lnTo>
                <a:lnTo>
                  <a:pt x="1403213" y="1396266"/>
                </a:lnTo>
                <a:lnTo>
                  <a:pt x="1285135" y="1380391"/>
                </a:lnTo>
                <a:cubicBezTo>
                  <a:pt x="602427" y="1257396"/>
                  <a:pt x="74736" y="724161"/>
                  <a:pt x="3441" y="6406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2" name="Freeform: Shape 31">
            <a:extLst>
              <a:ext uri="{FF2B5EF4-FFF2-40B4-BE49-F238E27FC236}">
                <a16:creationId xmlns:a16="http://schemas.microsoft.com/office/drawing/2014/main" id="{B63EDF0E-8717-F62D-DA35-66AFEE1B12F1}"/>
              </a:ext>
            </a:extLst>
          </p:cNvPr>
          <p:cNvSpPr/>
          <p:nvPr/>
        </p:nvSpPr>
        <p:spPr>
          <a:xfrm>
            <a:off x="12689597" y="1485902"/>
            <a:ext cx="1424504" cy="1399129"/>
          </a:xfrm>
          <a:custGeom>
            <a:avLst/>
            <a:gdLst>
              <a:gd name="connsiteX0" fmla="*/ 1424504 w 1424504"/>
              <a:gd name="connsiteY0" fmla="*/ 0 h 1399129"/>
              <a:gd name="connsiteX1" fmla="*/ 1424504 w 1424504"/>
              <a:gd name="connsiteY1" fmla="*/ 0 h 1399129"/>
              <a:gd name="connsiteX2" fmla="*/ 1421064 w 1424504"/>
              <a:gd name="connsiteY2" fmla="*/ 64063 h 1399129"/>
              <a:gd name="connsiteX3" fmla="*/ 139370 w 1424504"/>
              <a:gd name="connsiteY3" fmla="*/ 1380391 h 1399129"/>
              <a:gd name="connsiteX4" fmla="*/ 0 w 1424504"/>
              <a:gd name="connsiteY4" fmla="*/ 1399129 h 1399129"/>
              <a:gd name="connsiteX5" fmla="*/ 0 w 1424504"/>
              <a:gd name="connsiteY5" fmla="*/ 1399128 h 1399129"/>
              <a:gd name="connsiteX6" fmla="*/ 139370 w 1424504"/>
              <a:gd name="connsiteY6" fmla="*/ 1380390 h 1399129"/>
              <a:gd name="connsiteX7" fmla="*/ 1421064 w 1424504"/>
              <a:gd name="connsiteY7" fmla="*/ 64062 h 1399129"/>
              <a:gd name="connsiteX8" fmla="*/ 1424504 w 1424504"/>
              <a:gd name="connsiteY8" fmla="*/ 0 h 1399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4504" h="1399129">
                <a:moveTo>
                  <a:pt x="1424504" y="0"/>
                </a:moveTo>
                <a:lnTo>
                  <a:pt x="1424504" y="0"/>
                </a:lnTo>
                <a:lnTo>
                  <a:pt x="1421064" y="64063"/>
                </a:lnTo>
                <a:cubicBezTo>
                  <a:pt x="1349768" y="724161"/>
                  <a:pt x="822077" y="1257396"/>
                  <a:pt x="139370" y="1380391"/>
                </a:cubicBezTo>
                <a:lnTo>
                  <a:pt x="0" y="1399129"/>
                </a:lnTo>
                <a:lnTo>
                  <a:pt x="0" y="1399128"/>
                </a:lnTo>
                <a:lnTo>
                  <a:pt x="139370" y="1380390"/>
                </a:lnTo>
                <a:cubicBezTo>
                  <a:pt x="822077" y="1257395"/>
                  <a:pt x="1349768" y="724160"/>
                  <a:pt x="1421064" y="64062"/>
                </a:cubicBezTo>
                <a:lnTo>
                  <a:pt x="1424504"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0" name="Freeform: Shape 19">
            <a:extLst>
              <a:ext uri="{FF2B5EF4-FFF2-40B4-BE49-F238E27FC236}">
                <a16:creationId xmlns:a16="http://schemas.microsoft.com/office/drawing/2014/main" id="{04FB6EE4-F284-F80F-C18D-9C9D2C87A773}"/>
              </a:ext>
            </a:extLst>
          </p:cNvPr>
          <p:cNvSpPr/>
          <p:nvPr/>
        </p:nvSpPr>
        <p:spPr>
          <a:xfrm flipV="1">
            <a:off x="13115929" y="4198478"/>
            <a:ext cx="344954" cy="457774"/>
          </a:xfrm>
          <a:custGeom>
            <a:avLst/>
            <a:gdLst>
              <a:gd name="connsiteX0" fmla="*/ 0 w 344954"/>
              <a:gd name="connsiteY0" fmla="*/ 0 h 10895"/>
              <a:gd name="connsiteX1" fmla="*/ 30479 w 344954"/>
              <a:gd name="connsiteY1" fmla="*/ 4098 h 10895"/>
              <a:gd name="connsiteX2" fmla="*/ 183123 w 344954"/>
              <a:gd name="connsiteY2" fmla="*/ 10894 h 10895"/>
              <a:gd name="connsiteX3" fmla="*/ 335766 w 344954"/>
              <a:gd name="connsiteY3" fmla="*/ 4098 h 10895"/>
              <a:gd name="connsiteX4" fmla="*/ 344954 w 344954"/>
              <a:gd name="connsiteY4" fmla="*/ 2863 h 10895"/>
              <a:gd name="connsiteX5" fmla="*/ 344954 w 344954"/>
              <a:gd name="connsiteY5" fmla="*/ 2864 h 10895"/>
              <a:gd name="connsiteX6" fmla="*/ 335766 w 344954"/>
              <a:gd name="connsiteY6" fmla="*/ 4099 h 10895"/>
              <a:gd name="connsiteX7" fmla="*/ 183123 w 344954"/>
              <a:gd name="connsiteY7" fmla="*/ 10895 h 10895"/>
              <a:gd name="connsiteX8" fmla="*/ 30479 w 344954"/>
              <a:gd name="connsiteY8" fmla="*/ 4099 h 10895"/>
              <a:gd name="connsiteX9" fmla="*/ 0 w 344954"/>
              <a:gd name="connsiteY9" fmla="*/ 1 h 10895"/>
              <a:gd name="connsiteX10" fmla="*/ 0 w 344954"/>
              <a:gd name="connsiteY10" fmla="*/ 0 h 10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4954" h="10895">
                <a:moveTo>
                  <a:pt x="0" y="0"/>
                </a:moveTo>
                <a:lnTo>
                  <a:pt x="30479" y="4098"/>
                </a:lnTo>
                <a:cubicBezTo>
                  <a:pt x="80716" y="8595"/>
                  <a:pt x="131634" y="10894"/>
                  <a:pt x="183123" y="10894"/>
                </a:cubicBezTo>
                <a:cubicBezTo>
                  <a:pt x="234612" y="10894"/>
                  <a:pt x="285530" y="8595"/>
                  <a:pt x="335766" y="4098"/>
                </a:cubicBezTo>
                <a:lnTo>
                  <a:pt x="344954" y="2863"/>
                </a:lnTo>
                <a:lnTo>
                  <a:pt x="344954" y="2864"/>
                </a:lnTo>
                <a:lnTo>
                  <a:pt x="335766" y="4099"/>
                </a:lnTo>
                <a:cubicBezTo>
                  <a:pt x="285530" y="8596"/>
                  <a:pt x="234612" y="10895"/>
                  <a:pt x="183123" y="10895"/>
                </a:cubicBezTo>
                <a:cubicBezTo>
                  <a:pt x="131634" y="10895"/>
                  <a:pt x="80716" y="8596"/>
                  <a:pt x="30479" y="4099"/>
                </a:cubicBez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8" name="Flowchart: Connector 47">
            <a:extLst>
              <a:ext uri="{FF2B5EF4-FFF2-40B4-BE49-F238E27FC236}">
                <a16:creationId xmlns:a16="http://schemas.microsoft.com/office/drawing/2014/main" id="{AC04F948-D4B8-8B95-F177-3268003E5465}"/>
              </a:ext>
            </a:extLst>
          </p:cNvPr>
          <p:cNvSpPr/>
          <p:nvPr/>
        </p:nvSpPr>
        <p:spPr>
          <a:xfrm>
            <a:off x="-69380" y="-161639"/>
            <a:ext cx="6946751" cy="7181278"/>
          </a:xfrm>
          <a:prstGeom prst="flowChartConnector">
            <a:avLst/>
          </a:prstGeom>
          <a:solidFill>
            <a:schemeClr val="tx1">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ffectLst>
                <a:outerShdw blurRad="50800" dist="38100" algn="l" rotWithShape="0">
                  <a:prstClr val="black">
                    <a:alpha val="40000"/>
                  </a:prstClr>
                </a:outerShdw>
              </a:effectLst>
            </a:endParaRPr>
          </a:p>
        </p:txBody>
      </p:sp>
      <p:sp>
        <p:nvSpPr>
          <p:cNvPr id="51" name="TextBox 50">
            <a:extLst>
              <a:ext uri="{FF2B5EF4-FFF2-40B4-BE49-F238E27FC236}">
                <a16:creationId xmlns:a16="http://schemas.microsoft.com/office/drawing/2014/main" id="{21C91FDE-3710-6955-F333-8758D5E94142}"/>
              </a:ext>
            </a:extLst>
          </p:cNvPr>
          <p:cNvSpPr txBox="1"/>
          <p:nvPr/>
        </p:nvSpPr>
        <p:spPr>
          <a:xfrm>
            <a:off x="-3280480" y="607603"/>
            <a:ext cx="4119198" cy="707886"/>
          </a:xfrm>
          <a:prstGeom prst="rect">
            <a:avLst/>
          </a:prstGeom>
          <a:noFill/>
        </p:spPr>
        <p:txBody>
          <a:bodyPr wrap="square" rtlCol="0">
            <a:spAutoFit/>
          </a:bodyPr>
          <a:lstStyle/>
          <a:p>
            <a:r>
              <a:rPr lang="en-IN" sz="2000" b="1" dirty="0"/>
              <a:t>01</a:t>
            </a:r>
          </a:p>
          <a:p>
            <a:r>
              <a:rPr lang="en-IN" sz="2000" b="1" dirty="0"/>
              <a:t>Volunteer Demographics</a:t>
            </a:r>
          </a:p>
        </p:txBody>
      </p:sp>
      <p:sp>
        <p:nvSpPr>
          <p:cNvPr id="4" name="TextBox 3">
            <a:extLst>
              <a:ext uri="{FF2B5EF4-FFF2-40B4-BE49-F238E27FC236}">
                <a16:creationId xmlns:a16="http://schemas.microsoft.com/office/drawing/2014/main" id="{4ECA0CA5-5231-4958-A75B-58F3A99C863A}"/>
              </a:ext>
            </a:extLst>
          </p:cNvPr>
          <p:cNvSpPr txBox="1"/>
          <p:nvPr/>
        </p:nvSpPr>
        <p:spPr>
          <a:xfrm>
            <a:off x="-5150868" y="1485902"/>
            <a:ext cx="5588000" cy="4308872"/>
          </a:xfrm>
          <a:prstGeom prst="rect">
            <a:avLst/>
          </a:prstGeom>
          <a:noFill/>
        </p:spPr>
        <p:txBody>
          <a:bodyPr wrap="square" rtlCol="0">
            <a:spAutoFit/>
          </a:bodyPr>
          <a:lstStyle/>
          <a:p>
            <a:endParaRPr lang="en-IN" dirty="0"/>
          </a:p>
          <a:p>
            <a:pPr marL="285750" indent="-285750">
              <a:buFontTx/>
              <a:buChar char="-"/>
            </a:pPr>
            <a:r>
              <a:rPr lang="en-IN" sz="3200" dirty="0">
                <a:latin typeface="Bahnschrift Condensed" panose="020B0502040204020203" pitchFamily="34" charset="0"/>
              </a:rPr>
              <a:t>Working Professionals  43%</a:t>
            </a:r>
          </a:p>
          <a:p>
            <a:pPr marL="285750" indent="-285750">
              <a:buFontTx/>
              <a:buChar char="-"/>
            </a:pPr>
            <a:r>
              <a:rPr lang="en-IN" sz="3200" dirty="0">
                <a:latin typeface="Bahnschrift Condensed" panose="020B0502040204020203" pitchFamily="34" charset="0"/>
              </a:rPr>
              <a:t>College Students 31%</a:t>
            </a:r>
          </a:p>
          <a:p>
            <a:pPr marL="285750" indent="-285750">
              <a:buFontTx/>
              <a:buChar char="-"/>
            </a:pPr>
            <a:r>
              <a:rPr lang="en-IN" sz="3200" dirty="0">
                <a:latin typeface="Bahnschrift Condensed" panose="020B0502040204020203" pitchFamily="34" charset="0"/>
              </a:rPr>
              <a:t>School students 16%</a:t>
            </a:r>
          </a:p>
          <a:p>
            <a:pPr marL="285750" indent="-285750">
              <a:buFontTx/>
              <a:buChar char="-"/>
            </a:pPr>
            <a:r>
              <a:rPr lang="en-IN" sz="3200" dirty="0">
                <a:latin typeface="Bahnschrift Condensed" panose="020B0502040204020203" pitchFamily="34" charset="0"/>
              </a:rPr>
              <a:t>Others 10%</a:t>
            </a:r>
          </a:p>
          <a:p>
            <a:pPr marL="285750" indent="-285750">
              <a:buFontTx/>
              <a:buChar char="-"/>
            </a:pPr>
            <a:endParaRPr lang="en-IN" sz="3200" dirty="0">
              <a:latin typeface="Bahnschrift Condensed" panose="020B0502040204020203" pitchFamily="34" charset="0"/>
            </a:endParaRPr>
          </a:p>
          <a:p>
            <a:pPr marL="285750" indent="-285750">
              <a:buFontTx/>
              <a:buChar char="-"/>
            </a:pPr>
            <a:r>
              <a:rPr lang="en-IN" sz="3200" dirty="0">
                <a:latin typeface="Bahnschrift Condensed" panose="020B0502040204020203" pitchFamily="34" charset="0"/>
              </a:rPr>
              <a:t>Gender demographics </a:t>
            </a:r>
          </a:p>
          <a:p>
            <a:pPr marL="285750" indent="-285750">
              <a:buFontTx/>
              <a:buChar char="-"/>
            </a:pPr>
            <a:r>
              <a:rPr lang="en-IN" sz="3200" dirty="0">
                <a:latin typeface="Bahnschrift Condensed" panose="020B0502040204020203" pitchFamily="34" charset="0"/>
              </a:rPr>
              <a:t>Male 40%</a:t>
            </a:r>
          </a:p>
          <a:p>
            <a:pPr marL="285750" indent="-285750">
              <a:buFontTx/>
              <a:buChar char="-"/>
            </a:pPr>
            <a:r>
              <a:rPr lang="en-IN" sz="3200" dirty="0">
                <a:latin typeface="Bahnschrift Condensed" panose="020B0502040204020203" pitchFamily="34" charset="0"/>
              </a:rPr>
              <a:t>Female 60%</a:t>
            </a:r>
          </a:p>
        </p:txBody>
      </p:sp>
      <p:sp>
        <p:nvSpPr>
          <p:cNvPr id="5" name="TextBox 4">
            <a:extLst>
              <a:ext uri="{FF2B5EF4-FFF2-40B4-BE49-F238E27FC236}">
                <a16:creationId xmlns:a16="http://schemas.microsoft.com/office/drawing/2014/main" id="{044C5B8A-05AE-7F27-20B3-9E6CCD0E8793}"/>
              </a:ext>
            </a:extLst>
          </p:cNvPr>
          <p:cNvSpPr txBox="1"/>
          <p:nvPr/>
        </p:nvSpPr>
        <p:spPr>
          <a:xfrm>
            <a:off x="-4181781" y="1099206"/>
            <a:ext cx="3992880" cy="923330"/>
          </a:xfrm>
          <a:prstGeom prst="rect">
            <a:avLst/>
          </a:prstGeom>
          <a:noFill/>
        </p:spPr>
        <p:txBody>
          <a:bodyPr wrap="square" rtlCol="0">
            <a:spAutoFit/>
          </a:bodyPr>
          <a:lstStyle/>
          <a:p>
            <a:r>
              <a:rPr lang="en-IN" b="1" dirty="0">
                <a:solidFill>
                  <a:schemeClr val="bg1"/>
                </a:solidFill>
              </a:rPr>
              <a:t>02</a:t>
            </a:r>
          </a:p>
          <a:p>
            <a:r>
              <a:rPr lang="en-US" b="1" dirty="0">
                <a:solidFill>
                  <a:schemeClr val="bg1"/>
                </a:solidFill>
              </a:rPr>
              <a:t>Why individuals volunteer with CRY</a:t>
            </a:r>
            <a:endParaRPr lang="en-IN" b="1" dirty="0">
              <a:solidFill>
                <a:schemeClr val="bg1"/>
              </a:solidFill>
            </a:endParaRPr>
          </a:p>
          <a:p>
            <a:endParaRPr lang="en-IN" dirty="0"/>
          </a:p>
        </p:txBody>
      </p:sp>
      <p:sp>
        <p:nvSpPr>
          <p:cNvPr id="6" name="TextBox 5">
            <a:extLst>
              <a:ext uri="{FF2B5EF4-FFF2-40B4-BE49-F238E27FC236}">
                <a16:creationId xmlns:a16="http://schemas.microsoft.com/office/drawing/2014/main" id="{9D74F0FF-EF77-D9CC-1722-4E8D5DEB9C81}"/>
              </a:ext>
            </a:extLst>
          </p:cNvPr>
          <p:cNvSpPr txBox="1"/>
          <p:nvPr/>
        </p:nvSpPr>
        <p:spPr>
          <a:xfrm>
            <a:off x="-6375643" y="2561641"/>
            <a:ext cx="5361310" cy="1938992"/>
          </a:xfrm>
          <a:prstGeom prst="rect">
            <a:avLst/>
          </a:prstGeom>
          <a:noFill/>
        </p:spPr>
        <p:txBody>
          <a:bodyPr wrap="square" rtlCol="0">
            <a:spAutoFit/>
          </a:bodyPr>
          <a:lstStyle/>
          <a:p>
            <a:r>
              <a:rPr lang="en-US" sz="2400" dirty="0">
                <a:latin typeface="Bahnschrift Condensed" panose="020B0502040204020203" pitchFamily="34" charset="0"/>
              </a:rPr>
              <a:t>Because it’s more than just volunteering—it’s about being part of a movement that creates real change. Volunteers join CRY not just to give back, but to grow, learn, and become change-makers in their communities</a:t>
            </a:r>
            <a:endParaRPr lang="en-IN" sz="2400" dirty="0">
              <a:latin typeface="Bahnschrift Condensed" panose="020B0502040204020203" pitchFamily="34" charset="0"/>
            </a:endParaRPr>
          </a:p>
        </p:txBody>
      </p:sp>
      <p:pic>
        <p:nvPicPr>
          <p:cNvPr id="3" name="Picture 2">
            <a:extLst>
              <a:ext uri="{FF2B5EF4-FFF2-40B4-BE49-F238E27FC236}">
                <a16:creationId xmlns:a16="http://schemas.microsoft.com/office/drawing/2014/main" id="{6093BFEF-6ED2-8793-5248-84303CDE5F69}"/>
              </a:ext>
            </a:extLst>
          </p:cNvPr>
          <p:cNvPicPr>
            <a:picLocks noChangeAspect="1"/>
          </p:cNvPicPr>
          <p:nvPr/>
        </p:nvPicPr>
        <p:blipFill>
          <a:blip r:embed="Rba29e2dc40684bf8">
            <a:extLst>
              <a:ext uri="{28A0092B-C50C-407E-A947-70E740481C1C}">
                <a14:useLocalDpi xmlns:a14="http://schemas.microsoft.com/office/drawing/2010/main" val="0"/>
              </a:ext>
            </a:extLst>
          </a:blip>
          <a:stretch>
            <a:fillRect/>
          </a:stretch>
        </p:blipFill>
        <p:spPr>
          <a:xfrm>
            <a:off x="10482180" y="-208935"/>
            <a:ext cx="1531849" cy="1769806"/>
          </a:xfrm>
          <a:prstGeom prst="rect">
            <a:avLst/>
          </a:prstGeom>
        </p:spPr>
      </p:pic>
      <p:sp>
        <p:nvSpPr>
          <p:cNvPr id="10" name="TextBox 9">
            <a:extLst>
              <a:ext uri="{FF2B5EF4-FFF2-40B4-BE49-F238E27FC236}">
                <a16:creationId xmlns:a16="http://schemas.microsoft.com/office/drawing/2014/main" id="{BEE82CE3-61A2-34B2-AC97-85DC2158FEFD}"/>
              </a:ext>
            </a:extLst>
          </p:cNvPr>
          <p:cNvSpPr txBox="1"/>
          <p:nvPr/>
        </p:nvSpPr>
        <p:spPr>
          <a:xfrm>
            <a:off x="1783671" y="317943"/>
            <a:ext cx="4028920" cy="646331"/>
          </a:xfrm>
          <a:prstGeom prst="rect">
            <a:avLst/>
          </a:prstGeom>
          <a:noFill/>
        </p:spPr>
        <p:txBody>
          <a:bodyPr wrap="square">
            <a:spAutoFit/>
          </a:bodyPr>
          <a:lstStyle/>
          <a:p>
            <a:r>
              <a:rPr lang="en-IN" b="1" dirty="0">
                <a:solidFill>
                  <a:schemeClr val="bg1"/>
                </a:solidFill>
              </a:rPr>
              <a:t>03</a:t>
            </a:r>
          </a:p>
          <a:p>
            <a:r>
              <a:rPr lang="en-IN" b="1" dirty="0">
                <a:solidFill>
                  <a:schemeClr val="bg1"/>
                </a:solidFill>
              </a:rPr>
              <a:t> Volunteer recruitment </a:t>
            </a:r>
          </a:p>
        </p:txBody>
      </p:sp>
      <p:graphicFrame>
        <p:nvGraphicFramePr>
          <p:cNvPr id="13" name="Diagram 12">
            <a:extLst>
              <a:ext uri="{FF2B5EF4-FFF2-40B4-BE49-F238E27FC236}">
                <a16:creationId xmlns:a16="http://schemas.microsoft.com/office/drawing/2014/main" id="{BE7AD92A-8284-84FE-ECAA-E2320E970963}"/>
              </a:ext>
            </a:extLst>
          </p:cNvPr>
          <p:cNvGraphicFramePr/>
          <p:nvPr>
            <p:extLst>
              <p:ext uri="{D42A27DB-BD31-4B8C-83A1-F6EECF244321}">
                <p14:modId xmlns:p14="http://schemas.microsoft.com/office/powerpoint/2010/main" val="1917811916"/>
              </p:ext>
            </p:extLst>
          </p:nvPr>
        </p:nvGraphicFramePr>
        <p:xfrm>
          <a:off x="-4181780" y="3969099"/>
          <a:ext cx="3163184" cy="3978332"/>
        </p:xfrm>
        <a:graphic>
          <a:graphicData uri="http://schemas.openxmlformats.org/drawingml/2006/diagram">
            <dgm:relIds xmlns:dgm="http://schemas.openxmlformats.org/drawingml/2006/diagram" xmlns:r="http://schemas.openxmlformats.org/officeDocument/2006/relationships" r:dm="R859a7a3abfe64938" r:lo="Rbcdefdb0311a4d48" r:qs="R887b76d9196f4c8b" r:cs="R91a981d4d5f84452"/>
          </a:graphicData>
        </a:graphic>
      </p:graphicFrame>
      <p:sp>
        <p:nvSpPr>
          <p:cNvPr id="17" name="Rectangle 1">
            <a:extLst>
              <a:ext uri="{FF2B5EF4-FFF2-40B4-BE49-F238E27FC236}">
                <a16:creationId xmlns:a16="http://schemas.microsoft.com/office/drawing/2014/main" id="{9FB58514-D91F-E1FD-4D10-EAB7E330360F}"/>
              </a:ext>
            </a:extLst>
          </p:cNvPr>
          <p:cNvSpPr>
            <a:spLocks noChangeArrowheads="1"/>
          </p:cNvSpPr>
          <p:nvPr/>
        </p:nvSpPr>
        <p:spPr bwMode="auto">
          <a:xfrm>
            <a:off x="668379" y="964274"/>
            <a:ext cx="5959705"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FFD806"/>
                </a:solidFill>
                <a:effectLst/>
                <a:latin typeface="Bahnschrift Condensed" panose="020B0502040204020203" pitchFamily="34" charset="0"/>
              </a:rPr>
              <a:t>Website Presence</a:t>
            </a:r>
            <a:r>
              <a:rPr kumimoji="0" lang="en-US" altLang="en-US" b="0" i="0" u="none" strike="noStrike" cap="none" normalizeH="0" baseline="0" dirty="0">
                <a:ln>
                  <a:noFill/>
                </a:ln>
                <a:solidFill>
                  <a:srgbClr val="FFD806"/>
                </a:solidFill>
                <a:effectLst/>
                <a:latin typeface="Bahnschrift Condensed" panose="020B0502040204020203" pitchFamily="34" charset="0"/>
              </a:rPr>
              <a:t>: Highlight the cause, showcase volunteer testimonials, success stories, and outline perks of volunteering.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rgbClr val="FFD806"/>
              </a:solidFill>
              <a:effectLst/>
              <a:latin typeface="Bahnschrift Condensed"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FFD806"/>
                </a:solidFill>
                <a:effectLst/>
                <a:latin typeface="Bahnschrift Condensed" panose="020B0502040204020203" pitchFamily="34" charset="0"/>
              </a:rPr>
              <a:t>Social Media Campaigns</a:t>
            </a:r>
            <a:r>
              <a:rPr kumimoji="0" lang="en-US" altLang="en-US" b="0" i="0" u="none" strike="noStrike" cap="none" normalizeH="0" baseline="0" dirty="0">
                <a:ln>
                  <a:noFill/>
                </a:ln>
                <a:solidFill>
                  <a:srgbClr val="FFD806"/>
                </a:solidFill>
                <a:effectLst/>
                <a:latin typeface="Bahnschrift Condensed" panose="020B0502040204020203" pitchFamily="34" charset="0"/>
              </a:rPr>
              <a:t>: Use creative, engaging posts to communicate the unique CRY volunteering experience. Go beyond generic messaging—focus on the need, role clarity, community impact, and volunteer benefits. Promote key programs like </a:t>
            </a:r>
            <a:r>
              <a:rPr kumimoji="0" lang="en-US" altLang="en-US" b="1" i="0" u="none" strike="noStrike" cap="none" normalizeH="0" baseline="0" dirty="0">
                <a:ln>
                  <a:noFill/>
                </a:ln>
                <a:solidFill>
                  <a:srgbClr val="FFD806"/>
                </a:solidFill>
                <a:effectLst/>
                <a:latin typeface="Bahnschrift Condensed" panose="020B0502040204020203" pitchFamily="34" charset="0"/>
              </a:rPr>
              <a:t>YCC, Sprint</a:t>
            </a:r>
            <a:r>
              <a:rPr kumimoji="0" lang="en-US" altLang="en-US" b="0" i="0" u="none" strike="noStrike" cap="none" normalizeH="0" baseline="0" dirty="0">
                <a:ln>
                  <a:noFill/>
                </a:ln>
                <a:solidFill>
                  <a:srgbClr val="FFD806"/>
                </a:solidFill>
                <a:effectLst/>
                <a:latin typeface="Bahnschrift Condensed" panose="020B0502040204020203" pitchFamily="34" charset="0"/>
              </a:rPr>
              <a:t>, and </a:t>
            </a:r>
            <a:r>
              <a:rPr kumimoji="0" lang="en-US" altLang="en-US" b="1" i="0" u="none" strike="noStrike" cap="none" normalizeH="0" baseline="0" dirty="0">
                <a:ln>
                  <a:noFill/>
                </a:ln>
                <a:solidFill>
                  <a:srgbClr val="FFD806"/>
                </a:solidFill>
                <a:effectLst/>
                <a:latin typeface="Bahnschrift Condensed" panose="020B0502040204020203" pitchFamily="34" charset="0"/>
              </a:rPr>
              <a:t>Micro Volunteering</a:t>
            </a:r>
            <a:r>
              <a:rPr kumimoji="0" lang="en-US" altLang="en-US" b="0" i="0" u="none" strike="noStrike" cap="none" normalizeH="0" baseline="0" dirty="0">
                <a:ln>
                  <a:noFill/>
                </a:ln>
                <a:solidFill>
                  <a:srgbClr val="FFD806"/>
                </a:solidFill>
                <a:effectLst/>
                <a:latin typeface="Bahnschrift Condensed" panose="020B0502040204020203"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rgbClr val="FFD806"/>
              </a:solidFill>
              <a:effectLst/>
              <a:latin typeface="Bahnschrift Condensed"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FFD806"/>
                </a:solidFill>
                <a:effectLst/>
                <a:latin typeface="Bahnschrift Condensed" panose="020B0502040204020203" pitchFamily="34" charset="0"/>
              </a:rPr>
              <a:t>Strategic Outreach</a:t>
            </a:r>
            <a:r>
              <a:rPr kumimoji="0" lang="en-US" altLang="en-US" b="0" i="0" u="none" strike="noStrike" cap="none" normalizeH="0" baseline="0" dirty="0">
                <a:ln>
                  <a:noFill/>
                </a:ln>
                <a:solidFill>
                  <a:srgbClr val="FFD806"/>
                </a:solidFill>
                <a:effectLst/>
                <a:latin typeface="Bahnschrift Condensed" panose="020B0502040204020203" pitchFamily="34" charset="0"/>
              </a:rPr>
              <a:t>: Align recruitment with current trends, such as targeting micro-volunteers—college students and young professionals seeking flexible engagement.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rgbClr val="FFD806"/>
              </a:solidFill>
              <a:effectLst/>
              <a:latin typeface="Bahnschrift Condensed"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FFD806"/>
                </a:solidFill>
                <a:effectLst/>
                <a:latin typeface="Bahnschrift Condensed" panose="020B0502040204020203" pitchFamily="34" charset="0"/>
              </a:rPr>
              <a:t>Efficient Onboarding Process</a:t>
            </a:r>
            <a:r>
              <a:rPr kumimoji="0" lang="en-US" altLang="en-US" b="0" i="0" u="none" strike="noStrike" cap="none" normalizeH="0" baseline="0" dirty="0">
                <a:ln>
                  <a:noFill/>
                </a:ln>
                <a:solidFill>
                  <a:srgbClr val="FFD806"/>
                </a:solidFill>
                <a:effectLst/>
                <a:latin typeface="Bahnschrift Condensed" panose="020B0502040204020203"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FFD806"/>
                </a:solidFill>
                <a:effectLst/>
                <a:latin typeface="Bahnschrift Condensed" panose="020B0502040204020203" pitchFamily="34" charset="0"/>
              </a:rPr>
              <a:t>Respond promptly to inquiries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FFD806"/>
                </a:solidFill>
                <a:effectLst/>
                <a:latin typeface="Bahnschrift Condensed" panose="020B0502040204020203" pitchFamily="34" charset="0"/>
              </a:rPr>
              <a:t>Conduct two orientations per month (based on staff capacity)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FFD806"/>
                </a:solidFill>
                <a:effectLst/>
                <a:latin typeface="Bahnschrift Condensed" panose="020B0502040204020203" pitchFamily="34" charset="0"/>
              </a:rPr>
              <a:t>Include Q&amp;A sessions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FFD806"/>
                </a:solidFill>
                <a:effectLst/>
                <a:latin typeface="Bahnschrift Condensed" panose="020B0502040204020203" pitchFamily="34" charset="0"/>
              </a:rPr>
              <a:t>Ensure a smooth, seamless registration and joining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FFD806"/>
                </a:solidFill>
                <a:effectLst/>
                <a:latin typeface="Bahnschrift Condensed" panose="020B0502040204020203" pitchFamily="34" charset="0"/>
              </a:rPr>
              <a:t>Adapt timelines based on the volunteering program type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17">
            <a:extLst>
              <a:ext uri="{FF2B5EF4-FFF2-40B4-BE49-F238E27FC236}">
                <a16:creationId xmlns:a16="http://schemas.microsoft.com/office/drawing/2014/main" id="{47DAA3AD-E723-B472-0566-E69782446753}"/>
              </a:ext>
            </a:extLst>
          </p:cNvPr>
          <p:cNvSpPr/>
          <p:nvPr/>
        </p:nvSpPr>
        <p:spPr>
          <a:xfrm>
            <a:off x="7908053" y="1668026"/>
            <a:ext cx="3959050" cy="31049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7ECCCD4D-7CF4-B104-3E7B-3C557A77ADF9}"/>
              </a:ext>
            </a:extLst>
          </p:cNvPr>
          <p:cNvPicPr>
            <a:picLocks noChangeAspect="1"/>
          </p:cNvPicPr>
          <p:nvPr/>
        </p:nvPicPr>
        <p:blipFill>
          <a:blip r:embed="R715e1d07ea1648a7">
            <a:extLst>
              <a:ext uri="{28A0092B-C50C-407E-A947-70E740481C1C}">
                <a14:useLocalDpi xmlns:a14="http://schemas.microsoft.com/office/drawing/2010/main" val="0"/>
              </a:ext>
            </a:extLst>
          </a:blip>
          <a:stretch>
            <a:fillRect/>
          </a:stretch>
        </p:blipFill>
        <p:spPr>
          <a:xfrm>
            <a:off x="7822324" y="1640392"/>
            <a:ext cx="4213609" cy="3160207"/>
          </a:xfrm>
          <a:prstGeom prst="rect">
            <a:avLst/>
          </a:prstGeom>
        </p:spPr>
      </p:pic>
    </p:spTree>
    <p:extLst>
      <p:ext uri="{BB962C8B-B14F-4D97-AF65-F5344CB8AC3E}">
        <p14:creationId xmlns:p14="http://schemas.microsoft.com/office/powerpoint/2010/main" val="390544743"/>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3058D-2C93-EEC0-2126-3A732467D0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D16B96F-C0DB-A362-243F-AE652048E3FA}"/>
              </a:ext>
            </a:extLst>
          </p:cNvPr>
          <p:cNvSpPr/>
          <p:nvPr/>
        </p:nvSpPr>
        <p:spPr>
          <a:xfrm>
            <a:off x="0" y="-16781"/>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800" dirty="0">
              <a:latin typeface="Bahnschrift Condensed" panose="020B0502040204020203" pitchFamily="34" charset="0"/>
            </a:endParaRPr>
          </a:p>
        </p:txBody>
      </p:sp>
      <p:pic>
        <p:nvPicPr>
          <p:cNvPr id="3" name="Picture 2">
            <a:extLst>
              <a:ext uri="{FF2B5EF4-FFF2-40B4-BE49-F238E27FC236}">
                <a16:creationId xmlns:a16="http://schemas.microsoft.com/office/drawing/2014/main" id="{D07CC8FA-C952-4B0A-ECE7-E7D6E3099833}"/>
              </a:ext>
            </a:extLst>
          </p:cNvPr>
          <p:cNvPicPr>
            <a:picLocks noChangeAspect="1"/>
          </p:cNvPicPr>
          <p:nvPr/>
        </p:nvPicPr>
        <p:blipFill>
          <a:blip r:embed="Rb39982b01fe94216">
            <a:extLst>
              <a:ext uri="{28A0092B-C50C-407E-A947-70E740481C1C}">
                <a14:useLocalDpi xmlns:a14="http://schemas.microsoft.com/office/drawing/2010/main" val="0"/>
              </a:ext>
            </a:extLst>
          </a:blip>
          <a:stretch>
            <a:fillRect/>
          </a:stretch>
        </p:blipFill>
        <p:spPr>
          <a:xfrm>
            <a:off x="10560837" y="-208935"/>
            <a:ext cx="1531849" cy="1769806"/>
          </a:xfrm>
          <a:prstGeom prst="rect">
            <a:avLst/>
          </a:prstGeom>
        </p:spPr>
      </p:pic>
      <p:sp>
        <p:nvSpPr>
          <p:cNvPr id="4" name="TextBox 3">
            <a:extLst>
              <a:ext uri="{FF2B5EF4-FFF2-40B4-BE49-F238E27FC236}">
                <a16:creationId xmlns:a16="http://schemas.microsoft.com/office/drawing/2014/main" id="{B361B3C2-BFBA-AA1B-A72B-53E8875D859D}"/>
              </a:ext>
            </a:extLst>
          </p:cNvPr>
          <p:cNvSpPr txBox="1"/>
          <p:nvPr/>
        </p:nvSpPr>
        <p:spPr>
          <a:xfrm>
            <a:off x="619432" y="245806"/>
            <a:ext cx="1553497" cy="18558927"/>
          </a:xfrm>
          <a:prstGeom prst="rect">
            <a:avLst/>
          </a:prstGeom>
          <a:noFill/>
        </p:spPr>
        <p:txBody>
          <a:bodyPr wrap="square" rtlCol="0">
            <a:spAutoFit/>
          </a:bodyPr>
          <a:lstStyle/>
          <a:p>
            <a:r>
              <a:rPr lang="en-IN" sz="40000" dirty="0">
                <a:latin typeface="Bahnschrift Condensed" panose="020B0502040204020203" pitchFamily="34" charset="0"/>
              </a:rPr>
              <a:t>123</a:t>
            </a:r>
          </a:p>
        </p:txBody>
      </p:sp>
      <p:sp>
        <p:nvSpPr>
          <p:cNvPr id="7" name="Rectangle 6">
            <a:extLst>
              <a:ext uri="{FF2B5EF4-FFF2-40B4-BE49-F238E27FC236}">
                <a16:creationId xmlns:a16="http://schemas.microsoft.com/office/drawing/2014/main" id="{81BFC995-E279-9E78-D83C-969276FCBF94}"/>
              </a:ext>
            </a:extLst>
          </p:cNvPr>
          <p:cNvSpPr/>
          <p:nvPr/>
        </p:nvSpPr>
        <p:spPr>
          <a:xfrm>
            <a:off x="3704302" y="1847205"/>
            <a:ext cx="6567948" cy="31635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BA437C0-935A-5873-A00F-068726C422E0}"/>
              </a:ext>
            </a:extLst>
          </p:cNvPr>
          <p:cNvSpPr txBox="1"/>
          <p:nvPr/>
        </p:nvSpPr>
        <p:spPr>
          <a:xfrm>
            <a:off x="3898490" y="1934891"/>
            <a:ext cx="6567949" cy="2954655"/>
          </a:xfrm>
          <a:prstGeom prst="rect">
            <a:avLst/>
          </a:prstGeom>
          <a:noFill/>
        </p:spPr>
        <p:txBody>
          <a:bodyPr wrap="square" rtlCol="0">
            <a:spAutoFit/>
          </a:bodyPr>
          <a:lstStyle/>
          <a:p>
            <a:r>
              <a:rPr lang="en-US" sz="2800" dirty="0">
                <a:latin typeface="Bahnschrift Condensed" panose="020B0502040204020203" pitchFamily="34" charset="0"/>
              </a:rPr>
              <a:t>Support them by:</a:t>
            </a:r>
          </a:p>
          <a:p>
            <a:r>
              <a:rPr lang="en-US" sz="2800" dirty="0">
                <a:latin typeface="Bahnschrift Condensed" panose="020B0502040204020203" pitchFamily="34" charset="0"/>
              </a:rPr>
              <a:t>a) Giving them the space and confidence to share ideas</a:t>
            </a:r>
          </a:p>
          <a:p>
            <a:r>
              <a:rPr lang="en-US" sz="2800" dirty="0">
                <a:latin typeface="Bahnschrift Condensed" panose="020B0502040204020203" pitchFamily="34" charset="0"/>
              </a:rPr>
              <a:t>b) Equipping them with skills and perspectives</a:t>
            </a:r>
          </a:p>
          <a:p>
            <a:r>
              <a:rPr lang="en-US" sz="2800" dirty="0">
                <a:latin typeface="Bahnschrift Condensed" panose="020B0502040204020203" pitchFamily="34" charset="0"/>
              </a:rPr>
              <a:t>c) Active handholding and mentoring as required</a:t>
            </a:r>
          </a:p>
          <a:p>
            <a:r>
              <a:rPr lang="en-US" sz="2800" dirty="0">
                <a:latin typeface="Bahnschrift Condensed" panose="020B0502040204020203" pitchFamily="34" charset="0"/>
              </a:rPr>
              <a:t>d) Giving access to information and resources</a:t>
            </a:r>
          </a:p>
          <a:p>
            <a:endParaRPr lang="en-IN" dirty="0"/>
          </a:p>
        </p:txBody>
      </p:sp>
      <p:sp>
        <p:nvSpPr>
          <p:cNvPr id="8" name="TextBox 7">
            <a:extLst>
              <a:ext uri="{FF2B5EF4-FFF2-40B4-BE49-F238E27FC236}">
                <a16:creationId xmlns:a16="http://schemas.microsoft.com/office/drawing/2014/main" id="{29B68A21-99C3-043C-C8B1-1ADCC85403B7}"/>
              </a:ext>
            </a:extLst>
          </p:cNvPr>
          <p:cNvSpPr txBox="1"/>
          <p:nvPr/>
        </p:nvSpPr>
        <p:spPr>
          <a:xfrm>
            <a:off x="285136" y="176548"/>
            <a:ext cx="8268929" cy="1477328"/>
          </a:xfrm>
          <a:prstGeom prst="rect">
            <a:avLst/>
          </a:prstGeom>
          <a:noFill/>
        </p:spPr>
        <p:txBody>
          <a:bodyPr wrap="square" rtlCol="0">
            <a:spAutoFit/>
          </a:bodyPr>
          <a:lstStyle/>
          <a:p>
            <a:r>
              <a:rPr lang="en-US" sz="2400" b="1" dirty="0">
                <a:latin typeface="Arial Black" panose="020B0A04020102020204" pitchFamily="34" charset="0"/>
              </a:rPr>
              <a:t>Engagement, explanation, expectation clarity</a:t>
            </a:r>
          </a:p>
          <a:p>
            <a:r>
              <a:rPr lang="en-US" sz="2400" b="1" dirty="0">
                <a:latin typeface="Arial Black" panose="020B0A04020102020204" pitchFamily="34" charset="0"/>
              </a:rPr>
              <a:t>&amp;</a:t>
            </a:r>
          </a:p>
          <a:p>
            <a:r>
              <a:rPr lang="en-US" sz="2400" b="1" dirty="0">
                <a:latin typeface="Arial Black" panose="020B0A04020102020204" pitchFamily="34" charset="0"/>
              </a:rPr>
              <a:t>How to sustain them </a:t>
            </a:r>
          </a:p>
          <a:p>
            <a:endParaRPr lang="en-IN" dirty="0"/>
          </a:p>
        </p:txBody>
      </p:sp>
    </p:spTree>
    <p:extLst>
      <p:ext uri="{BB962C8B-B14F-4D97-AF65-F5344CB8AC3E}">
        <p14:creationId xmlns:p14="http://schemas.microsoft.com/office/powerpoint/2010/main" val="2686045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F18BB-013F-19F9-A4ED-0EFED3D5A7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B87D42A-E1CB-CE03-91E4-FEF362E4D989}"/>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C4682F56-649B-08A8-ACB0-1CEDEC801533}"/>
              </a:ext>
            </a:extLst>
          </p:cNvPr>
          <p:cNvPicPr>
            <a:picLocks noChangeAspect="1"/>
          </p:cNvPicPr>
          <p:nvPr/>
        </p:nvPicPr>
        <p:blipFill>
          <a:blip r:embed="Racbbb17b78da4906">
            <a:extLst>
              <a:ext uri="{28A0092B-C50C-407E-A947-70E740481C1C}">
                <a14:useLocalDpi xmlns:a14="http://schemas.microsoft.com/office/drawing/2010/main" val="0"/>
              </a:ext>
            </a:extLst>
          </a:blip>
          <a:stretch>
            <a:fillRect/>
          </a:stretch>
        </p:blipFill>
        <p:spPr>
          <a:xfrm>
            <a:off x="10560837" y="-208935"/>
            <a:ext cx="1531849" cy="1769806"/>
          </a:xfrm>
          <a:prstGeom prst="rect">
            <a:avLst/>
          </a:prstGeom>
        </p:spPr>
      </p:pic>
      <p:sp>
        <p:nvSpPr>
          <p:cNvPr id="4" name="TextBox 3">
            <a:extLst>
              <a:ext uri="{FF2B5EF4-FFF2-40B4-BE49-F238E27FC236}">
                <a16:creationId xmlns:a16="http://schemas.microsoft.com/office/drawing/2014/main" id="{210042AB-F92A-9C96-CA4D-815AEA299C02}"/>
              </a:ext>
            </a:extLst>
          </p:cNvPr>
          <p:cNvSpPr txBox="1"/>
          <p:nvPr/>
        </p:nvSpPr>
        <p:spPr>
          <a:xfrm>
            <a:off x="589936" y="-6115666"/>
            <a:ext cx="1553497" cy="18558927"/>
          </a:xfrm>
          <a:prstGeom prst="rect">
            <a:avLst/>
          </a:prstGeom>
          <a:noFill/>
        </p:spPr>
        <p:txBody>
          <a:bodyPr wrap="square" rtlCol="0">
            <a:spAutoFit/>
          </a:bodyPr>
          <a:lstStyle/>
          <a:p>
            <a:r>
              <a:rPr lang="en-IN" sz="40000" dirty="0">
                <a:latin typeface="Bahnschrift Condensed" panose="020B0502040204020203" pitchFamily="34" charset="0"/>
              </a:rPr>
              <a:t>123</a:t>
            </a:r>
          </a:p>
        </p:txBody>
      </p:sp>
      <p:sp>
        <p:nvSpPr>
          <p:cNvPr id="5" name="Rectangle 4">
            <a:extLst>
              <a:ext uri="{FF2B5EF4-FFF2-40B4-BE49-F238E27FC236}">
                <a16:creationId xmlns:a16="http://schemas.microsoft.com/office/drawing/2014/main" id="{FBAAD55C-9893-3394-4732-1577F6004BF5}"/>
              </a:ext>
            </a:extLst>
          </p:cNvPr>
          <p:cNvSpPr/>
          <p:nvPr/>
        </p:nvSpPr>
        <p:spPr>
          <a:xfrm>
            <a:off x="3704302" y="1847205"/>
            <a:ext cx="6567948" cy="31635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5606E06-ADFA-43F5-0226-F238AA096BA3}"/>
              </a:ext>
            </a:extLst>
          </p:cNvPr>
          <p:cNvSpPr txBox="1"/>
          <p:nvPr/>
        </p:nvSpPr>
        <p:spPr>
          <a:xfrm>
            <a:off x="3775587" y="1995948"/>
            <a:ext cx="6410632" cy="2092881"/>
          </a:xfrm>
          <a:prstGeom prst="rect">
            <a:avLst/>
          </a:prstGeom>
          <a:noFill/>
        </p:spPr>
        <p:txBody>
          <a:bodyPr wrap="square" rtlCol="0">
            <a:spAutoFit/>
          </a:bodyPr>
          <a:lstStyle/>
          <a:p>
            <a:r>
              <a:rPr lang="en-US" sz="2800" dirty="0">
                <a:latin typeface="Bahnschrift Condensed" panose="020B0502040204020203" pitchFamily="34" charset="0"/>
              </a:rPr>
              <a:t>Supervise through:</a:t>
            </a:r>
          </a:p>
          <a:p>
            <a:r>
              <a:rPr lang="en-US" sz="2800" dirty="0">
                <a:latin typeface="Bahnschrift Condensed" panose="020B0502040204020203" pitchFamily="34" charset="0"/>
              </a:rPr>
              <a:t>a) Periodic meetings with volunteers</a:t>
            </a:r>
          </a:p>
          <a:p>
            <a:r>
              <a:rPr lang="en-US" sz="2800" dirty="0">
                <a:latin typeface="Bahnschrift Condensed" panose="020B0502040204020203" pitchFamily="34" charset="0"/>
              </a:rPr>
              <a:t>b) Field visits</a:t>
            </a:r>
          </a:p>
          <a:p>
            <a:r>
              <a:rPr lang="en-US" sz="2800" dirty="0">
                <a:latin typeface="Bahnschrift Condensed" panose="020B0502040204020203" pitchFamily="34" charset="0"/>
              </a:rPr>
              <a:t>c) </a:t>
            </a:r>
            <a:r>
              <a:rPr lang="en-US" sz="2800" dirty="0" err="1">
                <a:latin typeface="Bahnschrift Condensed" panose="020B0502040204020203" pitchFamily="34" charset="0"/>
              </a:rPr>
              <a:t>Programme</a:t>
            </a:r>
            <a:r>
              <a:rPr lang="en-US" sz="2800" dirty="0">
                <a:latin typeface="Bahnschrift Condensed" panose="020B0502040204020203" pitchFamily="34" charset="0"/>
              </a:rPr>
              <a:t> evaluations</a:t>
            </a:r>
          </a:p>
          <a:p>
            <a:endParaRPr lang="en-IN" dirty="0"/>
          </a:p>
        </p:txBody>
      </p:sp>
    </p:spTree>
    <p:extLst>
      <p:ext uri="{BB962C8B-B14F-4D97-AF65-F5344CB8AC3E}">
        <p14:creationId xmlns:p14="http://schemas.microsoft.com/office/powerpoint/2010/main" val="3466034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DCAE9-DC9C-B6ED-2A8B-6C77A7B4A7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D1DE93D-F512-DA89-D0F7-81E811A21AD8}"/>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F8E973C3-A357-F820-0F77-FF638E21850A}"/>
              </a:ext>
            </a:extLst>
          </p:cNvPr>
          <p:cNvPicPr>
            <a:picLocks noChangeAspect="1"/>
          </p:cNvPicPr>
          <p:nvPr/>
        </p:nvPicPr>
        <p:blipFill>
          <a:blip r:embed="R6df5dbd9429a4fae">
            <a:extLst>
              <a:ext uri="{28A0092B-C50C-407E-A947-70E740481C1C}">
                <a14:useLocalDpi xmlns:a14="http://schemas.microsoft.com/office/drawing/2010/main" val="0"/>
              </a:ext>
            </a:extLst>
          </a:blip>
          <a:stretch>
            <a:fillRect/>
          </a:stretch>
        </p:blipFill>
        <p:spPr>
          <a:xfrm>
            <a:off x="10560837" y="-208935"/>
            <a:ext cx="1531849" cy="1769806"/>
          </a:xfrm>
          <a:prstGeom prst="rect">
            <a:avLst/>
          </a:prstGeom>
        </p:spPr>
      </p:pic>
      <p:sp>
        <p:nvSpPr>
          <p:cNvPr id="4" name="TextBox 3">
            <a:extLst>
              <a:ext uri="{FF2B5EF4-FFF2-40B4-BE49-F238E27FC236}">
                <a16:creationId xmlns:a16="http://schemas.microsoft.com/office/drawing/2014/main" id="{4AFA1F6B-AEE7-1A95-A07D-2ECA903F19A5}"/>
              </a:ext>
            </a:extLst>
          </p:cNvPr>
          <p:cNvSpPr txBox="1"/>
          <p:nvPr/>
        </p:nvSpPr>
        <p:spPr>
          <a:xfrm>
            <a:off x="344130" y="-12192270"/>
            <a:ext cx="1553497" cy="18558927"/>
          </a:xfrm>
          <a:prstGeom prst="rect">
            <a:avLst/>
          </a:prstGeom>
          <a:noFill/>
        </p:spPr>
        <p:txBody>
          <a:bodyPr wrap="square" rtlCol="0">
            <a:spAutoFit/>
          </a:bodyPr>
          <a:lstStyle/>
          <a:p>
            <a:r>
              <a:rPr lang="en-IN" sz="40000" dirty="0">
                <a:latin typeface="Bahnschrift Condensed" panose="020B0502040204020203" pitchFamily="34" charset="0"/>
              </a:rPr>
              <a:t>123</a:t>
            </a:r>
          </a:p>
        </p:txBody>
      </p:sp>
      <p:sp>
        <p:nvSpPr>
          <p:cNvPr id="7" name="Rectangle 6">
            <a:extLst>
              <a:ext uri="{FF2B5EF4-FFF2-40B4-BE49-F238E27FC236}">
                <a16:creationId xmlns:a16="http://schemas.microsoft.com/office/drawing/2014/main" id="{B99179A1-C7FE-7ED1-A8B5-FC0C51882E3D}"/>
              </a:ext>
            </a:extLst>
          </p:cNvPr>
          <p:cNvSpPr/>
          <p:nvPr/>
        </p:nvSpPr>
        <p:spPr>
          <a:xfrm>
            <a:off x="3704302" y="1847205"/>
            <a:ext cx="6567948" cy="31635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a:latin typeface="Bahnschrift Condensed" panose="020B0502040204020203" pitchFamily="34" charset="0"/>
              </a:rPr>
              <a:t>.Develop by:</a:t>
            </a:r>
          </a:p>
          <a:p>
            <a:r>
              <a:rPr lang="en-US" sz="1800">
                <a:latin typeface="Bahnschrift Condensed" panose="020B0502040204020203" pitchFamily="34" charset="0"/>
              </a:rPr>
              <a:t>a) Productive feedback</a:t>
            </a:r>
          </a:p>
          <a:p>
            <a:r>
              <a:rPr lang="en-US" sz="1800">
                <a:latin typeface="Bahnschrift Condensed" panose="020B0502040204020203" pitchFamily="34" charset="0"/>
              </a:rPr>
              <a:t>b) Facilitating healthy interactions</a:t>
            </a:r>
          </a:p>
          <a:p>
            <a:r>
              <a:rPr lang="en-US" sz="1800">
                <a:latin typeface="Bahnschrift Condensed" panose="020B0502040204020203" pitchFamily="34" charset="0"/>
              </a:rPr>
              <a:t>c) Forming peer learning groups</a:t>
            </a:r>
          </a:p>
          <a:p>
            <a:r>
              <a:rPr lang="en-US" sz="1800">
                <a:latin typeface="Bahnschrift Condensed" panose="020B0502040204020203" pitchFamily="34" charset="0"/>
              </a:rPr>
              <a:t>d) Delegating responsibilities and kindling volunteer ownership</a:t>
            </a:r>
          </a:p>
          <a:p>
            <a:r>
              <a:rPr lang="en-US" sz="1800">
                <a:latin typeface="Bahnschrift Condensed" panose="020B0502040204020203" pitchFamily="34" charset="0"/>
              </a:rPr>
              <a:t>e) Organising CBs/ workshops/ exposures</a:t>
            </a:r>
            <a:endParaRPr lang="en-IN" sz="1800" dirty="0">
              <a:latin typeface="Bahnschrift Condensed" panose="020B0502040204020203" pitchFamily="34" charset="0"/>
            </a:endParaRPr>
          </a:p>
        </p:txBody>
      </p:sp>
      <p:sp>
        <p:nvSpPr>
          <p:cNvPr id="9" name="TextBox 8">
            <a:extLst>
              <a:ext uri="{FF2B5EF4-FFF2-40B4-BE49-F238E27FC236}">
                <a16:creationId xmlns:a16="http://schemas.microsoft.com/office/drawing/2014/main" id="{03B0ED63-DCBE-E456-72A5-75E81567CB61}"/>
              </a:ext>
            </a:extLst>
          </p:cNvPr>
          <p:cNvSpPr txBox="1"/>
          <p:nvPr/>
        </p:nvSpPr>
        <p:spPr>
          <a:xfrm>
            <a:off x="3834581" y="1951672"/>
            <a:ext cx="6017342" cy="3059123"/>
          </a:xfrm>
          <a:prstGeom prst="rect">
            <a:avLst/>
          </a:prstGeom>
          <a:noFill/>
        </p:spPr>
        <p:txBody>
          <a:bodyPr wrap="square" rtlCol="0">
            <a:spAutoFit/>
          </a:bodyPr>
          <a:lstStyle/>
          <a:p>
            <a:r>
              <a:rPr lang="en-US" sz="1800" dirty="0">
                <a:latin typeface="Bahnschrift Condensed" panose="020B0502040204020203" pitchFamily="34" charset="0"/>
              </a:rPr>
              <a:t>.</a:t>
            </a:r>
            <a:r>
              <a:rPr lang="en-US" sz="2400" dirty="0">
                <a:latin typeface="Bahnschrift Condensed" panose="020B0502040204020203" pitchFamily="34" charset="0"/>
              </a:rPr>
              <a:t>Develop by:</a:t>
            </a:r>
          </a:p>
          <a:p>
            <a:r>
              <a:rPr lang="en-US" sz="2400" dirty="0">
                <a:latin typeface="Bahnschrift Condensed" panose="020B0502040204020203" pitchFamily="34" charset="0"/>
              </a:rPr>
              <a:t>a) Productive feedback</a:t>
            </a:r>
          </a:p>
          <a:p>
            <a:r>
              <a:rPr lang="en-US" sz="2400" dirty="0">
                <a:latin typeface="Bahnschrift Condensed" panose="020B0502040204020203" pitchFamily="34" charset="0"/>
              </a:rPr>
              <a:t>b) Facilitating healthy interactions</a:t>
            </a:r>
          </a:p>
          <a:p>
            <a:r>
              <a:rPr lang="en-US" sz="2400" dirty="0">
                <a:latin typeface="Bahnschrift Condensed" panose="020B0502040204020203" pitchFamily="34" charset="0"/>
              </a:rPr>
              <a:t>c) Forming peer learning groups</a:t>
            </a:r>
          </a:p>
          <a:p>
            <a:r>
              <a:rPr lang="en-US" sz="2400" dirty="0">
                <a:latin typeface="Bahnschrift Condensed" panose="020B0502040204020203" pitchFamily="34" charset="0"/>
              </a:rPr>
              <a:t>d) Delegating responsibilities and kindling volunteer ownership</a:t>
            </a:r>
          </a:p>
          <a:p>
            <a:r>
              <a:rPr lang="en-US" sz="2400" dirty="0">
                <a:latin typeface="Bahnschrift Condensed" panose="020B0502040204020203" pitchFamily="34" charset="0"/>
              </a:rPr>
              <a:t>e) </a:t>
            </a:r>
            <a:r>
              <a:rPr lang="en-US" sz="2400" dirty="0" err="1">
                <a:latin typeface="Bahnschrift Condensed" panose="020B0502040204020203" pitchFamily="34" charset="0"/>
              </a:rPr>
              <a:t>Organising</a:t>
            </a:r>
            <a:r>
              <a:rPr lang="en-US" sz="2400" dirty="0">
                <a:latin typeface="Bahnschrift Condensed" panose="020B0502040204020203" pitchFamily="34" charset="0"/>
              </a:rPr>
              <a:t> CBs/ workshops/ exposures</a:t>
            </a:r>
            <a:endParaRPr lang="en-IN" sz="2400" dirty="0">
              <a:latin typeface="Bahnschrift Condensed" panose="020B0502040204020203" pitchFamily="34" charset="0"/>
            </a:endParaRPr>
          </a:p>
          <a:p>
            <a:endParaRPr lang="en-IN" dirty="0"/>
          </a:p>
        </p:txBody>
      </p:sp>
    </p:spTree>
    <p:extLst>
      <p:ext uri="{BB962C8B-B14F-4D97-AF65-F5344CB8AC3E}">
        <p14:creationId xmlns:p14="http://schemas.microsoft.com/office/powerpoint/2010/main" val="3333643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62377-F4C9-DF37-29BA-B000C262A38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B0D3DFC-83A9-AC85-A39D-5443E948FD53}"/>
              </a:ext>
            </a:extLst>
          </p:cNvPr>
          <p:cNvSpPr/>
          <p:nvPr/>
        </p:nvSpPr>
        <p:spPr>
          <a:xfrm>
            <a:off x="0" y="0"/>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9307D39D-E02E-AE41-18BB-32BD63408B27}"/>
              </a:ext>
            </a:extLst>
          </p:cNvPr>
          <p:cNvPicPr>
            <a:picLocks noChangeAspect="1"/>
          </p:cNvPicPr>
          <p:nvPr/>
        </p:nvPicPr>
        <p:blipFill>
          <a:blip r:embed="R3b59185e05e043ba">
            <a:extLst>
              <a:ext uri="{28A0092B-C50C-407E-A947-70E740481C1C}">
                <a14:useLocalDpi xmlns:a14="http://schemas.microsoft.com/office/drawing/2010/main" val="0"/>
              </a:ext>
            </a:extLst>
          </a:blip>
          <a:stretch>
            <a:fillRect/>
          </a:stretch>
        </p:blipFill>
        <p:spPr>
          <a:xfrm>
            <a:off x="10560837" y="-208935"/>
            <a:ext cx="1531849" cy="1769806"/>
          </a:xfrm>
          <a:prstGeom prst="rect">
            <a:avLst/>
          </a:prstGeom>
        </p:spPr>
      </p:pic>
      <p:sp>
        <p:nvSpPr>
          <p:cNvPr id="4" name="Rectangle 3">
            <a:extLst>
              <a:ext uri="{FF2B5EF4-FFF2-40B4-BE49-F238E27FC236}">
                <a16:creationId xmlns:a16="http://schemas.microsoft.com/office/drawing/2014/main" id="{5EFE7EB0-F35F-D85F-0E64-065CE4206C08}"/>
              </a:ext>
            </a:extLst>
          </p:cNvPr>
          <p:cNvSpPr/>
          <p:nvPr/>
        </p:nvSpPr>
        <p:spPr>
          <a:xfrm>
            <a:off x="2029865" y="675968"/>
            <a:ext cx="7915959" cy="3900948"/>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DBFFB4B7-EBE1-31C8-C4ED-BC604EB20EE6}"/>
              </a:ext>
            </a:extLst>
          </p:cNvPr>
          <p:cNvSpPr txBox="1"/>
          <p:nvPr/>
        </p:nvSpPr>
        <p:spPr>
          <a:xfrm>
            <a:off x="1189701" y="4840295"/>
            <a:ext cx="10402529" cy="1477328"/>
          </a:xfrm>
          <a:prstGeom prst="rect">
            <a:avLst/>
          </a:prstGeom>
          <a:noFill/>
        </p:spPr>
        <p:txBody>
          <a:bodyPr wrap="square" rtlCol="0">
            <a:spAutoFit/>
          </a:bodyPr>
          <a:lstStyle/>
          <a:p>
            <a:r>
              <a:rPr lang="en-US" dirty="0">
                <a:latin typeface="Bahnschrift Condensed" panose="020B0502040204020203" pitchFamily="34" charset="0"/>
              </a:rPr>
              <a:t>To make volunteering more effective and rewarding, CRY assigns tasks based on each volunteer’s strengths, skills, and convenience. Volunteers are grouped by their expertise—such as design, data analysis, or translation—and matched with CRY mentors for guidance and collaboration. We also prioritize location-based placements to save time and resources; for example, a volunteer from Marathahalli would be assigned to a nearby school rather than one across the city in </a:t>
            </a:r>
            <a:r>
              <a:rPr lang="en-US" dirty="0" err="1">
                <a:latin typeface="Bahnschrift Condensed" panose="020B0502040204020203" pitchFamily="34" charset="0"/>
              </a:rPr>
              <a:t>Yeswanthpur</a:t>
            </a:r>
            <a:r>
              <a:rPr lang="en-US" dirty="0">
                <a:latin typeface="Bahnschrift Condensed" panose="020B0502040204020203" pitchFamily="34" charset="0"/>
              </a:rPr>
              <a:t>. This thoughtful approach helps volunteers stay engaged while maximizing their impact.</a:t>
            </a:r>
            <a:endParaRPr lang="en-IN" dirty="0">
              <a:latin typeface="Bahnschrift Condensed" panose="020B0502040204020203" pitchFamily="34" charset="0"/>
            </a:endParaRPr>
          </a:p>
        </p:txBody>
      </p:sp>
      <p:sp>
        <p:nvSpPr>
          <p:cNvPr id="6" name="TextBox 5">
            <a:extLst>
              <a:ext uri="{FF2B5EF4-FFF2-40B4-BE49-F238E27FC236}">
                <a16:creationId xmlns:a16="http://schemas.microsoft.com/office/drawing/2014/main" id="{CDA0C3C6-6B7A-87C6-DDE5-5895D8167533}"/>
              </a:ext>
            </a:extLst>
          </p:cNvPr>
          <p:cNvSpPr txBox="1"/>
          <p:nvPr/>
        </p:nvSpPr>
        <p:spPr>
          <a:xfrm>
            <a:off x="5407741" y="2133600"/>
            <a:ext cx="1160206" cy="369332"/>
          </a:xfrm>
          <a:prstGeom prst="rect">
            <a:avLst/>
          </a:prstGeom>
          <a:noFill/>
        </p:spPr>
        <p:txBody>
          <a:bodyPr wrap="square" rtlCol="0">
            <a:spAutoFit/>
          </a:bodyPr>
          <a:lstStyle/>
          <a:p>
            <a:r>
              <a:rPr lang="en-IN" dirty="0"/>
              <a:t>( Picture) </a:t>
            </a:r>
          </a:p>
        </p:txBody>
      </p:sp>
    </p:spTree>
    <p:extLst>
      <p:ext uri="{BB962C8B-B14F-4D97-AF65-F5344CB8AC3E}">
        <p14:creationId xmlns:p14="http://schemas.microsoft.com/office/powerpoint/2010/main" val="4183330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4E1B3-541E-B453-4B29-BE271918758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206C473-A287-9517-F86D-C4E3098D5420}"/>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79DE9D75-276B-E036-27CB-52447E2EBA6A}"/>
              </a:ext>
            </a:extLst>
          </p:cNvPr>
          <p:cNvPicPr>
            <a:picLocks noChangeAspect="1"/>
          </p:cNvPicPr>
          <p:nvPr/>
        </p:nvPicPr>
        <p:blipFill>
          <a:blip r:embed="R830ca17203444c8a">
            <a:extLst>
              <a:ext uri="{28A0092B-C50C-407E-A947-70E740481C1C}">
                <a14:useLocalDpi xmlns:a14="http://schemas.microsoft.com/office/drawing/2010/main" val="0"/>
              </a:ext>
            </a:extLst>
          </a:blip>
          <a:stretch>
            <a:fillRect/>
          </a:stretch>
        </p:blipFill>
        <p:spPr>
          <a:xfrm>
            <a:off x="10560837" y="-208935"/>
            <a:ext cx="1531849" cy="1769806"/>
          </a:xfrm>
          <a:prstGeom prst="rect">
            <a:avLst/>
          </a:prstGeom>
        </p:spPr>
      </p:pic>
      <p:sp>
        <p:nvSpPr>
          <p:cNvPr id="5" name="Rectangle 4">
            <a:extLst>
              <a:ext uri="{FF2B5EF4-FFF2-40B4-BE49-F238E27FC236}">
                <a16:creationId xmlns:a16="http://schemas.microsoft.com/office/drawing/2014/main" id="{F08DE72A-E72D-E92C-52E7-AA76EE97582C}"/>
              </a:ext>
            </a:extLst>
          </p:cNvPr>
          <p:cNvSpPr/>
          <p:nvPr/>
        </p:nvSpPr>
        <p:spPr>
          <a:xfrm>
            <a:off x="521110" y="599768"/>
            <a:ext cx="7482348" cy="396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4C5D7F9-F447-950C-F4AA-B36860BED784}"/>
              </a:ext>
            </a:extLst>
          </p:cNvPr>
          <p:cNvSpPr txBox="1"/>
          <p:nvPr/>
        </p:nvSpPr>
        <p:spPr>
          <a:xfrm>
            <a:off x="501445" y="515106"/>
            <a:ext cx="7502013" cy="3970318"/>
          </a:xfrm>
          <a:prstGeom prst="rect">
            <a:avLst/>
          </a:prstGeom>
          <a:noFill/>
          <a:ln>
            <a:noFill/>
          </a:ln>
        </p:spPr>
        <p:txBody>
          <a:bodyPr wrap="square" rtlCol="0">
            <a:spAutoFit/>
          </a:bodyPr>
          <a:lstStyle/>
          <a:p>
            <a:r>
              <a:rPr lang="en-US" sz="2800" dirty="0">
                <a:latin typeface="Bahnschrift Condensed" panose="020B0502040204020203" pitchFamily="34" charset="0"/>
              </a:rPr>
              <a:t>One of the most effective ways to keep volunteers engaged and committed is by building a sense of community among them. At CRY, we’ve seen this in action—like during the WCDW program, which started with just three volunteers. Their consistent participation, willingness to share their experiences, and open feedback inspired others to join in. By the end, the group had grown to 14. When volunteers support and motivate each other, it creates a ripple effect that strengthens the entire program.</a:t>
            </a:r>
            <a:endParaRPr lang="en-IN" sz="2800" dirty="0">
              <a:latin typeface="Bahnschrift Condensed" panose="020B0502040204020203" pitchFamily="34" charset="0"/>
            </a:endParaRPr>
          </a:p>
        </p:txBody>
      </p:sp>
      <p:sp>
        <p:nvSpPr>
          <p:cNvPr id="6" name="Rectangle 5">
            <a:extLst>
              <a:ext uri="{FF2B5EF4-FFF2-40B4-BE49-F238E27FC236}">
                <a16:creationId xmlns:a16="http://schemas.microsoft.com/office/drawing/2014/main" id="{4CEEC74C-A2AB-D741-9CD4-D337F941B197}"/>
              </a:ext>
            </a:extLst>
          </p:cNvPr>
          <p:cNvSpPr/>
          <p:nvPr/>
        </p:nvSpPr>
        <p:spPr>
          <a:xfrm>
            <a:off x="7236542" y="4041058"/>
            <a:ext cx="4630993" cy="25268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5495E8D6-390A-83F3-7522-DFD062AB8CD5}"/>
              </a:ext>
            </a:extLst>
          </p:cNvPr>
          <p:cNvSpPr txBox="1"/>
          <p:nvPr/>
        </p:nvSpPr>
        <p:spPr>
          <a:xfrm>
            <a:off x="9232490" y="5043948"/>
            <a:ext cx="1258529" cy="369332"/>
          </a:xfrm>
          <a:prstGeom prst="rect">
            <a:avLst/>
          </a:prstGeom>
          <a:noFill/>
        </p:spPr>
        <p:txBody>
          <a:bodyPr wrap="square" rtlCol="0">
            <a:spAutoFit/>
          </a:bodyPr>
          <a:lstStyle/>
          <a:p>
            <a:r>
              <a:rPr lang="en-IN" dirty="0"/>
              <a:t>( picture) </a:t>
            </a:r>
          </a:p>
        </p:txBody>
      </p:sp>
    </p:spTree>
    <p:extLst>
      <p:ext uri="{BB962C8B-B14F-4D97-AF65-F5344CB8AC3E}">
        <p14:creationId xmlns:p14="http://schemas.microsoft.com/office/powerpoint/2010/main" val="1616198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32CBC-CCD2-3430-59CA-6257B042B7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C6C090-28D5-EE2A-EFF0-062BFA72E1E0}"/>
              </a:ext>
            </a:extLst>
          </p:cNvPr>
          <p:cNvSpPr/>
          <p:nvPr/>
        </p:nvSpPr>
        <p:spPr>
          <a:xfrm>
            <a:off x="0" y="0"/>
            <a:ext cx="12192000" cy="706693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reeform: Shape 11">
            <a:extLst>
              <a:ext uri="{FF2B5EF4-FFF2-40B4-BE49-F238E27FC236}">
                <a16:creationId xmlns:a16="http://schemas.microsoft.com/office/drawing/2014/main" id="{48852C62-9D7B-51FA-42FF-97BFFD4CCAD2}"/>
              </a:ext>
            </a:extLst>
          </p:cNvPr>
          <p:cNvSpPr/>
          <p:nvPr/>
        </p:nvSpPr>
        <p:spPr>
          <a:xfrm>
            <a:off x="0" y="0"/>
            <a:ext cx="12192000" cy="6931742"/>
          </a:xfrm>
          <a:custGeom>
            <a:avLst/>
            <a:gdLst/>
            <a:ahLst/>
            <a:cxnLst/>
            <a:rect l="l" t="t" r="r" b="b"/>
            <a:pathLst>
              <a:path w="12192000" h="6931742">
                <a:moveTo>
                  <a:pt x="6201926" y="4397141"/>
                </a:moveTo>
                <a:cubicBezTo>
                  <a:pt x="6285638" y="4476317"/>
                  <a:pt x="6354299" y="4536524"/>
                  <a:pt x="6407909" y="4577762"/>
                </a:cubicBezTo>
                <a:cubicBezTo>
                  <a:pt x="6351825" y="4612814"/>
                  <a:pt x="6301309" y="4630340"/>
                  <a:pt x="6256360" y="4630340"/>
                </a:cubicBezTo>
                <a:cubicBezTo>
                  <a:pt x="6214709" y="4630340"/>
                  <a:pt x="6180894" y="4618587"/>
                  <a:pt x="6154915" y="4595082"/>
                </a:cubicBezTo>
                <a:cubicBezTo>
                  <a:pt x="6128935" y="4571576"/>
                  <a:pt x="6115945" y="4544772"/>
                  <a:pt x="6115945" y="4514668"/>
                </a:cubicBezTo>
                <a:cubicBezTo>
                  <a:pt x="6115945" y="4495287"/>
                  <a:pt x="6121615" y="4476936"/>
                  <a:pt x="6132956" y="4459616"/>
                </a:cubicBezTo>
                <a:cubicBezTo>
                  <a:pt x="6144296" y="4442296"/>
                  <a:pt x="6167286" y="4421471"/>
                  <a:pt x="6201926" y="4397141"/>
                </a:cubicBezTo>
                <a:close/>
                <a:moveTo>
                  <a:pt x="7388660" y="4105177"/>
                </a:moveTo>
                <a:lnTo>
                  <a:pt x="7488771" y="4431162"/>
                </a:lnTo>
                <a:lnTo>
                  <a:pt x="7289622" y="4431162"/>
                </a:lnTo>
                <a:close/>
                <a:moveTo>
                  <a:pt x="5240528" y="4066826"/>
                </a:moveTo>
                <a:cubicBezTo>
                  <a:pt x="5300323" y="4066826"/>
                  <a:pt x="5347231" y="4086414"/>
                  <a:pt x="5381252" y="4125590"/>
                </a:cubicBezTo>
                <a:cubicBezTo>
                  <a:pt x="5415274" y="4164766"/>
                  <a:pt x="5432284" y="4230127"/>
                  <a:pt x="5432284" y="4321675"/>
                </a:cubicBezTo>
                <a:cubicBezTo>
                  <a:pt x="5432284" y="4401264"/>
                  <a:pt x="5421150" y="4461059"/>
                  <a:pt x="5398882" y="4501060"/>
                </a:cubicBezTo>
                <a:cubicBezTo>
                  <a:pt x="5387748" y="4494049"/>
                  <a:pt x="5377438" y="4487245"/>
                  <a:pt x="5367953" y="4480647"/>
                </a:cubicBezTo>
                <a:cubicBezTo>
                  <a:pt x="5327953" y="4452605"/>
                  <a:pt x="5301046" y="4435286"/>
                  <a:pt x="5287230" y="4428687"/>
                </a:cubicBezTo>
                <a:cubicBezTo>
                  <a:pt x="5273416" y="4422089"/>
                  <a:pt x="5254137" y="4416522"/>
                  <a:pt x="5229394" y="4411986"/>
                </a:cubicBezTo>
                <a:lnTo>
                  <a:pt x="5185476" y="4512813"/>
                </a:lnTo>
                <a:cubicBezTo>
                  <a:pt x="5236199" y="4533019"/>
                  <a:pt x="5273313" y="4554463"/>
                  <a:pt x="5296818" y="4577143"/>
                </a:cubicBezTo>
                <a:cubicBezTo>
                  <a:pt x="5279911" y="4580855"/>
                  <a:pt x="5261972" y="4582711"/>
                  <a:pt x="5243003" y="4582711"/>
                </a:cubicBezTo>
                <a:cubicBezTo>
                  <a:pt x="5184033" y="4582711"/>
                  <a:pt x="5137641" y="4562710"/>
                  <a:pt x="5103825" y="4522710"/>
                </a:cubicBezTo>
                <a:cubicBezTo>
                  <a:pt x="5070010" y="4482709"/>
                  <a:pt x="5053103" y="4413223"/>
                  <a:pt x="5053103" y="4314253"/>
                </a:cubicBezTo>
                <a:cubicBezTo>
                  <a:pt x="5053103" y="4229303"/>
                  <a:pt x="5070423" y="4166828"/>
                  <a:pt x="5105062" y="4126827"/>
                </a:cubicBezTo>
                <a:cubicBezTo>
                  <a:pt x="5139703" y="4086826"/>
                  <a:pt x="5184857" y="4066826"/>
                  <a:pt x="5240528" y="4066826"/>
                </a:cubicBezTo>
                <a:close/>
                <a:moveTo>
                  <a:pt x="6310175" y="3990742"/>
                </a:moveTo>
                <a:cubicBezTo>
                  <a:pt x="6336155" y="3990742"/>
                  <a:pt x="6356567" y="3997443"/>
                  <a:pt x="6371413" y="4010846"/>
                </a:cubicBezTo>
                <a:cubicBezTo>
                  <a:pt x="6386259" y="4024248"/>
                  <a:pt x="6393681" y="4040640"/>
                  <a:pt x="6393681" y="4060022"/>
                </a:cubicBezTo>
                <a:cubicBezTo>
                  <a:pt x="6393681" y="4078579"/>
                  <a:pt x="6384815" y="4098270"/>
                  <a:pt x="6367083" y="4119095"/>
                </a:cubicBezTo>
                <a:cubicBezTo>
                  <a:pt x="6349351" y="4139920"/>
                  <a:pt x="6324196" y="4159199"/>
                  <a:pt x="6291618" y="4176931"/>
                </a:cubicBezTo>
                <a:cubicBezTo>
                  <a:pt x="6246256" y="4128270"/>
                  <a:pt x="6223576" y="4091156"/>
                  <a:pt x="6223576" y="4065589"/>
                </a:cubicBezTo>
                <a:cubicBezTo>
                  <a:pt x="6223576" y="4045382"/>
                  <a:pt x="6231617" y="4027856"/>
                  <a:pt x="6247700" y="4013011"/>
                </a:cubicBezTo>
                <a:cubicBezTo>
                  <a:pt x="6263782" y="3998165"/>
                  <a:pt x="6284607" y="3990742"/>
                  <a:pt x="6310175" y="3990742"/>
                </a:cubicBezTo>
                <a:close/>
                <a:moveTo>
                  <a:pt x="7239267" y="3870122"/>
                </a:moveTo>
                <a:lnTo>
                  <a:pt x="6898446" y="4776941"/>
                </a:lnTo>
                <a:lnTo>
                  <a:pt x="7184562" y="4776941"/>
                </a:lnTo>
                <a:lnTo>
                  <a:pt x="7228760" y="4627247"/>
                </a:lnTo>
                <a:lnTo>
                  <a:pt x="7546897" y="4627247"/>
                </a:lnTo>
                <a:lnTo>
                  <a:pt x="7592256" y="4776941"/>
                </a:lnTo>
                <a:lnTo>
                  <a:pt x="7885678" y="4776941"/>
                </a:lnTo>
                <a:lnTo>
                  <a:pt x="7544916" y="3870122"/>
                </a:lnTo>
                <a:close/>
                <a:moveTo>
                  <a:pt x="6299659" y="3854657"/>
                </a:moveTo>
                <a:cubicBezTo>
                  <a:pt x="6199864" y="3854657"/>
                  <a:pt x="6125430" y="3875482"/>
                  <a:pt x="6076357" y="3917133"/>
                </a:cubicBezTo>
                <a:cubicBezTo>
                  <a:pt x="6027284" y="3958783"/>
                  <a:pt x="6002747" y="4011773"/>
                  <a:pt x="6002747" y="4076104"/>
                </a:cubicBezTo>
                <a:cubicBezTo>
                  <a:pt x="6002747" y="4106620"/>
                  <a:pt x="6008933" y="4136621"/>
                  <a:pt x="6021304" y="4166106"/>
                </a:cubicBezTo>
                <a:cubicBezTo>
                  <a:pt x="6033676" y="4195591"/>
                  <a:pt x="6056356" y="4230334"/>
                  <a:pt x="6089347" y="4270334"/>
                </a:cubicBezTo>
                <a:cubicBezTo>
                  <a:pt x="6010582" y="4302087"/>
                  <a:pt x="5953880" y="4340954"/>
                  <a:pt x="5919241" y="4386934"/>
                </a:cubicBezTo>
                <a:cubicBezTo>
                  <a:pt x="5884601" y="4432914"/>
                  <a:pt x="5867281" y="4481678"/>
                  <a:pt x="5867281" y="4533225"/>
                </a:cubicBezTo>
                <a:cubicBezTo>
                  <a:pt x="5867281" y="4604979"/>
                  <a:pt x="5896766" y="4666011"/>
                  <a:pt x="5955736" y="4716321"/>
                </a:cubicBezTo>
                <a:cubicBezTo>
                  <a:pt x="6014707" y="4766631"/>
                  <a:pt x="6104604" y="4791786"/>
                  <a:pt x="6225431" y="4791786"/>
                </a:cubicBezTo>
                <a:cubicBezTo>
                  <a:pt x="6302546" y="4791786"/>
                  <a:pt x="6371413" y="4782714"/>
                  <a:pt x="6432033" y="4764569"/>
                </a:cubicBezTo>
                <a:cubicBezTo>
                  <a:pt x="6475744" y="4751373"/>
                  <a:pt x="6519457" y="4730342"/>
                  <a:pt x="6563169" y="4701475"/>
                </a:cubicBezTo>
                <a:cubicBezTo>
                  <a:pt x="6584200" y="4713847"/>
                  <a:pt x="6608015" y="4728692"/>
                  <a:pt x="6634613" y="4746012"/>
                </a:cubicBezTo>
                <a:cubicBezTo>
                  <a:pt x="6661211" y="4763332"/>
                  <a:pt x="6686882" y="4778590"/>
                  <a:pt x="6711625" y="4791786"/>
                </a:cubicBezTo>
                <a:lnTo>
                  <a:pt x="6847091" y="4635907"/>
                </a:lnTo>
                <a:cubicBezTo>
                  <a:pt x="6828946" y="4625598"/>
                  <a:pt x="6814101" y="4616732"/>
                  <a:pt x="6802554" y="4609309"/>
                </a:cubicBezTo>
                <a:lnTo>
                  <a:pt x="6707913" y="4544359"/>
                </a:lnTo>
                <a:cubicBezTo>
                  <a:pt x="6725233" y="4514668"/>
                  <a:pt x="6738636" y="4488895"/>
                  <a:pt x="6748120" y="4467039"/>
                </a:cubicBezTo>
                <a:cubicBezTo>
                  <a:pt x="6757605" y="4445183"/>
                  <a:pt x="6767502" y="4416110"/>
                  <a:pt x="6777811" y="4379821"/>
                </a:cubicBezTo>
                <a:lnTo>
                  <a:pt x="6581107" y="4335902"/>
                </a:lnTo>
                <a:cubicBezTo>
                  <a:pt x="6572035" y="4364356"/>
                  <a:pt x="6561107" y="4391367"/>
                  <a:pt x="6548323" y="4416935"/>
                </a:cubicBezTo>
                <a:cubicBezTo>
                  <a:pt x="6500487" y="4378996"/>
                  <a:pt x="6454507" y="4337964"/>
                  <a:pt x="6410383" y="4293840"/>
                </a:cubicBezTo>
                <a:cubicBezTo>
                  <a:pt x="6463580" y="4258788"/>
                  <a:pt x="6500487" y="4232396"/>
                  <a:pt x="6521106" y="4214663"/>
                </a:cubicBezTo>
                <a:cubicBezTo>
                  <a:pt x="6541725" y="4196931"/>
                  <a:pt x="6559354" y="4173838"/>
                  <a:pt x="6573993" y="4145384"/>
                </a:cubicBezTo>
                <a:cubicBezTo>
                  <a:pt x="6588633" y="4116930"/>
                  <a:pt x="6595953" y="4087239"/>
                  <a:pt x="6595953" y="4056310"/>
                </a:cubicBezTo>
                <a:cubicBezTo>
                  <a:pt x="6595953" y="4001052"/>
                  <a:pt x="6572035" y="3953628"/>
                  <a:pt x="6524199" y="3914040"/>
                </a:cubicBezTo>
                <a:cubicBezTo>
                  <a:pt x="6476363" y="3874452"/>
                  <a:pt x="6401516" y="3854657"/>
                  <a:pt x="6299659" y="3854657"/>
                </a:cubicBezTo>
                <a:close/>
                <a:moveTo>
                  <a:pt x="5241147" y="3854657"/>
                </a:moveTo>
                <a:cubicBezTo>
                  <a:pt x="5093516" y="3854657"/>
                  <a:pt x="4978565" y="3895998"/>
                  <a:pt x="4896296" y="3978680"/>
                </a:cubicBezTo>
                <a:cubicBezTo>
                  <a:pt x="4814027" y="4061362"/>
                  <a:pt x="4772892" y="4177343"/>
                  <a:pt x="4772892" y="4326624"/>
                </a:cubicBezTo>
                <a:cubicBezTo>
                  <a:pt x="4772892" y="4480441"/>
                  <a:pt x="4819903" y="4599824"/>
                  <a:pt x="4913925" y="4684774"/>
                </a:cubicBezTo>
                <a:cubicBezTo>
                  <a:pt x="4993514" y="4756528"/>
                  <a:pt x="5102176" y="4792405"/>
                  <a:pt x="5239910" y="4792405"/>
                </a:cubicBezTo>
                <a:cubicBezTo>
                  <a:pt x="5333107" y="4792405"/>
                  <a:pt x="5410634" y="4779002"/>
                  <a:pt x="5472491" y="4752198"/>
                </a:cubicBezTo>
                <a:cubicBezTo>
                  <a:pt x="5487749" y="4765394"/>
                  <a:pt x="5514554" y="4785085"/>
                  <a:pt x="5552905" y="4811271"/>
                </a:cubicBezTo>
                <a:cubicBezTo>
                  <a:pt x="5591256" y="4837457"/>
                  <a:pt x="5630019" y="4860035"/>
                  <a:pt x="5669195" y="4879004"/>
                </a:cubicBezTo>
                <a:lnTo>
                  <a:pt x="5747135" y="4721888"/>
                </a:lnTo>
                <a:cubicBezTo>
                  <a:pt x="5719918" y="4709929"/>
                  <a:pt x="5698268" y="4699414"/>
                  <a:pt x="5682185" y="4690341"/>
                </a:cubicBezTo>
                <a:cubicBezTo>
                  <a:pt x="5671464" y="4684156"/>
                  <a:pt x="5648577" y="4668897"/>
                  <a:pt x="5613524" y="4644567"/>
                </a:cubicBezTo>
                <a:cubicBezTo>
                  <a:pt x="5679506" y="4564154"/>
                  <a:pt x="5712495" y="4456935"/>
                  <a:pt x="5712495" y="4322912"/>
                </a:cubicBezTo>
                <a:cubicBezTo>
                  <a:pt x="5712495" y="4172395"/>
                  <a:pt x="5671567" y="4056723"/>
                  <a:pt x="5589709" y="3975897"/>
                </a:cubicBezTo>
                <a:cubicBezTo>
                  <a:pt x="5507852" y="3895071"/>
                  <a:pt x="5391666" y="3854657"/>
                  <a:pt x="5241147" y="3854657"/>
                </a:cubicBezTo>
                <a:close/>
                <a:moveTo>
                  <a:pt x="4216836" y="2581177"/>
                </a:moveTo>
                <a:lnTo>
                  <a:pt x="4316946" y="2907162"/>
                </a:lnTo>
                <a:lnTo>
                  <a:pt x="4117797" y="2907162"/>
                </a:lnTo>
                <a:close/>
                <a:moveTo>
                  <a:pt x="8679053" y="2542826"/>
                </a:moveTo>
                <a:cubicBezTo>
                  <a:pt x="8738024" y="2542826"/>
                  <a:pt x="8784725" y="2562517"/>
                  <a:pt x="8819158" y="2601899"/>
                </a:cubicBezTo>
                <a:cubicBezTo>
                  <a:pt x="8853592" y="2641281"/>
                  <a:pt x="8870809" y="2703653"/>
                  <a:pt x="8870809" y="2789015"/>
                </a:cubicBezTo>
                <a:cubicBezTo>
                  <a:pt x="8870809" y="2890460"/>
                  <a:pt x="8854314" y="2960771"/>
                  <a:pt x="8821324" y="2999947"/>
                </a:cubicBezTo>
                <a:cubicBezTo>
                  <a:pt x="8788333" y="3039123"/>
                  <a:pt x="8741734" y="3058711"/>
                  <a:pt x="8681528" y="3058711"/>
                </a:cubicBezTo>
                <a:cubicBezTo>
                  <a:pt x="8622970" y="3058711"/>
                  <a:pt x="8576680" y="3038710"/>
                  <a:pt x="8542659" y="2998710"/>
                </a:cubicBezTo>
                <a:cubicBezTo>
                  <a:pt x="8508638" y="2958709"/>
                  <a:pt x="8491628" y="2892935"/>
                  <a:pt x="8491628" y="2801387"/>
                </a:cubicBezTo>
                <a:cubicBezTo>
                  <a:pt x="8491628" y="2709014"/>
                  <a:pt x="8508741" y="2642828"/>
                  <a:pt x="8542968" y="2602827"/>
                </a:cubicBezTo>
                <a:cubicBezTo>
                  <a:pt x="8577196" y="2562826"/>
                  <a:pt x="8622557" y="2542826"/>
                  <a:pt x="8679053" y="2542826"/>
                </a:cubicBezTo>
                <a:close/>
                <a:moveTo>
                  <a:pt x="9304568" y="2346122"/>
                </a:moveTo>
                <a:lnTo>
                  <a:pt x="9304568" y="2886391"/>
                </a:lnTo>
                <a:cubicBezTo>
                  <a:pt x="9304568" y="2930896"/>
                  <a:pt x="9313228" y="2981996"/>
                  <a:pt x="9330548" y="3039690"/>
                </a:cubicBezTo>
                <a:cubicBezTo>
                  <a:pt x="9341270" y="3075541"/>
                  <a:pt x="9361167" y="3110363"/>
                  <a:pt x="9390240" y="3144155"/>
                </a:cubicBezTo>
                <a:cubicBezTo>
                  <a:pt x="9419312" y="3177947"/>
                  <a:pt x="9451374" y="3204013"/>
                  <a:pt x="9486427" y="3222351"/>
                </a:cubicBezTo>
                <a:cubicBezTo>
                  <a:pt x="9521480" y="3240688"/>
                  <a:pt x="9565088" y="3252949"/>
                  <a:pt x="9617254" y="3259131"/>
                </a:cubicBezTo>
                <a:cubicBezTo>
                  <a:pt x="9669420" y="3265314"/>
                  <a:pt x="9717566" y="3268405"/>
                  <a:pt x="9761690" y="3268405"/>
                </a:cubicBezTo>
                <a:cubicBezTo>
                  <a:pt x="9837979" y="3268405"/>
                  <a:pt x="9903341" y="3258308"/>
                  <a:pt x="9957775" y="3238114"/>
                </a:cubicBezTo>
                <a:cubicBezTo>
                  <a:pt x="9996950" y="3223694"/>
                  <a:pt x="10034374" y="3198660"/>
                  <a:pt x="10070045" y="3163012"/>
                </a:cubicBezTo>
                <a:cubicBezTo>
                  <a:pt x="10105716" y="3127364"/>
                  <a:pt x="10131902" y="3085741"/>
                  <a:pt x="10148603" y="3038143"/>
                </a:cubicBezTo>
                <a:cubicBezTo>
                  <a:pt x="10165304" y="2990546"/>
                  <a:pt x="10173655" y="2939962"/>
                  <a:pt x="10173655" y="2886391"/>
                </a:cubicBezTo>
                <a:lnTo>
                  <a:pt x="10173655" y="2346122"/>
                </a:lnTo>
                <a:lnTo>
                  <a:pt x="9894062" y="2346122"/>
                </a:lnTo>
                <a:lnTo>
                  <a:pt x="9894062" y="2899256"/>
                </a:lnTo>
                <a:cubicBezTo>
                  <a:pt x="9894062" y="2949521"/>
                  <a:pt x="9880350" y="2988354"/>
                  <a:pt x="9852928" y="3015754"/>
                </a:cubicBezTo>
                <a:cubicBezTo>
                  <a:pt x="9825505" y="3043155"/>
                  <a:pt x="9787669" y="3056855"/>
                  <a:pt x="9739421" y="3056855"/>
                </a:cubicBezTo>
                <a:cubicBezTo>
                  <a:pt x="9690760" y="3056855"/>
                  <a:pt x="9652718" y="3042950"/>
                  <a:pt x="9625296" y="3015140"/>
                </a:cubicBezTo>
                <a:cubicBezTo>
                  <a:pt x="9597872" y="2987331"/>
                  <a:pt x="9584160" y="2948702"/>
                  <a:pt x="9584160" y="2899256"/>
                </a:cubicBezTo>
                <a:lnTo>
                  <a:pt x="9584160" y="2346122"/>
                </a:lnTo>
                <a:close/>
                <a:moveTo>
                  <a:pt x="7250252" y="2346122"/>
                </a:moveTo>
                <a:lnTo>
                  <a:pt x="7603454" y="2873141"/>
                </a:lnTo>
                <a:lnTo>
                  <a:pt x="7603454" y="3252941"/>
                </a:lnTo>
                <a:lnTo>
                  <a:pt x="7884283" y="3252941"/>
                </a:lnTo>
                <a:lnTo>
                  <a:pt x="7884283" y="2873141"/>
                </a:lnTo>
                <a:lnTo>
                  <a:pt x="8236866" y="2346122"/>
                </a:lnTo>
                <a:lnTo>
                  <a:pt x="7927284" y="2346122"/>
                </a:lnTo>
                <a:lnTo>
                  <a:pt x="7744217" y="2652032"/>
                </a:lnTo>
                <a:lnTo>
                  <a:pt x="7561498" y="2346122"/>
                </a:lnTo>
                <a:close/>
                <a:moveTo>
                  <a:pt x="5857138" y="2346122"/>
                </a:moveTo>
                <a:lnTo>
                  <a:pt x="5857138" y="3252941"/>
                </a:lnTo>
                <a:lnTo>
                  <a:pt x="6137348" y="3252941"/>
                </a:lnTo>
                <a:lnTo>
                  <a:pt x="6137348" y="3031658"/>
                </a:lnTo>
                <a:lnTo>
                  <a:pt x="6282112" y="2880012"/>
                </a:lnTo>
                <a:lnTo>
                  <a:pt x="6473317" y="3252941"/>
                </a:lnTo>
                <a:lnTo>
                  <a:pt x="6818390" y="3252941"/>
                </a:lnTo>
                <a:lnTo>
                  <a:pt x="6472631" y="2688392"/>
                </a:lnTo>
                <a:lnTo>
                  <a:pt x="6803545" y="2346122"/>
                </a:lnTo>
                <a:lnTo>
                  <a:pt x="6430868" y="2346122"/>
                </a:lnTo>
                <a:lnTo>
                  <a:pt x="6137348" y="2688808"/>
                </a:lnTo>
                <a:lnTo>
                  <a:pt x="6137348" y="2346122"/>
                </a:lnTo>
                <a:close/>
                <a:moveTo>
                  <a:pt x="4800481" y="2346122"/>
                </a:moveTo>
                <a:lnTo>
                  <a:pt x="4800481" y="3252941"/>
                </a:lnTo>
                <a:lnTo>
                  <a:pt x="5063990" y="3252941"/>
                </a:lnTo>
                <a:lnTo>
                  <a:pt x="5063990" y="2755033"/>
                </a:lnTo>
                <a:lnTo>
                  <a:pt x="5403584" y="3252941"/>
                </a:lnTo>
                <a:lnTo>
                  <a:pt x="5667712" y="3252941"/>
                </a:lnTo>
                <a:lnTo>
                  <a:pt x="5667712" y="2346122"/>
                </a:lnTo>
                <a:lnTo>
                  <a:pt x="5403584" y="2346122"/>
                </a:lnTo>
                <a:lnTo>
                  <a:pt x="5403584" y="2847818"/>
                </a:lnTo>
                <a:lnTo>
                  <a:pt x="5062135" y="2346122"/>
                </a:lnTo>
                <a:close/>
                <a:moveTo>
                  <a:pt x="4067442" y="2346122"/>
                </a:moveTo>
                <a:lnTo>
                  <a:pt x="3726621" y="3252941"/>
                </a:lnTo>
                <a:lnTo>
                  <a:pt x="4012738" y="3252941"/>
                </a:lnTo>
                <a:lnTo>
                  <a:pt x="4056936" y="3103247"/>
                </a:lnTo>
                <a:lnTo>
                  <a:pt x="4375073" y="3103247"/>
                </a:lnTo>
                <a:lnTo>
                  <a:pt x="4420431" y="3252941"/>
                </a:lnTo>
                <a:lnTo>
                  <a:pt x="4713854" y="3252941"/>
                </a:lnTo>
                <a:lnTo>
                  <a:pt x="4373091" y="2346122"/>
                </a:lnTo>
                <a:close/>
                <a:moveTo>
                  <a:pt x="2761513" y="2346122"/>
                </a:moveTo>
                <a:lnTo>
                  <a:pt x="2761513" y="3252941"/>
                </a:lnTo>
                <a:lnTo>
                  <a:pt x="3041723" y="3252941"/>
                </a:lnTo>
                <a:lnTo>
                  <a:pt x="3041723" y="2886131"/>
                </a:lnTo>
                <a:lnTo>
                  <a:pt x="3347914" y="2886131"/>
                </a:lnTo>
                <a:lnTo>
                  <a:pt x="3347914" y="3252941"/>
                </a:lnTo>
                <a:lnTo>
                  <a:pt x="3629362" y="3252941"/>
                </a:lnTo>
                <a:lnTo>
                  <a:pt x="3629362" y="2346122"/>
                </a:lnTo>
                <a:lnTo>
                  <a:pt x="3347914" y="2346122"/>
                </a:lnTo>
                <a:lnTo>
                  <a:pt x="3347914" y="2663446"/>
                </a:lnTo>
                <a:lnTo>
                  <a:pt x="3041723" y="2663446"/>
                </a:lnTo>
                <a:lnTo>
                  <a:pt x="3041723" y="2346122"/>
                </a:lnTo>
                <a:close/>
                <a:moveTo>
                  <a:pt x="1782163" y="2346122"/>
                </a:moveTo>
                <a:lnTo>
                  <a:pt x="1782163" y="2570043"/>
                </a:lnTo>
                <a:lnTo>
                  <a:pt x="2067941" y="2570043"/>
                </a:lnTo>
                <a:lnTo>
                  <a:pt x="2067941" y="3252941"/>
                </a:lnTo>
                <a:lnTo>
                  <a:pt x="2348152" y="3252941"/>
                </a:lnTo>
                <a:lnTo>
                  <a:pt x="2348152" y="2570043"/>
                </a:lnTo>
                <a:lnTo>
                  <a:pt x="2633930" y="2570043"/>
                </a:lnTo>
                <a:lnTo>
                  <a:pt x="2633930" y="2346122"/>
                </a:lnTo>
                <a:close/>
                <a:moveTo>
                  <a:pt x="8679672" y="2330657"/>
                </a:moveTo>
                <a:cubicBezTo>
                  <a:pt x="8532452" y="2330657"/>
                  <a:pt x="8417606" y="2371895"/>
                  <a:pt x="8335130" y="2454371"/>
                </a:cubicBezTo>
                <a:cubicBezTo>
                  <a:pt x="8252654" y="2536847"/>
                  <a:pt x="8211417" y="2652106"/>
                  <a:pt x="8211417" y="2800150"/>
                </a:cubicBezTo>
                <a:cubicBezTo>
                  <a:pt x="8211417" y="2906131"/>
                  <a:pt x="8232242" y="2994380"/>
                  <a:pt x="8273892" y="3064896"/>
                </a:cubicBezTo>
                <a:cubicBezTo>
                  <a:pt x="8315542" y="3135413"/>
                  <a:pt x="8369873" y="3186960"/>
                  <a:pt x="8436884" y="3219538"/>
                </a:cubicBezTo>
                <a:cubicBezTo>
                  <a:pt x="8503896" y="3252116"/>
                  <a:pt x="8588536" y="3268405"/>
                  <a:pt x="8690806" y="3268405"/>
                </a:cubicBezTo>
                <a:cubicBezTo>
                  <a:pt x="8791426" y="3268405"/>
                  <a:pt x="8875448" y="3249539"/>
                  <a:pt x="8942872" y="3211806"/>
                </a:cubicBezTo>
                <a:cubicBezTo>
                  <a:pt x="9010296" y="3174074"/>
                  <a:pt x="9061843" y="3121289"/>
                  <a:pt x="9097514" y="3053453"/>
                </a:cubicBezTo>
                <a:cubicBezTo>
                  <a:pt x="9133184" y="2985617"/>
                  <a:pt x="9151020" y="2898708"/>
                  <a:pt x="9151020" y="2792727"/>
                </a:cubicBezTo>
                <a:cubicBezTo>
                  <a:pt x="9151020" y="2646745"/>
                  <a:pt x="9110194" y="2533238"/>
                  <a:pt x="9028544" y="2452206"/>
                </a:cubicBezTo>
                <a:cubicBezTo>
                  <a:pt x="8946892" y="2371174"/>
                  <a:pt x="8830602" y="2330657"/>
                  <a:pt x="8679672" y="2330657"/>
                </a:cubicBezTo>
                <a:close/>
                <a:moveTo>
                  <a:pt x="0" y="0"/>
                </a:moveTo>
                <a:lnTo>
                  <a:pt x="12192000" y="0"/>
                </a:lnTo>
                <a:lnTo>
                  <a:pt x="12192000" y="6931742"/>
                </a:lnTo>
                <a:lnTo>
                  <a:pt x="0" y="6931742"/>
                </a:lnTo>
                <a:close/>
              </a:path>
            </a:pathLst>
          </a:custGeom>
          <a:blipFill dpi="0" rotWithShape="1">
            <a:blip r:embed="Redd5118032ce4d6d">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pic>
        <p:nvPicPr>
          <p:cNvPr id="3" name="Picture 2">
            <a:extLst>
              <a:ext uri="{FF2B5EF4-FFF2-40B4-BE49-F238E27FC236}">
                <a16:creationId xmlns:a16="http://schemas.microsoft.com/office/drawing/2014/main" id="{2BD32016-F0ED-DC07-5C65-2445148CB84E}"/>
              </a:ext>
            </a:extLst>
          </p:cNvPr>
          <p:cNvPicPr>
            <a:picLocks noChangeAspect="1"/>
          </p:cNvPicPr>
          <p:nvPr/>
        </p:nvPicPr>
        <p:blipFill>
          <a:blip r:embed="R99a1b78dccbd41f3">
            <a:extLst>
              <a:ext uri="{28A0092B-C50C-407E-A947-70E740481C1C}">
                <a14:useLocalDpi xmlns:a14="http://schemas.microsoft.com/office/drawing/2010/main" val="0"/>
              </a:ext>
            </a:extLst>
          </a:blip>
          <a:stretch>
            <a:fillRect/>
          </a:stretch>
        </p:blipFill>
        <p:spPr>
          <a:xfrm>
            <a:off x="10560837" y="-208935"/>
            <a:ext cx="1531849" cy="1769806"/>
          </a:xfrm>
          <a:prstGeom prst="rect">
            <a:avLst/>
          </a:prstGeom>
        </p:spPr>
      </p:pic>
    </p:spTree>
    <p:extLst>
      <p:ext uri="{BB962C8B-B14F-4D97-AF65-F5344CB8AC3E}">
        <p14:creationId xmlns:p14="http://schemas.microsoft.com/office/powerpoint/2010/main" val="2782228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59FAD-A73F-6996-92B2-8C30A11B66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C8FB02B-9117-22D4-AD42-572C317A2AD4}"/>
              </a:ext>
            </a:extLst>
          </p:cNvPr>
          <p:cNvSpPr/>
          <p:nvPr/>
        </p:nvSpPr>
        <p:spPr>
          <a:xfrm>
            <a:off x="0" y="0"/>
            <a:ext cx="12192000" cy="6858000"/>
          </a:xfrm>
          <a:prstGeom prst="rect">
            <a:avLst/>
          </a:prstGeom>
          <a:solidFill>
            <a:srgbClr val="FFD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3" name="Picture 2">
            <a:extLst>
              <a:ext uri="{FF2B5EF4-FFF2-40B4-BE49-F238E27FC236}">
                <a16:creationId xmlns:a16="http://schemas.microsoft.com/office/drawing/2014/main" id="{AC332590-2ADA-059A-C262-E4F11912C6B4}"/>
              </a:ext>
            </a:extLst>
          </p:cNvPr>
          <p:cNvPicPr>
            <a:picLocks noChangeAspect="1"/>
          </p:cNvPicPr>
          <p:nvPr/>
        </p:nvPicPr>
        <p:blipFill>
          <a:blip r:embed="Rdc322ef4f6b245da">
            <a:extLst>
              <a:ext uri="{28A0092B-C50C-407E-A947-70E740481C1C}">
                <a14:useLocalDpi xmlns:a14="http://schemas.microsoft.com/office/drawing/2010/main" val="0"/>
              </a:ext>
            </a:extLst>
          </a:blip>
          <a:stretch>
            <a:fillRect/>
          </a:stretch>
        </p:blipFill>
        <p:spPr>
          <a:xfrm>
            <a:off x="10560837" y="-208935"/>
            <a:ext cx="1531849" cy="1769806"/>
          </a:xfrm>
          <a:prstGeom prst="rect">
            <a:avLst/>
          </a:prstGeom>
        </p:spPr>
      </p:pic>
    </p:spTree>
    <p:extLst>
      <p:ext uri="{BB962C8B-B14F-4D97-AF65-F5344CB8AC3E}">
        <p14:creationId xmlns:p14="http://schemas.microsoft.com/office/powerpoint/2010/main" val="195834828"/>
      </p:ext>
    </p:extLst>
  </p:cSld>
  <p:clrMapOvr>
    <a:masterClrMapping/>
  </p:clrMapOvr>
</p:sld>
</file>

<file path=docProps/app.xml><?xml version="1.0" encoding="utf-8"?>
<Properties xmlns="http://schemas.openxmlformats.org/officeDocument/2006/extended-properties" xmlns:vt="http://schemas.openxmlformats.org/officeDocument/2006/docPropsVTypes">
  <TotalTime>51</TotalTime>
  <Words>766</Words>
  <Application>Microsoft Office PowerPoint</Application>
  <PresentationFormat>Widescreen</PresentationFormat>
  <Paragraphs>53</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Arial Black</vt:lpstr>
      <vt:lpstr>Bahnschrift SemiLight SemiConde</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
  <dc:creator>Anagha Kashyap</dc:creator>
  <lastModifiedBy>Anagha Kashyap</lastModifiedBy>
  <revision>1</revision>
  <dcterms:created xsi:type="dcterms:W3CDTF">2025-05-28T18:57:26.0000000Z</dcterms:created>
  <dcterms:modified xsi:type="dcterms:W3CDTF">2025-05-29T10:55:52.8620000Z</dcterms:modified>
</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1884119</vt:lpwstr>
  </property>
  <property fmtid="{D5CDD505-2E9C-101B-9397-08002B2CF9AE}" name="NXPowerLiteSettings" pid="3">
    <vt:lpwstr>F7000400038000</vt:lpwstr>
  </property>
  <property fmtid="{D5CDD505-2E9C-101B-9397-08002B2CF9AE}" name="NXPowerLiteVersion" pid="4">
    <vt:lpwstr>S10.3.1</vt:lpwstr>
  </property>
</Properties>
</file>